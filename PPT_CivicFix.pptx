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“A complaint is not an outcome. CivicFix is designed to create a traceable path from a citizen’s evidence to a resolution assessment. We start with a familiar issue, such as a pothole, and follow it through AI analysis, issue clustering, authority response and evidence review.” This deck describes a proposed prototype; clearly distinguish working features from planned features during the live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“Civic issues are visible, but the information around them is fragmented. Citizens may report the same issue separately, reviewers cannot easily compare urgency, and citizens may not see what happened after the report. CivicFix targets that gap without claiming to replace government systems.”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across the lifecycle rather than listing features. The idea is to make one civic issue follow a stable path: collect evidence, assess it, prioritize it, combine likely duplicates, track it by an ID, then review new evidence when resolution is reported.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Demonstrate the camera-first concept and explain the result. The scores shown are illustrative example values, not measured benchmark results. The deployed UI should show actual status from the model/backend and must allow “uncertain” or “needs clarification” when evidence is weak.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the priority score is a configurable decision-support heuristic, not an official municipal standard. The formula weights severity, public impact, safety risk, evidence confidence and freshness. Do not present a model-generated number as objective truth; explain the contributing factors and keep human review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that duplicate detection is a candidate-matching problem, not a guarantee. The prototype can combine semantic similarity, issue category and geographic proximity, then ask for review if uncertain. Do not auto-merge borderline cases without a way to undo or confirm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the map layer associates each issue with coordinates and a stable issue ID. Google Street View is an optional contextual layer; coverage is not guaranteed everywhere, and it does not itself prove that the civic issue exists or has been fixed. Do not claim to download or store all Street View imagery.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 prototype boundary explicit. This portal demonstrates how a participating authority could search the permanent CivicFix Issue ID and submit a status, notes, and before/after photos. Do not claim the prototype connects to live municipal systems unless that integration has actually been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key trust design. Government status records what the authority reported. AI assessment describes what the evidence appears to show. They must not be silently collapsed into one field. “94%” here is illustrative only; use a score only if your actual implementation defines and evaluates it. The comparison should return uncertain when location, angle, lighting or evidence quality prevents a responsible assessment.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Describe a modular architecture. The model should be an open-weight multimodal model with the selected checkpoint and license documented in the repository. Do not describe a proprietary API model as open source. Google Maps is the external geospatial context service, while the AI analysis, validation, priority logic, issue clustering and resolution workflow are core project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reliability posture: the model can return clear, ambiguous or irrelevant; it can ask for a better photo. Evaluate the system with a small labeled benchmark rather than claiming unverified accuracy. Include successful and ambiguous demo cases. The UI should not overstate confidence or silently mark an issue fixed.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end-to-end story. If an actual live government integration is not available, demonstrate the Government Authority Portal as a prototype with clearly labelled demo records. If the resolution verification percentages are illustrative, call them illustrative. Finish with: “The complaint is the beginning of the evidence trail—not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_DARK">
    <p:bg>
      <p:bgPr>
        <a:solidFill>
          <a:srgbClr val="0B1220"/>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220"/>
          </a:solidFill>
          <a:ln w="12700">
            <a:solidFill>
              <a:srgbClr val="0B1220">
                <a:alpha val="0"/>
              </a:srgbClr>
            </a:solidFill>
            <a:prstDash val="solid"/>
          </a:ln>
        </p:spPr>
      </p:sp>
      <p:sp>
        <p:nvSpPr>
          <p:cNvPr id="3" name="Shape 1"/>
          <p:cNvSpPr/>
          <p:nvPr/>
        </p:nvSpPr>
        <p:spPr>
          <a:xfrm>
            <a:off x="6400800" y="0"/>
            <a:ext cx="5394960" cy="1828800"/>
          </a:xfrm>
          <a:prstGeom prst="line">
            <a:avLst/>
          </a:prstGeom>
          <a:noFill/>
          <a:ln w="13970">
            <a:solidFill>
              <a:srgbClr val="1B2B40"/>
            </a:solidFill>
            <a:prstDash val="solid"/>
            <a:headEnd type="none"/>
            <a:tailEnd type="none"/>
          </a:ln>
        </p:spPr>
      </p:sp>
      <p:sp>
        <p:nvSpPr>
          <p:cNvPr id="4" name="Shape 2"/>
          <p:cNvSpPr/>
          <p:nvPr/>
        </p:nvSpPr>
        <p:spPr>
          <a:xfrm>
            <a:off x="6949440" y="0"/>
            <a:ext cx="4846320" cy="2267712"/>
          </a:xfrm>
          <a:prstGeom prst="line">
            <a:avLst/>
          </a:prstGeom>
          <a:noFill/>
          <a:ln w="13970">
            <a:solidFill>
              <a:srgbClr val="1B2B40"/>
            </a:solidFill>
            <a:prstDash val="solid"/>
            <a:headEnd type="none"/>
            <a:tailEnd type="none"/>
          </a:ln>
        </p:spPr>
      </p:sp>
      <p:sp>
        <p:nvSpPr>
          <p:cNvPr id="5" name="Shape 3"/>
          <p:cNvSpPr/>
          <p:nvPr/>
        </p:nvSpPr>
        <p:spPr>
          <a:xfrm>
            <a:off x="7498080" y="0"/>
            <a:ext cx="4297680" cy="2706624"/>
          </a:xfrm>
          <a:prstGeom prst="line">
            <a:avLst/>
          </a:prstGeom>
          <a:noFill/>
          <a:ln w="13970">
            <a:solidFill>
              <a:srgbClr val="1B2B40"/>
            </a:solidFill>
            <a:prstDash val="solid"/>
            <a:headEnd type="none"/>
            <a:tailEnd type="none"/>
          </a:ln>
        </p:spPr>
      </p:sp>
      <p:sp>
        <p:nvSpPr>
          <p:cNvPr id="6" name="Shape 4"/>
          <p:cNvSpPr/>
          <p:nvPr/>
        </p:nvSpPr>
        <p:spPr>
          <a:xfrm>
            <a:off x="8046720" y="0"/>
            <a:ext cx="3749040" cy="3145536"/>
          </a:xfrm>
          <a:prstGeom prst="line">
            <a:avLst/>
          </a:prstGeom>
          <a:noFill/>
          <a:ln w="13970">
            <a:solidFill>
              <a:srgbClr val="1B2B40"/>
            </a:solidFill>
            <a:prstDash val="solid"/>
            <a:headEnd type="none"/>
            <a:tailEnd type="none"/>
          </a:ln>
        </p:spPr>
      </p:sp>
      <p:sp>
        <p:nvSpPr>
          <p:cNvPr id="7" name="Shape 5"/>
          <p:cNvSpPr/>
          <p:nvPr/>
        </p:nvSpPr>
        <p:spPr>
          <a:xfrm>
            <a:off x="8595360" y="0"/>
            <a:ext cx="3200400" cy="3584448"/>
          </a:xfrm>
          <a:prstGeom prst="line">
            <a:avLst/>
          </a:prstGeom>
          <a:noFill/>
          <a:ln w="13970">
            <a:solidFill>
              <a:srgbClr val="1B2B40"/>
            </a:solidFill>
            <a:prstDash val="solid"/>
            <a:headEnd type="none"/>
            <a:tailEnd type="none"/>
          </a:ln>
        </p:spPr>
      </p:sp>
      <p:sp>
        <p:nvSpPr>
          <p:cNvPr id="8" name="Shape 6"/>
          <p:cNvSpPr/>
          <p:nvPr/>
        </p:nvSpPr>
        <p:spPr>
          <a:xfrm>
            <a:off x="9144000" y="0"/>
            <a:ext cx="2651760" cy="4023360"/>
          </a:xfrm>
          <a:prstGeom prst="line">
            <a:avLst/>
          </a:prstGeom>
          <a:noFill/>
          <a:ln w="13970">
            <a:solidFill>
              <a:srgbClr val="1B2B40"/>
            </a:solidFill>
            <a:prstDash val="solid"/>
            <a:headEnd type="none"/>
            <a:tailEnd type="none"/>
          </a:ln>
        </p:spPr>
      </p:sp>
      <p:sp>
        <p:nvSpPr>
          <p:cNvPr id="9" name="Shape 7"/>
          <p:cNvSpPr/>
          <p:nvPr/>
        </p:nvSpPr>
        <p:spPr>
          <a:xfrm>
            <a:off x="9692640" y="0"/>
            <a:ext cx="2103120" cy="4462272"/>
          </a:xfrm>
          <a:prstGeom prst="line">
            <a:avLst/>
          </a:prstGeom>
          <a:noFill/>
          <a:ln w="13970">
            <a:solidFill>
              <a:srgbClr val="1B2B40"/>
            </a:solidFill>
            <a:prstDash val="solid"/>
            <a:headEnd type="none"/>
            <a:tailEnd type="none"/>
          </a:ln>
        </p:spPr>
      </p:sp>
      <p:sp>
        <p:nvSpPr>
          <p:cNvPr id="10" name="Shape 8"/>
          <p:cNvSpPr/>
          <p:nvPr/>
        </p:nvSpPr>
        <p:spPr>
          <a:xfrm>
            <a:off x="10241280" y="0"/>
            <a:ext cx="1554480" cy="4901184"/>
          </a:xfrm>
          <a:prstGeom prst="line">
            <a:avLst/>
          </a:prstGeom>
          <a:noFill/>
          <a:ln w="13970">
            <a:solidFill>
              <a:srgbClr val="1B2B40"/>
            </a:solidFill>
            <a:prstDash val="solid"/>
            <a:headEnd type="none"/>
            <a:tailEnd type="none"/>
          </a:ln>
        </p:spPr>
      </p:sp>
      <p:sp>
        <p:nvSpPr>
          <p:cNvPr id="11" name="Shape 9"/>
          <p:cNvSpPr/>
          <p:nvPr/>
        </p:nvSpPr>
        <p:spPr>
          <a:xfrm>
            <a:off x="6583680" y="640080"/>
            <a:ext cx="5486400" cy="-182880"/>
          </a:xfrm>
          <a:prstGeom prst="line">
            <a:avLst/>
          </a:prstGeom>
          <a:noFill/>
          <a:ln w="13970">
            <a:solidFill>
              <a:srgbClr val="1B2B40"/>
            </a:solidFill>
            <a:prstDash val="solid"/>
            <a:headEnd type="none"/>
            <a:tailEnd type="none"/>
          </a:ln>
        </p:spPr>
      </p:sp>
      <p:sp>
        <p:nvSpPr>
          <p:cNvPr id="12" name="Shape 10"/>
          <p:cNvSpPr/>
          <p:nvPr/>
        </p:nvSpPr>
        <p:spPr>
          <a:xfrm>
            <a:off x="6583680" y="1371600"/>
            <a:ext cx="5486400" cy="-182880"/>
          </a:xfrm>
          <a:prstGeom prst="line">
            <a:avLst/>
          </a:prstGeom>
          <a:noFill/>
          <a:ln w="13970">
            <a:solidFill>
              <a:srgbClr val="1B2B40"/>
            </a:solidFill>
            <a:prstDash val="solid"/>
            <a:headEnd type="none"/>
            <a:tailEnd type="none"/>
          </a:ln>
        </p:spPr>
      </p:sp>
      <p:sp>
        <p:nvSpPr>
          <p:cNvPr id="13" name="Shape 11"/>
          <p:cNvSpPr/>
          <p:nvPr/>
        </p:nvSpPr>
        <p:spPr>
          <a:xfrm>
            <a:off x="6583680" y="2103120"/>
            <a:ext cx="5486400" cy="-182880"/>
          </a:xfrm>
          <a:prstGeom prst="line">
            <a:avLst/>
          </a:prstGeom>
          <a:noFill/>
          <a:ln w="13970">
            <a:solidFill>
              <a:srgbClr val="1B2B40"/>
            </a:solidFill>
            <a:prstDash val="solid"/>
            <a:headEnd type="none"/>
            <a:tailEnd type="none"/>
          </a:ln>
        </p:spPr>
      </p:sp>
      <p:sp>
        <p:nvSpPr>
          <p:cNvPr id="14" name="Shape 12"/>
          <p:cNvSpPr/>
          <p:nvPr/>
        </p:nvSpPr>
        <p:spPr>
          <a:xfrm>
            <a:off x="6583680" y="2834640"/>
            <a:ext cx="5486400" cy="-182880"/>
          </a:xfrm>
          <a:prstGeom prst="line">
            <a:avLst/>
          </a:prstGeom>
          <a:noFill/>
          <a:ln w="13970">
            <a:solidFill>
              <a:srgbClr val="1B2B40"/>
            </a:solidFill>
            <a:prstDash val="solid"/>
            <a:headEnd type="none"/>
            <a:tailEnd type="none"/>
          </a:ln>
        </p:spPr>
      </p:sp>
      <p:sp>
        <p:nvSpPr>
          <p:cNvPr id="15" name="Shape 13"/>
          <p:cNvSpPr/>
          <p:nvPr/>
        </p:nvSpPr>
        <p:spPr>
          <a:xfrm>
            <a:off x="6583680" y="3566160"/>
            <a:ext cx="5486400" cy="-182880"/>
          </a:xfrm>
          <a:prstGeom prst="line">
            <a:avLst/>
          </a:prstGeom>
          <a:noFill/>
          <a:ln w="13970">
            <a:solidFill>
              <a:srgbClr val="1B2B40"/>
            </a:solidFill>
            <a:prstDash val="solid"/>
            <a:headEnd type="none"/>
            <a:tailEnd type="none"/>
          </a:ln>
        </p:spPr>
      </p:sp>
      <p:sp>
        <p:nvSpPr>
          <p:cNvPr id="16" name="Shape 14"/>
          <p:cNvSpPr/>
          <p:nvPr/>
        </p:nvSpPr>
        <p:spPr>
          <a:xfrm>
            <a:off x="6583680" y="4297680"/>
            <a:ext cx="5486400" cy="-182880"/>
          </a:xfrm>
          <a:prstGeom prst="line">
            <a:avLst/>
          </a:prstGeom>
          <a:noFill/>
          <a:ln w="13970">
            <a:solidFill>
              <a:srgbClr val="1B2B40"/>
            </a:solidFill>
            <a:prstDash val="solid"/>
            <a:headEnd type="none"/>
            <a:tailEnd type="none"/>
          </a:ln>
        </p:spPr>
      </p:sp>
      <p:sp>
        <p:nvSpPr>
          <p:cNvPr id="17" name="Shape 15"/>
          <p:cNvSpPr/>
          <p:nvPr/>
        </p:nvSpPr>
        <p:spPr>
          <a:xfrm>
            <a:off x="6583680" y="5029200"/>
            <a:ext cx="5486400" cy="-182880"/>
          </a:xfrm>
          <a:prstGeom prst="line">
            <a:avLst/>
          </a:prstGeom>
          <a:noFill/>
          <a:ln w="13970">
            <a:solidFill>
              <a:srgbClr val="1B2B40"/>
            </a:solidFill>
            <a:prstDash val="solid"/>
            <a:headEnd type="none"/>
            <a:tailEnd type="none"/>
          </a:ln>
        </p:spPr>
      </p:sp>
      <p:sp>
        <p:nvSpPr>
          <p:cNvPr id="18" name="Shape 16"/>
          <p:cNvSpPr/>
          <p:nvPr/>
        </p:nvSpPr>
        <p:spPr>
          <a:xfrm>
            <a:off x="8229600" y="1051560"/>
            <a:ext cx="1828800" cy="1828800"/>
          </a:xfrm>
          <a:prstGeom prst="ellipse">
            <a:avLst/>
          </a:prstGeom>
          <a:solidFill>
            <a:srgbClr val="14283A"/>
          </a:solidFill>
          <a:ln w="12700">
            <a:solidFill>
              <a:srgbClr val="20445A"/>
            </a:solidFill>
            <a:prstDash val="solid"/>
          </a:ln>
        </p:spPr>
      </p:sp>
      <p:sp>
        <p:nvSpPr>
          <p:cNvPr id="19" name="Shape 17"/>
          <p:cNvSpPr/>
          <p:nvPr/>
        </p:nvSpPr>
        <p:spPr>
          <a:xfrm>
            <a:off x="8613648" y="1435608"/>
            <a:ext cx="1060704" cy="1060704"/>
          </a:xfrm>
          <a:prstGeom prst="ellipse">
            <a:avLst/>
          </a:prstGeom>
          <a:solidFill>
            <a:srgbClr val="0B1220"/>
          </a:solidFill>
          <a:ln w="15240">
            <a:solidFill>
              <a:srgbClr val="2A5267"/>
            </a:solidFill>
            <a:prstDash val="solid"/>
          </a:ln>
        </p:spPr>
      </p:sp>
      <p:sp>
        <p:nvSpPr>
          <p:cNvPr id="20" name="Shape 18"/>
          <p:cNvSpPr/>
          <p:nvPr/>
        </p:nvSpPr>
        <p:spPr>
          <a:xfrm>
            <a:off x="8933688" y="1755648"/>
            <a:ext cx="411480" cy="411480"/>
          </a:xfrm>
          <a:prstGeom prst="ellipse">
            <a:avLst/>
          </a:prstGeom>
          <a:solidFill>
            <a:srgbClr val="2DD4BF"/>
          </a:solidFill>
          <a:ln w="12700">
            <a:solidFill>
              <a:srgbClr val="2DD4BF"/>
            </a:solidFill>
            <a:prstDash val="solid"/>
          </a:ln>
        </p:spPr>
      </p:sp>
      <p:sp>
        <p:nvSpPr>
          <p:cNvPr id="21" name="Shape 19"/>
          <p:cNvSpPr/>
          <p:nvPr/>
        </p:nvSpPr>
        <p:spPr>
          <a:xfrm>
            <a:off x="9061704" y="1883664"/>
            <a:ext cx="155448" cy="155448"/>
          </a:xfrm>
          <a:prstGeom prst="ellipse">
            <a:avLst/>
          </a:prstGeom>
          <a:solidFill>
            <a:srgbClr val="0B1220"/>
          </a:solidFill>
          <a:ln w="12700">
            <a:solidFill>
              <a:srgbClr val="0B1220"/>
            </a:solidFill>
            <a:prstDash val="solid"/>
          </a:ln>
        </p:spPr>
      </p:sp>
      <p:sp>
        <p:nvSpPr>
          <p:cNvPr id="22" name="Shape 20"/>
          <p:cNvSpPr/>
          <p:nvPr/>
        </p:nvSpPr>
        <p:spPr>
          <a:xfrm>
            <a:off x="9418320" y="2240280"/>
            <a:ext cx="1325880" cy="1033272"/>
          </a:xfrm>
          <a:prstGeom prst="line">
            <a:avLst/>
          </a:prstGeom>
          <a:noFill/>
          <a:ln w="27940">
            <a:solidFill>
              <a:srgbClr val="2DD4BF"/>
            </a:solidFill>
            <a:prstDash val="solid"/>
            <a:headEnd type="none"/>
            <a:tailEnd type="none"/>
          </a:ln>
        </p:spPr>
      </p:sp>
      <p:sp>
        <p:nvSpPr>
          <p:cNvPr id="23" name="Shape 21"/>
          <p:cNvSpPr/>
          <p:nvPr/>
        </p:nvSpPr>
        <p:spPr>
          <a:xfrm>
            <a:off x="10570464" y="3063240"/>
            <a:ext cx="384048" cy="384048"/>
          </a:xfrm>
          <a:prstGeom prst="ellipse">
            <a:avLst/>
          </a:prstGeom>
          <a:solidFill>
            <a:srgbClr val="D5FF74"/>
          </a:solidFill>
          <a:ln w="12700">
            <a:solidFill>
              <a:srgbClr val="FFFFFF"/>
            </a:solidFill>
            <a:prstDash val="solid"/>
          </a:ln>
        </p:spPr>
      </p:sp>
      <p:sp>
        <p:nvSpPr>
          <p:cNvPr id="24" name="Text 22"/>
          <p:cNvSpPr txBox="1"/>
          <p:nvPr/>
        </p:nvSpPr>
        <p:spPr>
          <a:xfrm>
            <a:off x="9966960" y="3511296"/>
            <a:ext cx="1371600" cy="237744"/>
          </a:xfrm>
          <a:prstGeom prst="rect">
            <a:avLst/>
          </a:prstGeom>
          <a:noFill/>
          <a:ln/>
        </p:spPr>
        <p:txBody>
          <a:bodyPr wrap="square" lIns="0" tIns="0" rIns="0" bIns="0" rtlCol="0" anchor="ctr">
            <a:normAutofit/>
          </a:bodyPr>
          <a:lstStyle/>
          <a:p>
            <a:pPr algn="ctr" indent="0" marL="0">
              <a:buNone/>
            </a:pPr>
            <a:r>
              <a:rPr lang="en-US" sz="1000" b="1" dirty="0">
                <a:solidFill>
                  <a:srgbClr val="D5FF74"/>
                </a:solidFill>
                <a:latin typeface="Aptos" pitchFamily="34" charset="0"/>
                <a:ea typeface="Aptos" pitchFamily="34" charset="-122"/>
                <a:cs typeface="Aptos" pitchFamily="34" charset="-120"/>
              </a:rPr>
              <a:t>CF-1024</a:t>
            </a:r>
            <a:endParaRPr lang="en-US" sz="1000" dirty="0"/>
          </a:p>
        </p:txBody>
      </p:sp>
      <p:sp>
        <p:nvSpPr>
          <p:cNvPr id="25" name="Shape 23"/>
          <p:cNvSpPr/>
          <p:nvPr/>
        </p:nvSpPr>
        <p:spPr>
          <a:xfrm>
            <a:off x="7406640" y="4160520"/>
            <a:ext cx="3840480" cy="1143000"/>
          </a:xfrm>
          <a:prstGeom prst="roundRect">
            <a:avLst>
              <a:gd name="adj" fmla="val 11200"/>
            </a:avLst>
          </a:prstGeom>
          <a:solidFill>
            <a:srgbClr val="111E30"/>
          </a:solidFill>
          <a:ln w="12700">
            <a:solidFill>
              <a:srgbClr val="263B52"/>
            </a:solidFill>
            <a:prstDash val="solid"/>
          </a:ln>
        </p:spPr>
      </p:sp>
      <p:sp>
        <p:nvSpPr>
          <p:cNvPr id="26" name="Text 24"/>
          <p:cNvSpPr txBox="1"/>
          <p:nvPr/>
        </p:nvSpPr>
        <p:spPr>
          <a:xfrm>
            <a:off x="7662672" y="4370832"/>
            <a:ext cx="3200400" cy="182880"/>
          </a:xfrm>
          <a:prstGeom prst="rect">
            <a:avLst/>
          </a:prstGeom>
          <a:noFill/>
          <a:ln/>
        </p:spPr>
        <p:txBody>
          <a:bodyPr wrap="square" lIns="0" tIns="0" rIns="0" bIns="0" rtlCol="0" anchor="ctr">
            <a:normAutofit/>
          </a:bodyPr>
          <a:lstStyle/>
          <a:p>
            <a:pPr algn="l" indent="0" marL="0">
              <a:buNone/>
            </a:pPr>
            <a:r>
              <a:rPr lang="en-US" sz="900" b="1" spc="100" kern="0" dirty="0">
                <a:solidFill>
                  <a:srgbClr val="91A0B5"/>
                </a:solidFill>
                <a:latin typeface="Aptos" pitchFamily="34" charset="0"/>
                <a:ea typeface="Aptos" pitchFamily="34" charset="-122"/>
                <a:cs typeface="Aptos" pitchFamily="34" charset="-120"/>
              </a:rPr>
              <a:t>CIVIC ISSUE DETECTED</a:t>
            </a:r>
            <a:endParaRPr lang="en-US" sz="900" dirty="0"/>
          </a:p>
        </p:txBody>
      </p:sp>
      <p:sp>
        <p:nvSpPr>
          <p:cNvPr id="27" name="Text 25"/>
          <p:cNvSpPr txBox="1"/>
          <p:nvPr/>
        </p:nvSpPr>
        <p:spPr>
          <a:xfrm>
            <a:off x="7662672" y="4645152"/>
            <a:ext cx="3200400" cy="237744"/>
          </a:xfrm>
          <a:prstGeom prst="rect">
            <a:avLst/>
          </a:prstGeom>
          <a:noFill/>
          <a:ln/>
        </p:spPr>
        <p:txBody>
          <a:bodyPr wrap="square" lIns="0" tIns="0" rIns="0" bIns="0" rtlCol="0" anchor="ctr">
            <a:normAutofit/>
          </a:bodyPr>
          <a:lstStyle/>
          <a:p>
            <a:pPr algn="l" indent="0" marL="0">
              <a:buNone/>
            </a:pPr>
            <a:r>
              <a:rPr lang="en-US" sz="1400" b="1" dirty="0">
                <a:solidFill>
                  <a:srgbClr val="FFFFFF"/>
                </a:solidFill>
                <a:latin typeface="Aptos" pitchFamily="34" charset="0"/>
                <a:ea typeface="Aptos" pitchFamily="34" charset="-122"/>
                <a:cs typeface="Aptos" pitchFamily="34" charset="-120"/>
              </a:rPr>
              <a:t>Road damage  •  High priority</a:t>
            </a:r>
            <a:endParaRPr lang="en-US" sz="1400" dirty="0"/>
          </a:p>
        </p:txBody>
      </p:sp>
      <p:sp>
        <p:nvSpPr>
          <p:cNvPr id="28" name="Shape 26"/>
          <p:cNvSpPr/>
          <p:nvPr/>
        </p:nvSpPr>
        <p:spPr>
          <a:xfrm>
            <a:off x="7662672" y="4992624"/>
            <a:ext cx="1691640" cy="274320"/>
          </a:xfrm>
          <a:prstGeom prst="roundRect">
            <a:avLst>
              <a:gd name="adj" fmla="val 40000"/>
            </a:avLst>
          </a:prstGeom>
          <a:solidFill>
            <a:srgbClr val="2DD4BF"/>
          </a:solidFill>
          <a:ln w="12700">
            <a:solidFill>
              <a:srgbClr val="2DD4BF">
                <a:alpha val="0"/>
              </a:srgbClr>
            </a:solidFill>
            <a:prstDash val="solid"/>
          </a:ln>
        </p:spPr>
      </p:sp>
      <p:sp>
        <p:nvSpPr>
          <p:cNvPr id="29" name="Text 27"/>
          <p:cNvSpPr txBox="1"/>
          <p:nvPr/>
        </p:nvSpPr>
        <p:spPr>
          <a:xfrm>
            <a:off x="7735824" y="5010912"/>
            <a:ext cx="1545336" cy="228600"/>
          </a:xfrm>
          <a:prstGeom prst="rect">
            <a:avLst/>
          </a:prstGeom>
          <a:noFill/>
          <a:ln/>
        </p:spPr>
        <p:txBody>
          <a:bodyPr wrap="square" lIns="0" tIns="0" rIns="0" bIns="0" rtlCol="0" anchor="ctr">
            <a:normAutofit/>
          </a:bodyPr>
          <a:lstStyle/>
          <a:p>
            <a:pPr algn="ctr" indent="0" marL="0">
              <a:buNone/>
            </a:pPr>
            <a:r>
              <a:rPr lang="en-US" sz="850" b="1" dirty="0">
                <a:solidFill>
                  <a:srgbClr val="0B1220"/>
                </a:solidFill>
                <a:latin typeface="Aptos" pitchFamily="34" charset="0"/>
                <a:ea typeface="Aptos" pitchFamily="34" charset="-122"/>
                <a:cs typeface="Aptos" pitchFamily="34" charset="-120"/>
              </a:rPr>
              <a:t>EVIDENCE → ACTION</a:t>
            </a:r>
            <a:endParaRPr lang="en-US" sz="850" dirty="0"/>
          </a:p>
        </p:txBody>
      </p:sp>
      <p:sp>
        <p:nvSpPr>
          <p:cNvPr id="30" name="Shape 28"/>
          <p:cNvSpPr/>
          <p:nvPr/>
        </p:nvSpPr>
        <p:spPr>
          <a:xfrm>
            <a:off x="685800" y="731520"/>
            <a:ext cx="2404872" cy="274320"/>
          </a:xfrm>
          <a:prstGeom prst="roundRect">
            <a:avLst>
              <a:gd name="adj" fmla="val 40000"/>
            </a:avLst>
          </a:prstGeom>
          <a:solidFill>
            <a:srgbClr val="17263A"/>
          </a:solidFill>
          <a:ln w="12700">
            <a:solidFill>
              <a:srgbClr val="17263A">
                <a:alpha val="0"/>
              </a:srgbClr>
            </a:solidFill>
            <a:prstDash val="solid"/>
          </a:ln>
        </p:spPr>
      </p:sp>
      <p:sp>
        <p:nvSpPr>
          <p:cNvPr id="31" name="Text 29"/>
          <p:cNvSpPr txBox="1"/>
          <p:nvPr/>
        </p:nvSpPr>
        <p:spPr>
          <a:xfrm>
            <a:off x="758952" y="749808"/>
            <a:ext cx="2258568" cy="228600"/>
          </a:xfrm>
          <a:prstGeom prst="rect">
            <a:avLst/>
          </a:prstGeom>
          <a:noFill/>
          <a:ln/>
        </p:spPr>
        <p:txBody>
          <a:bodyPr wrap="square" lIns="0" tIns="0" rIns="0" bIns="0" rtlCol="0" anchor="ctr">
            <a:normAutofit/>
          </a:bodyPr>
          <a:lstStyle/>
          <a:p>
            <a:pPr algn="ctr" indent="0" marL="0">
              <a:buNone/>
            </a:pPr>
            <a:r>
              <a:rPr lang="en-US" sz="850" b="1" dirty="0">
                <a:solidFill>
                  <a:srgbClr val="2DD4BF"/>
                </a:solidFill>
                <a:latin typeface="Aptos" pitchFamily="34" charset="0"/>
                <a:ea typeface="Aptos" pitchFamily="34" charset="-122"/>
                <a:cs typeface="Aptos" pitchFamily="34" charset="-120"/>
              </a:rPr>
              <a:t>OPEN-SOURCE AI  /  CIVIC TECH</a:t>
            </a:r>
            <a:endParaRPr lang="en-US" sz="850" dirty="0"/>
          </a:p>
        </p:txBody>
      </p:sp>
      <p:sp>
        <p:nvSpPr>
          <p:cNvPr id="32" name="Text 30"/>
          <p:cNvSpPr txBox="1"/>
          <p:nvPr/>
        </p:nvSpPr>
        <p:spPr>
          <a:xfrm>
            <a:off x="658368" y="1417320"/>
            <a:ext cx="6217920" cy="868680"/>
          </a:xfrm>
          <a:prstGeom prst="rect">
            <a:avLst/>
          </a:prstGeom>
          <a:noFill/>
          <a:ln/>
        </p:spPr>
        <p:txBody>
          <a:bodyPr wrap="square" lIns="0" tIns="0" rIns="0" bIns="0" rtlCol="0" anchor="ctr">
            <a:normAutofit/>
          </a:bodyPr>
          <a:lstStyle/>
          <a:p>
            <a:pPr algn="l" indent="0" marL="0">
              <a:buNone/>
            </a:pPr>
            <a:r>
              <a:rPr lang="en-US" sz="4900" b="1" dirty="0">
                <a:solidFill>
                  <a:srgbClr val="FFFFFF"/>
                </a:solidFill>
                <a:latin typeface="Aptos Display" pitchFamily="34" charset="0"/>
                <a:ea typeface="Aptos Display" pitchFamily="34" charset="-122"/>
                <a:cs typeface="Aptos Display" pitchFamily="34" charset="-120"/>
              </a:rPr>
              <a:t>CivicFix AI</a:t>
            </a:r>
            <a:endParaRPr lang="en-US" sz="4900" dirty="0"/>
          </a:p>
        </p:txBody>
      </p:sp>
      <p:sp>
        <p:nvSpPr>
          <p:cNvPr id="33" name="Text 31"/>
          <p:cNvSpPr txBox="1"/>
          <p:nvPr/>
        </p:nvSpPr>
        <p:spPr>
          <a:xfrm>
            <a:off x="704088" y="2487168"/>
            <a:ext cx="5806440" cy="960120"/>
          </a:xfrm>
          <a:prstGeom prst="rect">
            <a:avLst/>
          </a:prstGeom>
          <a:noFill/>
          <a:ln/>
        </p:spPr>
        <p:txBody>
          <a:bodyPr wrap="square" lIns="0" tIns="0" rIns="0" bIns="0" rtlCol="0" anchor="ctr">
            <a:normAutofit/>
          </a:bodyPr>
          <a:lstStyle/>
          <a:p>
            <a:pPr algn="l" indent="0" marL="0">
              <a:buNone/>
            </a:pPr>
            <a:r>
              <a:rPr lang="en-US" sz="2500" b="1" dirty="0">
                <a:solidFill>
                  <a:srgbClr val="DCE8F5"/>
                </a:solidFill>
                <a:latin typeface="Aptos Display" pitchFamily="34" charset="0"/>
                <a:ea typeface="Aptos Display" pitchFamily="34" charset="-122"/>
                <a:cs typeface="Aptos Display" pitchFamily="34" charset="-120"/>
              </a:rPr>
              <a:t>From citizen evidence</a:t>
            </a:r>
            <a:endParaRPr lang="en-US" sz="2500" dirty="0"/>
          </a:p>
          <a:p>
            <a:pPr algn="l" indent="0" marL="0">
              <a:buNone/>
            </a:pPr>
            <a:r>
              <a:rPr lang="en-US" sz="2500" b="1" dirty="0">
                <a:solidFill>
                  <a:srgbClr val="DCE8F5"/>
                </a:solidFill>
                <a:latin typeface="Aptos Display" pitchFamily="34" charset="0"/>
                <a:ea typeface="Aptos Display" pitchFamily="34" charset="-122"/>
                <a:cs typeface="Aptos Display" pitchFamily="34" charset="-120"/>
              </a:rPr>
              <a:t>to verified civic action.</a:t>
            </a:r>
            <a:endParaRPr lang="en-US" sz="2500" dirty="0"/>
          </a:p>
        </p:txBody>
      </p:sp>
      <p:sp>
        <p:nvSpPr>
          <p:cNvPr id="34" name="Text 32"/>
          <p:cNvSpPr txBox="1"/>
          <p:nvPr/>
        </p:nvSpPr>
        <p:spPr>
          <a:xfrm>
            <a:off x="731520" y="3767328"/>
            <a:ext cx="5212080" cy="603504"/>
          </a:xfrm>
          <a:prstGeom prst="rect">
            <a:avLst/>
          </a:prstGeom>
          <a:noFill/>
          <a:ln/>
        </p:spPr>
        <p:txBody>
          <a:bodyPr wrap="square" lIns="0" tIns="0" rIns="0" bIns="0" rtlCol="0" anchor="ctr">
            <a:normAutofit/>
          </a:bodyPr>
          <a:lstStyle/>
          <a:p>
            <a:pPr algn="l" indent="0" marL="0">
              <a:buNone/>
            </a:pPr>
            <a:r>
              <a:rPr lang="en-US" sz="1500" dirty="0">
                <a:solidFill>
                  <a:srgbClr val="AAB8CA"/>
                </a:solidFill>
                <a:latin typeface="Aptos" pitchFamily="34" charset="0"/>
                <a:ea typeface="Aptos" pitchFamily="34" charset="-122"/>
                <a:cs typeface="Aptos" pitchFamily="34" charset="-120"/>
              </a:rPr>
              <a:t>A multimodal AI workflow for reporting, prioritizing, tracking and verifying civic issues.</a:t>
            </a:r>
            <a:endParaRPr lang="en-US" sz="1500" dirty="0"/>
          </a:p>
        </p:txBody>
      </p:sp>
      <p:sp>
        <p:nvSpPr>
          <p:cNvPr id="35" name="Shape 33"/>
          <p:cNvSpPr/>
          <p:nvPr/>
        </p:nvSpPr>
        <p:spPr>
          <a:xfrm>
            <a:off x="731520" y="4800600"/>
            <a:ext cx="3657600" cy="0"/>
          </a:xfrm>
          <a:prstGeom prst="line">
            <a:avLst/>
          </a:prstGeom>
          <a:noFill/>
          <a:ln w="30480">
            <a:solidFill>
              <a:srgbClr val="2DD4BF"/>
            </a:solidFill>
            <a:prstDash val="solid"/>
            <a:headEnd type="none"/>
            <a:tailEnd type="none"/>
          </a:ln>
        </p:spPr>
      </p:sp>
      <p:sp>
        <p:nvSpPr>
          <p:cNvPr id="36" name="Text 34"/>
          <p:cNvSpPr txBox="1"/>
          <p:nvPr/>
        </p:nvSpPr>
        <p:spPr>
          <a:xfrm>
            <a:off x="731520" y="5074920"/>
            <a:ext cx="5669280" cy="256032"/>
          </a:xfrm>
          <a:prstGeom prst="rect">
            <a:avLst/>
          </a:prstGeom>
          <a:noFill/>
          <a:ln/>
        </p:spPr>
        <p:txBody>
          <a:bodyPr wrap="square" lIns="0" tIns="0" rIns="0" bIns="0" rtlCol="0" anchor="ctr">
            <a:normAutofit/>
          </a:bodyPr>
          <a:lstStyle/>
          <a:p>
            <a:pPr algn="l" indent="0" marL="0">
              <a:buNone/>
            </a:pPr>
            <a:r>
              <a:rPr lang="en-US" sz="1000" b="1" spc="70" kern="0" dirty="0">
                <a:solidFill>
                  <a:srgbClr val="D5FF74"/>
                </a:solidFill>
                <a:latin typeface="Aptos" pitchFamily="34" charset="0"/>
                <a:ea typeface="Aptos" pitchFamily="34" charset="-122"/>
                <a:cs typeface="Aptos" pitchFamily="34" charset="-120"/>
              </a:rPr>
              <a:t>SCAN  →  UNDERSTAND  →  PRIORITIZE  →  VERIFY</a:t>
            </a:r>
            <a:endParaRPr lang="en-US" sz="1000" dirty="0"/>
          </a:p>
        </p:txBody>
      </p:sp>
      <p:sp>
        <p:nvSpPr>
          <p:cNvPr id="37" name="Text 35"/>
          <p:cNvSpPr txBox="1"/>
          <p:nvPr/>
        </p:nvSpPr>
        <p:spPr>
          <a:xfrm>
            <a:off x="731520" y="6144768"/>
            <a:ext cx="3840480" cy="182880"/>
          </a:xfrm>
          <a:prstGeom prst="rect">
            <a:avLst/>
          </a:prstGeom>
          <a:noFill/>
          <a:ln/>
        </p:spPr>
        <p:txBody>
          <a:bodyPr wrap="square" lIns="0" tIns="0" rIns="0" bIns="0" rtlCol="0" anchor="ctr">
            <a:normAutofit/>
          </a:bodyPr>
          <a:lstStyle/>
          <a:p>
            <a:pPr algn="l" indent="0" marL="0">
              <a:buNone/>
            </a:pPr>
            <a:r>
              <a:rPr lang="en-US" sz="800" b="1" spc="110" kern="0" dirty="0">
                <a:solidFill>
                  <a:srgbClr val="647890"/>
                </a:solidFill>
                <a:latin typeface="Aptos" pitchFamily="34" charset="0"/>
                <a:ea typeface="Aptos" pitchFamily="34" charset="-122"/>
                <a:cs typeface="Aptos" pitchFamily="34" charset="-120"/>
              </a:rPr>
              <a:t>HACKATHON PROJECT CONCEPT</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5F7FA"/>
          </a:solidFill>
          <a:ln w="12700">
            <a:solidFill>
              <a:srgbClr val="F5F7FA">
                <a:alpha val="0"/>
              </a:srgbClr>
            </a:solidFill>
            <a:prstDash val="solid"/>
          </a:ln>
        </p:spPr>
      </p:sp>
      <p:sp>
        <p:nvSpPr>
          <p:cNvPr id="3" name="Shape 1"/>
          <p:cNvSpPr/>
          <p:nvPr/>
        </p:nvSpPr>
        <p:spPr>
          <a:xfrm>
            <a:off x="566928" y="384048"/>
            <a:ext cx="1417320" cy="274320"/>
          </a:xfrm>
          <a:prstGeom prst="roundRect">
            <a:avLst>
              <a:gd name="adj" fmla="val 36667"/>
            </a:avLst>
          </a:prstGeom>
          <a:solidFill>
            <a:srgbClr val="FFFFFF"/>
          </a:solidFill>
          <a:ln w="12700">
            <a:solidFill>
              <a:srgbClr val="DCE3EA"/>
            </a:solidFill>
            <a:prstDash val="solid"/>
          </a:ln>
        </p:spPr>
      </p:sp>
      <p:sp>
        <p:nvSpPr>
          <p:cNvPr id="4" name="Shape 2"/>
          <p:cNvSpPr/>
          <p:nvPr/>
        </p:nvSpPr>
        <p:spPr>
          <a:xfrm>
            <a:off x="658368" y="480060"/>
            <a:ext cx="82296" cy="82296"/>
          </a:xfrm>
          <a:prstGeom prst="ellipse">
            <a:avLst/>
          </a:prstGeom>
          <a:solidFill>
            <a:srgbClr val="2DD4BF"/>
          </a:solidFill>
          <a:ln w="12700">
            <a:solidFill>
              <a:srgbClr val="2DD4BF"/>
            </a:solidFill>
            <a:prstDash val="solid"/>
          </a:ln>
        </p:spPr>
      </p:sp>
      <p:sp>
        <p:nvSpPr>
          <p:cNvPr id="5" name="Text 3"/>
          <p:cNvSpPr txBox="1"/>
          <p:nvPr/>
        </p:nvSpPr>
        <p:spPr>
          <a:xfrm>
            <a:off x="795528" y="402336"/>
            <a:ext cx="1133856" cy="219456"/>
          </a:xfrm>
          <a:prstGeom prst="rect">
            <a:avLst/>
          </a:prstGeom>
          <a:noFill/>
          <a:ln/>
        </p:spPr>
        <p:txBody>
          <a:bodyPr wrap="square" lIns="0" tIns="0" rIns="0" bIns="0" rtlCol="0" anchor="ctr">
            <a:normAutofit/>
          </a:bodyPr>
          <a:lstStyle/>
          <a:p>
            <a:pPr algn="l" indent="0" marL="0">
              <a:buNone/>
            </a:pPr>
            <a:r>
              <a:rPr lang="en-US" sz="850" b="1" spc="50" kern="0" dirty="0">
                <a:solidFill>
                  <a:srgbClr val="526176"/>
                </a:solidFill>
                <a:latin typeface="Aptos" pitchFamily="34" charset="0"/>
                <a:ea typeface="Aptos" pitchFamily="34" charset="-122"/>
                <a:cs typeface="Aptos" pitchFamily="34" charset="-120"/>
              </a:rPr>
              <a:t>CIVICFIX AI  /  01</a:t>
            </a:r>
            <a:endParaRPr lang="en-US" sz="850" dirty="0"/>
          </a:p>
        </p:txBody>
      </p:sp>
      <p:sp>
        <p:nvSpPr>
          <p:cNvPr id="6" name="Text 4"/>
          <p:cNvSpPr txBox="1"/>
          <p:nvPr/>
        </p:nvSpPr>
        <p:spPr>
          <a:xfrm>
            <a:off x="566928" y="804672"/>
            <a:ext cx="10972800" cy="475488"/>
          </a:xfrm>
          <a:prstGeom prst="rect">
            <a:avLst/>
          </a:prstGeom>
          <a:noFill/>
          <a:ln/>
        </p:spPr>
        <p:txBody>
          <a:bodyPr wrap="square" lIns="0" tIns="0" rIns="0" bIns="0" rtlCol="0" anchor="ctr">
            <a:normAutofit/>
          </a:bodyPr>
          <a:lstStyle/>
          <a:p>
            <a:pPr algn="l" indent="0" marL="0">
              <a:buNone/>
            </a:pPr>
            <a:r>
              <a:rPr lang="en-US" sz="2700" b="1" dirty="0">
                <a:solidFill>
                  <a:srgbClr val="132033"/>
                </a:solidFill>
                <a:latin typeface="Aptos Display" pitchFamily="34" charset="0"/>
                <a:ea typeface="Aptos Display" pitchFamily="34" charset="-122"/>
                <a:cs typeface="Aptos Display" pitchFamily="34" charset="-120"/>
              </a:rPr>
              <a:t>A complaint is not a resolution.</a:t>
            </a:r>
            <a:endParaRPr lang="en-US" sz="2700" dirty="0"/>
          </a:p>
        </p:txBody>
      </p:sp>
      <p:sp>
        <p:nvSpPr>
          <p:cNvPr id="7" name="Text 5"/>
          <p:cNvSpPr txBox="1"/>
          <p:nvPr/>
        </p:nvSpPr>
        <p:spPr>
          <a:xfrm>
            <a:off x="585216" y="1335024"/>
            <a:ext cx="10881360" cy="347472"/>
          </a:xfrm>
          <a:prstGeom prst="rect">
            <a:avLst/>
          </a:prstGeom>
          <a:noFill/>
          <a:ln/>
        </p:spPr>
        <p:txBody>
          <a:bodyPr wrap="square" lIns="0" tIns="0" rIns="0" bIns="0" rtlCol="0" anchor="ctr">
            <a:normAutofit/>
          </a:bodyPr>
          <a:lstStyle/>
          <a:p>
            <a:pPr algn="l" indent="0" marL="0">
              <a:buNone/>
            </a:pPr>
            <a:r>
              <a:rPr lang="en-US" sz="1200" dirty="0">
                <a:solidFill>
                  <a:srgbClr val="526176"/>
                </a:solidFill>
                <a:latin typeface="Aptos" pitchFamily="34" charset="0"/>
                <a:ea typeface="Aptos" pitchFamily="34" charset="-122"/>
                <a:cs typeface="Aptos" pitchFamily="34" charset="-120"/>
              </a:rPr>
              <a:t>The gap is not just reporting a problem. It is coordinating action and proving what happened.</a:t>
            </a:r>
            <a:endParaRPr lang="en-US" sz="1200" dirty="0"/>
          </a:p>
        </p:txBody>
      </p:sp>
      <p:sp>
        <p:nvSpPr>
          <p:cNvPr id="8" name="Shape 6"/>
          <p:cNvSpPr/>
          <p:nvPr/>
        </p:nvSpPr>
        <p:spPr>
          <a:xfrm>
            <a:off x="594360" y="1874520"/>
            <a:ext cx="4892040" cy="4160520"/>
          </a:xfrm>
          <a:prstGeom prst="roundRect">
            <a:avLst>
              <a:gd name="adj" fmla="val 3297"/>
            </a:avLst>
          </a:prstGeom>
          <a:solidFill>
            <a:srgbClr val="FFFFFF"/>
          </a:solidFill>
          <a:ln w="12700">
            <a:solidFill>
              <a:srgbClr val="DCE3EA"/>
            </a:solidFill>
            <a:prstDash val="solid"/>
          </a:ln>
        </p:spPr>
      </p:sp>
      <p:sp>
        <p:nvSpPr>
          <p:cNvPr id="9" name="Shape 7"/>
          <p:cNvSpPr/>
          <p:nvPr/>
        </p:nvSpPr>
        <p:spPr>
          <a:xfrm>
            <a:off x="850392" y="2148840"/>
            <a:ext cx="4370832" cy="2194560"/>
          </a:xfrm>
          <a:prstGeom prst="roundRect">
            <a:avLst>
              <a:gd name="adj" fmla="val 5000"/>
            </a:avLst>
          </a:prstGeom>
          <a:solidFill>
            <a:srgbClr val="DCECF0"/>
          </a:solidFill>
          <a:ln w="12700">
            <a:solidFill>
              <a:srgbClr val="C5D8DE"/>
            </a:solidFill>
            <a:prstDash val="solid"/>
          </a:ln>
        </p:spPr>
      </p:sp>
      <p:sp>
        <p:nvSpPr>
          <p:cNvPr id="10" name="Shape 8"/>
          <p:cNvSpPr/>
          <p:nvPr/>
        </p:nvSpPr>
        <p:spPr>
          <a:xfrm>
            <a:off x="859536" y="2157984"/>
            <a:ext cx="4352544" cy="943661"/>
          </a:xfrm>
          <a:prstGeom prst="roundRect">
            <a:avLst>
              <a:gd name="adj" fmla="val 9690"/>
            </a:avLst>
          </a:prstGeom>
          <a:solidFill>
            <a:srgbClr val="DCEEF3"/>
          </a:solidFill>
          <a:ln w="12700">
            <a:solidFill>
              <a:srgbClr val="DCEEF3">
                <a:alpha val="0"/>
              </a:srgbClr>
            </a:solidFill>
            <a:prstDash val="solid"/>
          </a:ln>
        </p:spPr>
      </p:sp>
      <p:sp>
        <p:nvSpPr>
          <p:cNvPr id="11" name="Shape 9"/>
          <p:cNvSpPr/>
          <p:nvPr/>
        </p:nvSpPr>
        <p:spPr>
          <a:xfrm>
            <a:off x="1068934" y="2478024"/>
            <a:ext cx="699333" cy="724205"/>
          </a:xfrm>
          <a:prstGeom prst="roundRect">
            <a:avLst>
              <a:gd name="adj" fmla="val 1308"/>
            </a:avLst>
          </a:prstGeom>
          <a:solidFill>
            <a:srgbClr val="8B9AA8"/>
          </a:solidFill>
          <a:ln w="12700">
            <a:solidFill>
              <a:srgbClr val="8B9AA8">
                <a:alpha val="0"/>
              </a:srgbClr>
            </a:solidFill>
            <a:prstDash val="solid"/>
          </a:ln>
        </p:spPr>
      </p:sp>
      <p:sp>
        <p:nvSpPr>
          <p:cNvPr id="12" name="Shape 10"/>
          <p:cNvSpPr/>
          <p:nvPr/>
        </p:nvSpPr>
        <p:spPr>
          <a:xfrm>
            <a:off x="1200059" y="2587752"/>
            <a:ext cx="109271" cy="76810"/>
          </a:xfrm>
          <a:prstGeom prst="roundRect">
            <a:avLst>
              <a:gd name="adj" fmla="val 11905"/>
            </a:avLst>
          </a:prstGeom>
          <a:solidFill>
            <a:srgbClr val="D8E1E8"/>
          </a:solidFill>
          <a:ln w="12700">
            <a:solidFill>
              <a:srgbClr val="D8E1E8">
                <a:alpha val="0"/>
              </a:srgbClr>
            </a:solidFill>
            <a:prstDash val="solid"/>
          </a:ln>
        </p:spPr>
      </p:sp>
      <p:sp>
        <p:nvSpPr>
          <p:cNvPr id="13" name="Shape 11"/>
          <p:cNvSpPr/>
          <p:nvPr/>
        </p:nvSpPr>
        <p:spPr>
          <a:xfrm>
            <a:off x="1462308" y="2587752"/>
            <a:ext cx="109271" cy="76810"/>
          </a:xfrm>
          <a:prstGeom prst="roundRect">
            <a:avLst>
              <a:gd name="adj" fmla="val 11905"/>
            </a:avLst>
          </a:prstGeom>
          <a:solidFill>
            <a:srgbClr val="D8E1E8"/>
          </a:solidFill>
          <a:ln w="12700">
            <a:solidFill>
              <a:srgbClr val="D8E1E8">
                <a:alpha val="0"/>
              </a:srgbClr>
            </a:solidFill>
            <a:prstDash val="solid"/>
          </a:ln>
        </p:spPr>
      </p:sp>
      <p:sp>
        <p:nvSpPr>
          <p:cNvPr id="14" name="Shape 12"/>
          <p:cNvSpPr/>
          <p:nvPr/>
        </p:nvSpPr>
        <p:spPr>
          <a:xfrm>
            <a:off x="1200059" y="2807208"/>
            <a:ext cx="109271" cy="76810"/>
          </a:xfrm>
          <a:prstGeom prst="roundRect">
            <a:avLst>
              <a:gd name="adj" fmla="val 11905"/>
            </a:avLst>
          </a:prstGeom>
          <a:solidFill>
            <a:srgbClr val="D8E1E8"/>
          </a:solidFill>
          <a:ln w="12700">
            <a:solidFill>
              <a:srgbClr val="D8E1E8">
                <a:alpha val="0"/>
              </a:srgbClr>
            </a:solidFill>
            <a:prstDash val="solid"/>
          </a:ln>
        </p:spPr>
      </p:sp>
      <p:sp>
        <p:nvSpPr>
          <p:cNvPr id="15" name="Shape 13"/>
          <p:cNvSpPr/>
          <p:nvPr/>
        </p:nvSpPr>
        <p:spPr>
          <a:xfrm>
            <a:off x="1462308" y="2807208"/>
            <a:ext cx="109271" cy="76810"/>
          </a:xfrm>
          <a:prstGeom prst="roundRect">
            <a:avLst>
              <a:gd name="adj" fmla="val 11905"/>
            </a:avLst>
          </a:prstGeom>
          <a:solidFill>
            <a:srgbClr val="D8E1E8"/>
          </a:solidFill>
          <a:ln w="12700">
            <a:solidFill>
              <a:srgbClr val="D8E1E8">
                <a:alpha val="0"/>
              </a:srgbClr>
            </a:solidFill>
            <a:prstDash val="solid"/>
          </a:ln>
        </p:spPr>
      </p:sp>
      <p:sp>
        <p:nvSpPr>
          <p:cNvPr id="16" name="Shape 14"/>
          <p:cNvSpPr/>
          <p:nvPr/>
        </p:nvSpPr>
        <p:spPr>
          <a:xfrm>
            <a:off x="1811975" y="2324405"/>
            <a:ext cx="743041" cy="877824"/>
          </a:xfrm>
          <a:prstGeom prst="roundRect">
            <a:avLst>
              <a:gd name="adj" fmla="val 1231"/>
            </a:avLst>
          </a:prstGeom>
          <a:solidFill>
            <a:srgbClr val="AFB9C5"/>
          </a:solidFill>
          <a:ln w="12700">
            <a:solidFill>
              <a:srgbClr val="AFB9C5">
                <a:alpha val="0"/>
              </a:srgbClr>
            </a:solidFill>
            <a:prstDash val="solid"/>
          </a:ln>
        </p:spPr>
      </p:sp>
      <p:sp>
        <p:nvSpPr>
          <p:cNvPr id="17" name="Shape 15"/>
          <p:cNvSpPr/>
          <p:nvPr/>
        </p:nvSpPr>
        <p:spPr>
          <a:xfrm>
            <a:off x="1943100" y="2434133"/>
            <a:ext cx="109271" cy="76810"/>
          </a:xfrm>
          <a:prstGeom prst="roundRect">
            <a:avLst>
              <a:gd name="adj" fmla="val 11905"/>
            </a:avLst>
          </a:prstGeom>
          <a:solidFill>
            <a:srgbClr val="D8E1E8"/>
          </a:solidFill>
          <a:ln w="12700">
            <a:solidFill>
              <a:srgbClr val="D8E1E8">
                <a:alpha val="0"/>
              </a:srgbClr>
            </a:solidFill>
            <a:prstDash val="solid"/>
          </a:ln>
        </p:spPr>
      </p:sp>
      <p:sp>
        <p:nvSpPr>
          <p:cNvPr id="18" name="Shape 16"/>
          <p:cNvSpPr/>
          <p:nvPr/>
        </p:nvSpPr>
        <p:spPr>
          <a:xfrm>
            <a:off x="2205350" y="2434133"/>
            <a:ext cx="109271" cy="76810"/>
          </a:xfrm>
          <a:prstGeom prst="roundRect">
            <a:avLst>
              <a:gd name="adj" fmla="val 11905"/>
            </a:avLst>
          </a:prstGeom>
          <a:solidFill>
            <a:srgbClr val="D8E1E8"/>
          </a:solidFill>
          <a:ln w="12700">
            <a:solidFill>
              <a:srgbClr val="D8E1E8">
                <a:alpha val="0"/>
              </a:srgbClr>
            </a:solidFill>
            <a:prstDash val="solid"/>
          </a:ln>
        </p:spPr>
      </p:sp>
      <p:sp>
        <p:nvSpPr>
          <p:cNvPr id="19" name="Shape 17"/>
          <p:cNvSpPr/>
          <p:nvPr/>
        </p:nvSpPr>
        <p:spPr>
          <a:xfrm>
            <a:off x="1943100" y="2653589"/>
            <a:ext cx="109271" cy="76810"/>
          </a:xfrm>
          <a:prstGeom prst="roundRect">
            <a:avLst>
              <a:gd name="adj" fmla="val 11905"/>
            </a:avLst>
          </a:prstGeom>
          <a:solidFill>
            <a:srgbClr val="D8E1E8"/>
          </a:solidFill>
          <a:ln w="12700">
            <a:solidFill>
              <a:srgbClr val="D8E1E8">
                <a:alpha val="0"/>
              </a:srgbClr>
            </a:solidFill>
            <a:prstDash val="solid"/>
          </a:ln>
        </p:spPr>
      </p:sp>
      <p:sp>
        <p:nvSpPr>
          <p:cNvPr id="20" name="Shape 18"/>
          <p:cNvSpPr/>
          <p:nvPr/>
        </p:nvSpPr>
        <p:spPr>
          <a:xfrm>
            <a:off x="2205350" y="2653589"/>
            <a:ext cx="109271" cy="76810"/>
          </a:xfrm>
          <a:prstGeom prst="roundRect">
            <a:avLst>
              <a:gd name="adj" fmla="val 11905"/>
            </a:avLst>
          </a:prstGeom>
          <a:solidFill>
            <a:srgbClr val="D8E1E8"/>
          </a:solidFill>
          <a:ln w="12700">
            <a:solidFill>
              <a:srgbClr val="D8E1E8">
                <a:alpha val="0"/>
              </a:srgbClr>
            </a:solidFill>
            <a:prstDash val="solid"/>
          </a:ln>
        </p:spPr>
      </p:sp>
      <p:sp>
        <p:nvSpPr>
          <p:cNvPr id="21" name="Shape 19"/>
          <p:cNvSpPr/>
          <p:nvPr/>
        </p:nvSpPr>
        <p:spPr>
          <a:xfrm>
            <a:off x="2686141" y="2543861"/>
            <a:ext cx="655625" cy="658368"/>
          </a:xfrm>
          <a:prstGeom prst="roundRect">
            <a:avLst>
              <a:gd name="adj" fmla="val 1395"/>
            </a:avLst>
          </a:prstGeom>
          <a:solidFill>
            <a:srgbClr val="8E9CAA"/>
          </a:solidFill>
          <a:ln w="12700">
            <a:solidFill>
              <a:srgbClr val="8E9CAA">
                <a:alpha val="0"/>
              </a:srgbClr>
            </a:solidFill>
            <a:prstDash val="solid"/>
          </a:ln>
        </p:spPr>
      </p:sp>
      <p:sp>
        <p:nvSpPr>
          <p:cNvPr id="22" name="Shape 20"/>
          <p:cNvSpPr/>
          <p:nvPr/>
        </p:nvSpPr>
        <p:spPr>
          <a:xfrm>
            <a:off x="2817266" y="2653589"/>
            <a:ext cx="109271" cy="76810"/>
          </a:xfrm>
          <a:prstGeom prst="roundRect">
            <a:avLst>
              <a:gd name="adj" fmla="val 11905"/>
            </a:avLst>
          </a:prstGeom>
          <a:solidFill>
            <a:srgbClr val="D8E1E8"/>
          </a:solidFill>
          <a:ln w="12700">
            <a:solidFill>
              <a:srgbClr val="D8E1E8">
                <a:alpha val="0"/>
              </a:srgbClr>
            </a:solidFill>
            <a:prstDash val="solid"/>
          </a:ln>
        </p:spPr>
      </p:sp>
      <p:sp>
        <p:nvSpPr>
          <p:cNvPr id="23" name="Shape 21"/>
          <p:cNvSpPr/>
          <p:nvPr/>
        </p:nvSpPr>
        <p:spPr>
          <a:xfrm>
            <a:off x="3079516" y="2653589"/>
            <a:ext cx="109271" cy="76810"/>
          </a:xfrm>
          <a:prstGeom prst="roundRect">
            <a:avLst>
              <a:gd name="adj" fmla="val 11905"/>
            </a:avLst>
          </a:prstGeom>
          <a:solidFill>
            <a:srgbClr val="D8E1E8"/>
          </a:solidFill>
          <a:ln w="12700">
            <a:solidFill>
              <a:srgbClr val="D8E1E8">
                <a:alpha val="0"/>
              </a:srgbClr>
            </a:solidFill>
            <a:prstDash val="solid"/>
          </a:ln>
        </p:spPr>
      </p:sp>
      <p:sp>
        <p:nvSpPr>
          <p:cNvPr id="24" name="Shape 22"/>
          <p:cNvSpPr/>
          <p:nvPr/>
        </p:nvSpPr>
        <p:spPr>
          <a:xfrm>
            <a:off x="2817266" y="2873045"/>
            <a:ext cx="109271" cy="76810"/>
          </a:xfrm>
          <a:prstGeom prst="roundRect">
            <a:avLst>
              <a:gd name="adj" fmla="val 11905"/>
            </a:avLst>
          </a:prstGeom>
          <a:solidFill>
            <a:srgbClr val="D8E1E8"/>
          </a:solidFill>
          <a:ln w="12700">
            <a:solidFill>
              <a:srgbClr val="D8E1E8">
                <a:alpha val="0"/>
              </a:srgbClr>
            </a:solidFill>
            <a:prstDash val="solid"/>
          </a:ln>
        </p:spPr>
      </p:sp>
      <p:sp>
        <p:nvSpPr>
          <p:cNvPr id="25" name="Shape 23"/>
          <p:cNvSpPr/>
          <p:nvPr/>
        </p:nvSpPr>
        <p:spPr>
          <a:xfrm>
            <a:off x="3079516" y="2873045"/>
            <a:ext cx="109271" cy="76810"/>
          </a:xfrm>
          <a:prstGeom prst="roundRect">
            <a:avLst>
              <a:gd name="adj" fmla="val 11905"/>
            </a:avLst>
          </a:prstGeom>
          <a:solidFill>
            <a:srgbClr val="D8E1E8"/>
          </a:solidFill>
          <a:ln w="12700">
            <a:solidFill>
              <a:srgbClr val="D8E1E8">
                <a:alpha val="0"/>
              </a:srgbClr>
            </a:solidFill>
            <a:prstDash val="solid"/>
          </a:ln>
        </p:spPr>
      </p:sp>
      <p:sp>
        <p:nvSpPr>
          <p:cNvPr id="26" name="Shape 24"/>
          <p:cNvSpPr/>
          <p:nvPr/>
        </p:nvSpPr>
        <p:spPr>
          <a:xfrm>
            <a:off x="3560308" y="2368296"/>
            <a:ext cx="743041" cy="833933"/>
          </a:xfrm>
          <a:prstGeom prst="roundRect">
            <a:avLst>
              <a:gd name="adj" fmla="val 1231"/>
            </a:avLst>
          </a:prstGeom>
          <a:solidFill>
            <a:srgbClr val="ADB7C3"/>
          </a:solidFill>
          <a:ln w="12700">
            <a:solidFill>
              <a:srgbClr val="ADB7C3">
                <a:alpha val="0"/>
              </a:srgbClr>
            </a:solidFill>
            <a:prstDash val="solid"/>
          </a:ln>
        </p:spPr>
      </p:sp>
      <p:sp>
        <p:nvSpPr>
          <p:cNvPr id="27" name="Shape 25"/>
          <p:cNvSpPr/>
          <p:nvPr/>
        </p:nvSpPr>
        <p:spPr>
          <a:xfrm>
            <a:off x="3691433" y="2478024"/>
            <a:ext cx="109271" cy="76810"/>
          </a:xfrm>
          <a:prstGeom prst="roundRect">
            <a:avLst>
              <a:gd name="adj" fmla="val 11905"/>
            </a:avLst>
          </a:prstGeom>
          <a:solidFill>
            <a:srgbClr val="D8E1E8"/>
          </a:solidFill>
          <a:ln w="12700">
            <a:solidFill>
              <a:srgbClr val="D8E1E8">
                <a:alpha val="0"/>
              </a:srgbClr>
            </a:solidFill>
            <a:prstDash val="solid"/>
          </a:ln>
        </p:spPr>
      </p:sp>
      <p:sp>
        <p:nvSpPr>
          <p:cNvPr id="28" name="Shape 26"/>
          <p:cNvSpPr/>
          <p:nvPr/>
        </p:nvSpPr>
        <p:spPr>
          <a:xfrm>
            <a:off x="3953683" y="2478024"/>
            <a:ext cx="109271" cy="76810"/>
          </a:xfrm>
          <a:prstGeom prst="roundRect">
            <a:avLst>
              <a:gd name="adj" fmla="val 11905"/>
            </a:avLst>
          </a:prstGeom>
          <a:solidFill>
            <a:srgbClr val="D8E1E8"/>
          </a:solidFill>
          <a:ln w="12700">
            <a:solidFill>
              <a:srgbClr val="D8E1E8">
                <a:alpha val="0"/>
              </a:srgbClr>
            </a:solidFill>
            <a:prstDash val="solid"/>
          </a:ln>
        </p:spPr>
      </p:sp>
      <p:sp>
        <p:nvSpPr>
          <p:cNvPr id="29" name="Shape 27"/>
          <p:cNvSpPr/>
          <p:nvPr/>
        </p:nvSpPr>
        <p:spPr>
          <a:xfrm>
            <a:off x="3691433" y="2697480"/>
            <a:ext cx="109271" cy="76810"/>
          </a:xfrm>
          <a:prstGeom prst="roundRect">
            <a:avLst>
              <a:gd name="adj" fmla="val 11905"/>
            </a:avLst>
          </a:prstGeom>
          <a:solidFill>
            <a:srgbClr val="D8E1E8"/>
          </a:solidFill>
          <a:ln w="12700">
            <a:solidFill>
              <a:srgbClr val="D8E1E8">
                <a:alpha val="0"/>
              </a:srgbClr>
            </a:solidFill>
            <a:prstDash val="solid"/>
          </a:ln>
        </p:spPr>
      </p:sp>
      <p:sp>
        <p:nvSpPr>
          <p:cNvPr id="30" name="Shape 28"/>
          <p:cNvSpPr/>
          <p:nvPr/>
        </p:nvSpPr>
        <p:spPr>
          <a:xfrm>
            <a:off x="3953683" y="2697480"/>
            <a:ext cx="109271" cy="76810"/>
          </a:xfrm>
          <a:prstGeom prst="roundRect">
            <a:avLst>
              <a:gd name="adj" fmla="val 11905"/>
            </a:avLst>
          </a:prstGeom>
          <a:solidFill>
            <a:srgbClr val="D8E1E8"/>
          </a:solidFill>
          <a:ln w="12700">
            <a:solidFill>
              <a:srgbClr val="D8E1E8">
                <a:alpha val="0"/>
              </a:srgbClr>
            </a:solidFill>
            <a:prstDash val="solid"/>
          </a:ln>
        </p:spPr>
      </p:sp>
      <p:sp>
        <p:nvSpPr>
          <p:cNvPr id="31" name="Shape 29"/>
          <p:cNvSpPr/>
          <p:nvPr/>
        </p:nvSpPr>
        <p:spPr>
          <a:xfrm>
            <a:off x="4390766" y="2587752"/>
            <a:ext cx="568208" cy="614477"/>
          </a:xfrm>
          <a:prstGeom prst="roundRect">
            <a:avLst>
              <a:gd name="adj" fmla="val 1609"/>
            </a:avLst>
          </a:prstGeom>
          <a:solidFill>
            <a:srgbClr val="8796A5"/>
          </a:solidFill>
          <a:ln w="12700">
            <a:solidFill>
              <a:srgbClr val="8796A5">
                <a:alpha val="0"/>
              </a:srgbClr>
            </a:solidFill>
            <a:prstDash val="solid"/>
          </a:ln>
        </p:spPr>
      </p:sp>
      <p:sp>
        <p:nvSpPr>
          <p:cNvPr id="32" name="Shape 30"/>
          <p:cNvSpPr/>
          <p:nvPr/>
        </p:nvSpPr>
        <p:spPr>
          <a:xfrm>
            <a:off x="4521891" y="2697480"/>
            <a:ext cx="109271" cy="76810"/>
          </a:xfrm>
          <a:prstGeom prst="roundRect">
            <a:avLst>
              <a:gd name="adj" fmla="val 11905"/>
            </a:avLst>
          </a:prstGeom>
          <a:solidFill>
            <a:srgbClr val="D8E1E8"/>
          </a:solidFill>
          <a:ln w="12700">
            <a:solidFill>
              <a:srgbClr val="D8E1E8">
                <a:alpha val="0"/>
              </a:srgbClr>
            </a:solidFill>
            <a:prstDash val="solid"/>
          </a:ln>
        </p:spPr>
      </p:sp>
      <p:sp>
        <p:nvSpPr>
          <p:cNvPr id="33" name="Shape 31"/>
          <p:cNvSpPr/>
          <p:nvPr/>
        </p:nvSpPr>
        <p:spPr>
          <a:xfrm>
            <a:off x="4784141" y="2697480"/>
            <a:ext cx="109271" cy="76810"/>
          </a:xfrm>
          <a:prstGeom prst="roundRect">
            <a:avLst>
              <a:gd name="adj" fmla="val 11905"/>
            </a:avLst>
          </a:prstGeom>
          <a:solidFill>
            <a:srgbClr val="D8E1E8"/>
          </a:solidFill>
          <a:ln w="12700">
            <a:solidFill>
              <a:srgbClr val="D8E1E8">
                <a:alpha val="0"/>
              </a:srgbClr>
            </a:solidFill>
            <a:prstDash val="solid"/>
          </a:ln>
        </p:spPr>
      </p:sp>
      <p:sp>
        <p:nvSpPr>
          <p:cNvPr id="34" name="Shape 32"/>
          <p:cNvSpPr/>
          <p:nvPr/>
        </p:nvSpPr>
        <p:spPr>
          <a:xfrm>
            <a:off x="4521891" y="2916936"/>
            <a:ext cx="109271" cy="76810"/>
          </a:xfrm>
          <a:prstGeom prst="roundRect">
            <a:avLst>
              <a:gd name="adj" fmla="val 11905"/>
            </a:avLst>
          </a:prstGeom>
          <a:solidFill>
            <a:srgbClr val="D8E1E8"/>
          </a:solidFill>
          <a:ln w="12700">
            <a:solidFill>
              <a:srgbClr val="D8E1E8">
                <a:alpha val="0"/>
              </a:srgbClr>
            </a:solidFill>
            <a:prstDash val="solid"/>
          </a:ln>
        </p:spPr>
      </p:sp>
      <p:sp>
        <p:nvSpPr>
          <p:cNvPr id="35" name="Shape 33"/>
          <p:cNvSpPr/>
          <p:nvPr/>
        </p:nvSpPr>
        <p:spPr>
          <a:xfrm>
            <a:off x="4784141" y="2916936"/>
            <a:ext cx="109271" cy="76810"/>
          </a:xfrm>
          <a:prstGeom prst="roundRect">
            <a:avLst>
              <a:gd name="adj" fmla="val 11905"/>
            </a:avLst>
          </a:prstGeom>
          <a:solidFill>
            <a:srgbClr val="D8E1E8"/>
          </a:solidFill>
          <a:ln w="12700">
            <a:solidFill>
              <a:srgbClr val="D8E1E8">
                <a:alpha val="0"/>
              </a:srgbClr>
            </a:solidFill>
            <a:prstDash val="solid"/>
          </a:ln>
        </p:spPr>
      </p:sp>
      <p:sp>
        <p:nvSpPr>
          <p:cNvPr id="36" name="Shape 34"/>
          <p:cNvSpPr/>
          <p:nvPr/>
        </p:nvSpPr>
        <p:spPr>
          <a:xfrm>
            <a:off x="859536" y="3092501"/>
            <a:ext cx="4352544" cy="1250899"/>
          </a:xfrm>
          <a:prstGeom prst="roundRect">
            <a:avLst>
              <a:gd name="adj" fmla="val 1462"/>
            </a:avLst>
          </a:prstGeom>
          <a:solidFill>
            <a:srgbClr val="657080"/>
          </a:solidFill>
          <a:ln w="12700">
            <a:solidFill>
              <a:srgbClr val="657080">
                <a:alpha val="0"/>
              </a:srgbClr>
            </a:solidFill>
            <a:prstDash val="solid"/>
          </a:ln>
        </p:spPr>
      </p:sp>
      <p:sp>
        <p:nvSpPr>
          <p:cNvPr id="37" name="Shape 35"/>
          <p:cNvSpPr/>
          <p:nvPr/>
        </p:nvSpPr>
        <p:spPr>
          <a:xfrm>
            <a:off x="1374892" y="3685032"/>
            <a:ext cx="524500" cy="39502"/>
          </a:xfrm>
          <a:prstGeom prst="roundRect">
            <a:avLst>
              <a:gd name="adj" fmla="val 23148"/>
            </a:avLst>
          </a:prstGeom>
          <a:solidFill>
            <a:srgbClr val="E9EEF4"/>
          </a:solidFill>
          <a:ln w="12700">
            <a:solidFill>
              <a:srgbClr val="E9EEF4">
                <a:alpha val="0"/>
              </a:srgbClr>
            </a:solidFill>
            <a:prstDash val="solid"/>
          </a:ln>
        </p:spPr>
      </p:sp>
      <p:sp>
        <p:nvSpPr>
          <p:cNvPr id="38" name="Shape 36"/>
          <p:cNvSpPr/>
          <p:nvPr/>
        </p:nvSpPr>
        <p:spPr>
          <a:xfrm>
            <a:off x="2380183" y="3685032"/>
            <a:ext cx="524500" cy="39502"/>
          </a:xfrm>
          <a:prstGeom prst="roundRect">
            <a:avLst>
              <a:gd name="adj" fmla="val 23148"/>
            </a:avLst>
          </a:prstGeom>
          <a:solidFill>
            <a:srgbClr val="E9EEF4"/>
          </a:solidFill>
          <a:ln w="12700">
            <a:solidFill>
              <a:srgbClr val="E9EEF4">
                <a:alpha val="0"/>
              </a:srgbClr>
            </a:solidFill>
            <a:prstDash val="solid"/>
          </a:ln>
        </p:spPr>
      </p:sp>
      <p:sp>
        <p:nvSpPr>
          <p:cNvPr id="39" name="Shape 37"/>
          <p:cNvSpPr/>
          <p:nvPr/>
        </p:nvSpPr>
        <p:spPr>
          <a:xfrm>
            <a:off x="3385475" y="3685032"/>
            <a:ext cx="524500" cy="39502"/>
          </a:xfrm>
          <a:prstGeom prst="roundRect">
            <a:avLst>
              <a:gd name="adj" fmla="val 23148"/>
            </a:avLst>
          </a:prstGeom>
          <a:solidFill>
            <a:srgbClr val="E9EEF4"/>
          </a:solidFill>
          <a:ln w="12700">
            <a:solidFill>
              <a:srgbClr val="E9EEF4">
                <a:alpha val="0"/>
              </a:srgbClr>
            </a:solidFill>
            <a:prstDash val="solid"/>
          </a:ln>
        </p:spPr>
      </p:sp>
      <p:sp>
        <p:nvSpPr>
          <p:cNvPr id="40" name="Shape 38"/>
          <p:cNvSpPr/>
          <p:nvPr/>
        </p:nvSpPr>
        <p:spPr>
          <a:xfrm>
            <a:off x="4390766" y="3685032"/>
            <a:ext cx="524500" cy="39502"/>
          </a:xfrm>
          <a:prstGeom prst="roundRect">
            <a:avLst>
              <a:gd name="adj" fmla="val 23148"/>
            </a:avLst>
          </a:prstGeom>
          <a:solidFill>
            <a:srgbClr val="E9EEF4"/>
          </a:solidFill>
          <a:ln w="12700">
            <a:solidFill>
              <a:srgbClr val="E9EEF4">
                <a:alpha val="0"/>
              </a:srgbClr>
            </a:solidFill>
            <a:prstDash val="solid"/>
          </a:ln>
        </p:spPr>
      </p:sp>
      <p:sp>
        <p:nvSpPr>
          <p:cNvPr id="41" name="Shape 39"/>
          <p:cNvSpPr/>
          <p:nvPr/>
        </p:nvSpPr>
        <p:spPr>
          <a:xfrm>
            <a:off x="3035808" y="3685032"/>
            <a:ext cx="1180125" cy="373075"/>
          </a:xfrm>
          <a:prstGeom prst="ellipse">
            <a:avLst/>
          </a:prstGeom>
          <a:solidFill>
            <a:srgbClr val="202A36"/>
          </a:solidFill>
          <a:ln w="12700">
            <a:solidFill>
              <a:srgbClr val="323B48"/>
            </a:solidFill>
            <a:prstDash val="solid"/>
          </a:ln>
        </p:spPr>
      </p:sp>
      <p:sp>
        <p:nvSpPr>
          <p:cNvPr id="42" name="Shape 40"/>
          <p:cNvSpPr/>
          <p:nvPr/>
        </p:nvSpPr>
        <p:spPr>
          <a:xfrm>
            <a:off x="3079516" y="3663086"/>
            <a:ext cx="1092708" cy="307238"/>
          </a:xfrm>
          <a:prstGeom prst="arc">
            <a:avLst/>
          </a:prstGeom>
          <a:solidFill>
            <a:srgbClr val="202A36">
              <a:alpha val="0"/>
            </a:srgbClr>
          </a:solidFill>
          <a:ln w="19050">
            <a:solidFill>
              <a:srgbClr val="9099A7"/>
            </a:solidFill>
            <a:prstDash val="solid"/>
          </a:ln>
        </p:spPr>
      </p:sp>
      <p:sp>
        <p:nvSpPr>
          <p:cNvPr id="43" name="Shape 41"/>
          <p:cNvSpPr/>
          <p:nvPr/>
        </p:nvSpPr>
        <p:spPr>
          <a:xfrm>
            <a:off x="4303349" y="2478024"/>
            <a:ext cx="349667" cy="349667"/>
          </a:xfrm>
          <a:prstGeom prst="ellipse">
            <a:avLst/>
          </a:prstGeom>
          <a:solidFill>
            <a:srgbClr val="FB7185"/>
          </a:solidFill>
          <a:ln w="12700">
            <a:solidFill>
              <a:srgbClr val="FFFFFF"/>
            </a:solidFill>
            <a:prstDash val="solid"/>
          </a:ln>
        </p:spPr>
      </p:sp>
      <p:sp>
        <p:nvSpPr>
          <p:cNvPr id="44" name="Shape 42"/>
          <p:cNvSpPr/>
          <p:nvPr/>
        </p:nvSpPr>
        <p:spPr>
          <a:xfrm>
            <a:off x="4412620" y="2543861"/>
            <a:ext cx="131125" cy="131125"/>
          </a:xfrm>
          <a:prstGeom prst="ellipse">
            <a:avLst/>
          </a:prstGeom>
          <a:solidFill>
            <a:srgbClr val="FFFFFF"/>
          </a:solidFill>
          <a:ln w="2540">
            <a:solidFill>
              <a:srgbClr val="FFFFFF"/>
            </a:solidFill>
            <a:prstDash val="solid"/>
          </a:ln>
        </p:spPr>
      </p:sp>
      <p:sp>
        <p:nvSpPr>
          <p:cNvPr id="45" name="Shape 43"/>
          <p:cNvSpPr/>
          <p:nvPr/>
        </p:nvSpPr>
        <p:spPr>
          <a:xfrm>
            <a:off x="896112" y="4535424"/>
            <a:ext cx="1627632" cy="274320"/>
          </a:xfrm>
          <a:prstGeom prst="roundRect">
            <a:avLst>
              <a:gd name="adj" fmla="val 40000"/>
            </a:avLst>
          </a:prstGeom>
          <a:solidFill>
            <a:srgbClr val="0B1220"/>
          </a:solidFill>
          <a:ln w="12700">
            <a:solidFill>
              <a:srgbClr val="0B1220">
                <a:alpha val="0"/>
              </a:srgbClr>
            </a:solidFill>
            <a:prstDash val="solid"/>
          </a:ln>
        </p:spPr>
      </p:sp>
      <p:sp>
        <p:nvSpPr>
          <p:cNvPr id="46" name="Text 44"/>
          <p:cNvSpPr txBox="1"/>
          <p:nvPr/>
        </p:nvSpPr>
        <p:spPr>
          <a:xfrm>
            <a:off x="969264" y="4553712"/>
            <a:ext cx="1481328" cy="228600"/>
          </a:xfrm>
          <a:prstGeom prst="rect">
            <a:avLst/>
          </a:prstGeom>
          <a:noFill/>
          <a:ln/>
        </p:spPr>
        <p:txBody>
          <a:bodyPr wrap="square" lIns="0" tIns="0" rIns="0" bIns="0" rtlCol="0" anchor="ctr">
            <a:normAutofit/>
          </a:bodyPr>
          <a:lstStyle/>
          <a:p>
            <a:pPr algn="ctr" indent="0" marL="0">
              <a:buNone/>
            </a:pPr>
            <a:r>
              <a:rPr lang="en-US" sz="850" b="1" dirty="0">
                <a:solidFill>
                  <a:srgbClr val="FFFFFF"/>
                </a:solidFill>
                <a:latin typeface="Aptos" pitchFamily="34" charset="0"/>
                <a:ea typeface="Aptos" pitchFamily="34" charset="-122"/>
                <a:cs typeface="Aptos" pitchFamily="34" charset="-120"/>
              </a:rPr>
              <a:t>A REAL-WORLD PATTERN</a:t>
            </a:r>
            <a:endParaRPr lang="en-US" sz="850" dirty="0"/>
          </a:p>
        </p:txBody>
      </p:sp>
      <p:sp>
        <p:nvSpPr>
          <p:cNvPr id="47" name="Text 45"/>
          <p:cNvSpPr txBox="1"/>
          <p:nvPr/>
        </p:nvSpPr>
        <p:spPr>
          <a:xfrm>
            <a:off x="896112" y="4956048"/>
            <a:ext cx="4224528" cy="658368"/>
          </a:xfrm>
          <a:prstGeom prst="rect">
            <a:avLst/>
          </a:prstGeom>
          <a:noFill/>
          <a:ln/>
        </p:spPr>
        <p:txBody>
          <a:bodyPr wrap="square" lIns="0" tIns="0" rIns="0" bIns="0" rtlCol="0" anchor="ctr">
            <a:normAutofit/>
          </a:bodyPr>
          <a:lstStyle/>
          <a:p>
            <a:pPr algn="l" indent="0" marL="0">
              <a:buNone/>
            </a:pPr>
            <a:r>
              <a:rPr lang="en-US" sz="2000" b="1" dirty="0">
                <a:solidFill>
                  <a:srgbClr val="132033"/>
                </a:solidFill>
                <a:latin typeface="Aptos" pitchFamily="34" charset="0"/>
                <a:ea typeface="Aptos" pitchFamily="34" charset="-122"/>
                <a:cs typeface="Aptos" pitchFamily="34" charset="-120"/>
              </a:rPr>
              <a:t>One pothole. Many reports. No shared picture of progress.</a:t>
            </a:r>
            <a:endParaRPr lang="en-US" sz="2000" dirty="0"/>
          </a:p>
        </p:txBody>
      </p:sp>
      <p:sp>
        <p:nvSpPr>
          <p:cNvPr id="48" name="Text 46"/>
          <p:cNvSpPr txBox="1"/>
          <p:nvPr/>
        </p:nvSpPr>
        <p:spPr>
          <a:xfrm>
            <a:off x="896112" y="5760720"/>
            <a:ext cx="3931920" cy="164592"/>
          </a:xfrm>
          <a:prstGeom prst="rect">
            <a:avLst/>
          </a:prstGeom>
          <a:noFill/>
          <a:ln/>
        </p:spPr>
        <p:txBody>
          <a:bodyPr wrap="square" lIns="0" tIns="0" rIns="0" bIns="0" rtlCol="0" anchor="ctr">
            <a:normAutofit/>
          </a:bodyPr>
          <a:lstStyle/>
          <a:p>
            <a:pPr algn="l" indent="0" marL="0">
              <a:buNone/>
            </a:pPr>
            <a:r>
              <a:rPr lang="en-US" sz="800" dirty="0">
                <a:solidFill>
                  <a:srgbClr val="526176"/>
                </a:solidFill>
                <a:latin typeface="Aptos" pitchFamily="34" charset="0"/>
                <a:ea typeface="Aptos" pitchFamily="34" charset="-122"/>
                <a:cs typeface="Aptos" pitchFamily="34" charset="-120"/>
              </a:rPr>
              <a:t>Illustrative civic issue scene</a:t>
            </a:r>
            <a:endParaRPr lang="en-US" sz="800" dirty="0"/>
          </a:p>
        </p:txBody>
      </p:sp>
      <p:sp>
        <p:nvSpPr>
          <p:cNvPr id="49" name="Shape 47"/>
          <p:cNvSpPr/>
          <p:nvPr/>
        </p:nvSpPr>
        <p:spPr>
          <a:xfrm>
            <a:off x="5806440" y="1901952"/>
            <a:ext cx="5742432" cy="1115568"/>
          </a:xfrm>
          <a:prstGeom prst="roundRect">
            <a:avLst>
              <a:gd name="adj" fmla="val 12295"/>
            </a:avLst>
          </a:prstGeom>
          <a:solidFill>
            <a:srgbClr val="FFFFFF"/>
          </a:solidFill>
          <a:ln w="12700">
            <a:solidFill>
              <a:srgbClr val="DCE3EA"/>
            </a:solidFill>
            <a:prstDash val="solid"/>
          </a:ln>
        </p:spPr>
      </p:sp>
      <p:sp>
        <p:nvSpPr>
          <p:cNvPr id="50" name="Shape 48"/>
          <p:cNvSpPr/>
          <p:nvPr/>
        </p:nvSpPr>
        <p:spPr>
          <a:xfrm>
            <a:off x="6053328" y="2112264"/>
            <a:ext cx="438912" cy="438912"/>
          </a:xfrm>
          <a:prstGeom prst="ellipse">
            <a:avLst/>
          </a:prstGeom>
          <a:solidFill>
            <a:srgbClr val="7DD3FC"/>
          </a:solidFill>
          <a:ln w="12700">
            <a:solidFill>
              <a:srgbClr val="7DD3FC"/>
            </a:solidFill>
            <a:prstDash val="solid"/>
          </a:ln>
        </p:spPr>
      </p:sp>
      <p:sp>
        <p:nvSpPr>
          <p:cNvPr id="51" name="Text 49"/>
          <p:cNvSpPr txBox="1"/>
          <p:nvPr/>
        </p:nvSpPr>
        <p:spPr>
          <a:xfrm>
            <a:off x="6053328" y="2148840"/>
            <a:ext cx="438912" cy="164592"/>
          </a:xfrm>
          <a:prstGeom prst="rect">
            <a:avLst/>
          </a:prstGeom>
          <a:noFill/>
          <a:ln/>
        </p:spPr>
        <p:txBody>
          <a:bodyPr wrap="square" lIns="0" tIns="0" rIns="0" bIns="0" rtlCol="0" anchor="ctr">
            <a:normAutofit/>
          </a:bodyPr>
          <a:lstStyle/>
          <a:p>
            <a:pPr algn="ctr" indent="0" marL="0">
              <a:buNone/>
            </a:pPr>
            <a:r>
              <a:rPr lang="en-US" sz="900" b="1" dirty="0">
                <a:solidFill>
                  <a:srgbClr val="0B1220"/>
                </a:solidFill>
                <a:latin typeface="Aptos" pitchFamily="34" charset="0"/>
                <a:ea typeface="Aptos" pitchFamily="34" charset="-122"/>
                <a:cs typeface="Aptos" pitchFamily="34" charset="-120"/>
              </a:rPr>
              <a:t>01</a:t>
            </a:r>
            <a:endParaRPr lang="en-US" sz="900" dirty="0"/>
          </a:p>
        </p:txBody>
      </p:sp>
      <p:sp>
        <p:nvSpPr>
          <p:cNvPr id="52" name="Text 50"/>
          <p:cNvSpPr txBox="1"/>
          <p:nvPr/>
        </p:nvSpPr>
        <p:spPr>
          <a:xfrm>
            <a:off x="6656832" y="2084832"/>
            <a:ext cx="3291840" cy="237744"/>
          </a:xfrm>
          <a:prstGeom prst="rect">
            <a:avLst/>
          </a:prstGeom>
          <a:noFill/>
          <a:ln/>
        </p:spPr>
        <p:txBody>
          <a:bodyPr wrap="square" lIns="0" tIns="0" rIns="0" bIns="0" rtlCol="0" anchor="ctr">
            <a:normAutofit/>
          </a:bodyPr>
          <a:lstStyle/>
          <a:p>
            <a:pPr algn="l" indent="0" marL="0">
              <a:buNone/>
            </a:pPr>
            <a:r>
              <a:rPr lang="en-US" sz="1600" b="1" dirty="0">
                <a:solidFill>
                  <a:srgbClr val="132033"/>
                </a:solidFill>
                <a:latin typeface="Aptos" pitchFamily="34" charset="0"/>
                <a:ea typeface="Aptos" pitchFamily="34" charset="-122"/>
                <a:cs typeface="Aptos" pitchFamily="34" charset="-120"/>
              </a:rPr>
              <a:t>Unstructured evidence</a:t>
            </a:r>
            <a:endParaRPr lang="en-US" sz="1600" dirty="0"/>
          </a:p>
        </p:txBody>
      </p:sp>
      <p:sp>
        <p:nvSpPr>
          <p:cNvPr id="53" name="Text 51"/>
          <p:cNvSpPr txBox="1"/>
          <p:nvPr/>
        </p:nvSpPr>
        <p:spPr>
          <a:xfrm>
            <a:off x="6656832" y="2404872"/>
            <a:ext cx="4434840" cy="384048"/>
          </a:xfrm>
          <a:prstGeom prst="rect">
            <a:avLst/>
          </a:prstGeom>
          <a:noFill/>
          <a:ln/>
        </p:spPr>
        <p:txBody>
          <a:bodyPr wrap="square" lIns="0" tIns="0" rIns="0" bIns="0" rtlCol="0" anchor="ctr">
            <a:normAutofit/>
          </a:bodyPr>
          <a:lstStyle/>
          <a:p>
            <a:pPr algn="l" indent="0" marL="0">
              <a:buNone/>
            </a:pPr>
            <a:r>
              <a:rPr lang="en-US" sz="1050" dirty="0">
                <a:solidFill>
                  <a:srgbClr val="526176"/>
                </a:solidFill>
                <a:latin typeface="Aptos" pitchFamily="34" charset="0"/>
                <a:ea typeface="Aptos" pitchFamily="34" charset="-122"/>
                <a:cs typeface="Aptos" pitchFamily="34" charset="-120"/>
              </a:rPr>
              <a:t>Photos, descriptions and locations arrive in different formats.</a:t>
            </a:r>
            <a:endParaRPr lang="en-US" sz="1050" dirty="0"/>
          </a:p>
        </p:txBody>
      </p:sp>
      <p:sp>
        <p:nvSpPr>
          <p:cNvPr id="54" name="Shape 52"/>
          <p:cNvSpPr/>
          <p:nvPr/>
        </p:nvSpPr>
        <p:spPr>
          <a:xfrm>
            <a:off x="10561320" y="2112264"/>
            <a:ext cx="713232" cy="274320"/>
          </a:xfrm>
          <a:prstGeom prst="roundRect">
            <a:avLst>
              <a:gd name="adj" fmla="val 40000"/>
            </a:avLst>
          </a:prstGeom>
          <a:solidFill>
            <a:srgbClr val="F5F7FA"/>
          </a:solidFill>
          <a:ln w="12700">
            <a:solidFill>
              <a:srgbClr val="F5F7FA">
                <a:alpha val="0"/>
              </a:srgbClr>
            </a:solidFill>
            <a:prstDash val="solid"/>
          </a:ln>
        </p:spPr>
      </p:sp>
      <p:sp>
        <p:nvSpPr>
          <p:cNvPr id="55" name="Text 53"/>
          <p:cNvSpPr txBox="1"/>
          <p:nvPr/>
        </p:nvSpPr>
        <p:spPr>
          <a:xfrm>
            <a:off x="10634472" y="2130552"/>
            <a:ext cx="566928" cy="228600"/>
          </a:xfrm>
          <a:prstGeom prst="rect">
            <a:avLst/>
          </a:prstGeom>
          <a:noFill/>
          <a:ln/>
        </p:spPr>
        <p:txBody>
          <a:bodyPr wrap="square" lIns="0" tIns="0" rIns="0" bIns="0" rtlCol="0" anchor="ctr">
            <a:normAutofit/>
          </a:bodyPr>
          <a:lstStyle/>
          <a:p>
            <a:pPr algn="ctr" indent="0" marL="0">
              <a:buNone/>
            </a:pPr>
            <a:r>
              <a:rPr lang="en-US" sz="850" b="1" dirty="0">
                <a:solidFill>
                  <a:srgbClr val="526176"/>
                </a:solidFill>
                <a:latin typeface="Aptos" pitchFamily="34" charset="0"/>
                <a:ea typeface="Aptos" pitchFamily="34" charset="-122"/>
                <a:cs typeface="Aptos" pitchFamily="34" charset="-120"/>
              </a:rPr>
              <a:t>INPUT</a:t>
            </a:r>
            <a:endParaRPr lang="en-US" sz="850" dirty="0"/>
          </a:p>
        </p:txBody>
      </p:sp>
      <p:sp>
        <p:nvSpPr>
          <p:cNvPr id="56" name="Shape 54"/>
          <p:cNvSpPr/>
          <p:nvPr/>
        </p:nvSpPr>
        <p:spPr>
          <a:xfrm>
            <a:off x="5806440" y="3227832"/>
            <a:ext cx="5742432" cy="1115568"/>
          </a:xfrm>
          <a:prstGeom prst="roundRect">
            <a:avLst>
              <a:gd name="adj" fmla="val 12295"/>
            </a:avLst>
          </a:prstGeom>
          <a:solidFill>
            <a:srgbClr val="FFFFFF"/>
          </a:solidFill>
          <a:ln w="12700">
            <a:solidFill>
              <a:srgbClr val="DCE3EA"/>
            </a:solidFill>
            <a:prstDash val="solid"/>
          </a:ln>
        </p:spPr>
      </p:sp>
      <p:sp>
        <p:nvSpPr>
          <p:cNvPr id="57" name="Shape 55"/>
          <p:cNvSpPr/>
          <p:nvPr/>
        </p:nvSpPr>
        <p:spPr>
          <a:xfrm>
            <a:off x="6053328" y="3438144"/>
            <a:ext cx="438912" cy="438912"/>
          </a:xfrm>
          <a:prstGeom prst="ellipse">
            <a:avLst/>
          </a:prstGeom>
          <a:solidFill>
            <a:srgbClr val="FFC66D"/>
          </a:solidFill>
          <a:ln w="12700">
            <a:solidFill>
              <a:srgbClr val="FFC66D"/>
            </a:solidFill>
            <a:prstDash val="solid"/>
          </a:ln>
        </p:spPr>
      </p:sp>
      <p:sp>
        <p:nvSpPr>
          <p:cNvPr id="58" name="Text 56"/>
          <p:cNvSpPr txBox="1"/>
          <p:nvPr/>
        </p:nvSpPr>
        <p:spPr>
          <a:xfrm>
            <a:off x="6053328" y="3474720"/>
            <a:ext cx="438912" cy="164592"/>
          </a:xfrm>
          <a:prstGeom prst="rect">
            <a:avLst/>
          </a:prstGeom>
          <a:noFill/>
          <a:ln/>
        </p:spPr>
        <p:txBody>
          <a:bodyPr wrap="square" lIns="0" tIns="0" rIns="0" bIns="0" rtlCol="0" anchor="ctr">
            <a:normAutofit/>
          </a:bodyPr>
          <a:lstStyle/>
          <a:p>
            <a:pPr algn="ctr" indent="0" marL="0">
              <a:buNone/>
            </a:pPr>
            <a:r>
              <a:rPr lang="en-US" sz="900" b="1" dirty="0">
                <a:solidFill>
                  <a:srgbClr val="0B1220"/>
                </a:solidFill>
                <a:latin typeface="Aptos" pitchFamily="34" charset="0"/>
                <a:ea typeface="Aptos" pitchFamily="34" charset="-122"/>
                <a:cs typeface="Aptos" pitchFamily="34" charset="-120"/>
              </a:rPr>
              <a:t>02</a:t>
            </a:r>
            <a:endParaRPr lang="en-US" sz="900" dirty="0"/>
          </a:p>
        </p:txBody>
      </p:sp>
      <p:sp>
        <p:nvSpPr>
          <p:cNvPr id="59" name="Text 57"/>
          <p:cNvSpPr txBox="1"/>
          <p:nvPr/>
        </p:nvSpPr>
        <p:spPr>
          <a:xfrm>
            <a:off x="6656832" y="3410712"/>
            <a:ext cx="3291840" cy="237744"/>
          </a:xfrm>
          <a:prstGeom prst="rect">
            <a:avLst/>
          </a:prstGeom>
          <a:noFill/>
          <a:ln/>
        </p:spPr>
        <p:txBody>
          <a:bodyPr wrap="square" lIns="0" tIns="0" rIns="0" bIns="0" rtlCol="0" anchor="ctr">
            <a:normAutofit/>
          </a:bodyPr>
          <a:lstStyle/>
          <a:p>
            <a:pPr algn="l" indent="0" marL="0">
              <a:buNone/>
            </a:pPr>
            <a:r>
              <a:rPr lang="en-US" sz="1600" b="1" dirty="0">
                <a:solidFill>
                  <a:srgbClr val="132033"/>
                </a:solidFill>
                <a:latin typeface="Aptos" pitchFamily="34" charset="0"/>
                <a:ea typeface="Aptos" pitchFamily="34" charset="-122"/>
                <a:cs typeface="Aptos" pitchFamily="34" charset="-120"/>
              </a:rPr>
              <a:t>No shared priority</a:t>
            </a:r>
            <a:endParaRPr lang="en-US" sz="1600" dirty="0"/>
          </a:p>
        </p:txBody>
      </p:sp>
      <p:sp>
        <p:nvSpPr>
          <p:cNvPr id="60" name="Text 58"/>
          <p:cNvSpPr txBox="1"/>
          <p:nvPr/>
        </p:nvSpPr>
        <p:spPr>
          <a:xfrm>
            <a:off x="6656832" y="3730752"/>
            <a:ext cx="4434840" cy="384048"/>
          </a:xfrm>
          <a:prstGeom prst="rect">
            <a:avLst/>
          </a:prstGeom>
          <a:noFill/>
          <a:ln/>
        </p:spPr>
        <p:txBody>
          <a:bodyPr wrap="square" lIns="0" tIns="0" rIns="0" bIns="0" rtlCol="0" anchor="ctr">
            <a:normAutofit/>
          </a:bodyPr>
          <a:lstStyle/>
          <a:p>
            <a:pPr algn="l" indent="0" marL="0">
              <a:buNone/>
            </a:pPr>
            <a:r>
              <a:rPr lang="en-US" sz="1050" dirty="0">
                <a:solidFill>
                  <a:srgbClr val="526176"/>
                </a:solidFill>
                <a:latin typeface="Aptos" pitchFamily="34" charset="0"/>
                <a:ea typeface="Aptos" pitchFamily="34" charset="-122"/>
                <a:cs typeface="Aptos" pitchFamily="34" charset="-120"/>
              </a:rPr>
              <a:t>A long complaint list does not show which issue may matter most.</a:t>
            </a:r>
            <a:endParaRPr lang="en-US" sz="1050" dirty="0"/>
          </a:p>
        </p:txBody>
      </p:sp>
      <p:sp>
        <p:nvSpPr>
          <p:cNvPr id="61" name="Shape 59"/>
          <p:cNvSpPr/>
          <p:nvPr/>
        </p:nvSpPr>
        <p:spPr>
          <a:xfrm>
            <a:off x="10561320" y="3438144"/>
            <a:ext cx="713232" cy="274320"/>
          </a:xfrm>
          <a:prstGeom prst="roundRect">
            <a:avLst>
              <a:gd name="adj" fmla="val 40000"/>
            </a:avLst>
          </a:prstGeom>
          <a:solidFill>
            <a:srgbClr val="F5F7FA"/>
          </a:solidFill>
          <a:ln w="12700">
            <a:solidFill>
              <a:srgbClr val="F5F7FA">
                <a:alpha val="0"/>
              </a:srgbClr>
            </a:solidFill>
            <a:prstDash val="solid"/>
          </a:ln>
        </p:spPr>
      </p:sp>
      <p:sp>
        <p:nvSpPr>
          <p:cNvPr id="62" name="Text 60"/>
          <p:cNvSpPr txBox="1"/>
          <p:nvPr/>
        </p:nvSpPr>
        <p:spPr>
          <a:xfrm>
            <a:off x="10634472" y="3456432"/>
            <a:ext cx="566928" cy="228600"/>
          </a:xfrm>
          <a:prstGeom prst="rect">
            <a:avLst/>
          </a:prstGeom>
          <a:noFill/>
          <a:ln/>
        </p:spPr>
        <p:txBody>
          <a:bodyPr wrap="square" lIns="0" tIns="0" rIns="0" bIns="0" rtlCol="0" anchor="ctr">
            <a:normAutofit/>
          </a:bodyPr>
          <a:lstStyle/>
          <a:p>
            <a:pPr algn="ctr" indent="0" marL="0">
              <a:buNone/>
            </a:pPr>
            <a:r>
              <a:rPr lang="en-US" sz="850" b="1" dirty="0">
                <a:solidFill>
                  <a:srgbClr val="526176"/>
                </a:solidFill>
                <a:latin typeface="Aptos" pitchFamily="34" charset="0"/>
                <a:ea typeface="Aptos" pitchFamily="34" charset="-122"/>
                <a:cs typeface="Aptos" pitchFamily="34" charset="-120"/>
              </a:rPr>
              <a:t>TRIAGE</a:t>
            </a:r>
            <a:endParaRPr lang="en-US" sz="850" dirty="0"/>
          </a:p>
        </p:txBody>
      </p:sp>
      <p:sp>
        <p:nvSpPr>
          <p:cNvPr id="63" name="Shape 61"/>
          <p:cNvSpPr/>
          <p:nvPr/>
        </p:nvSpPr>
        <p:spPr>
          <a:xfrm>
            <a:off x="5806440" y="4553712"/>
            <a:ext cx="5742432" cy="1115568"/>
          </a:xfrm>
          <a:prstGeom prst="roundRect">
            <a:avLst>
              <a:gd name="adj" fmla="val 12295"/>
            </a:avLst>
          </a:prstGeom>
          <a:solidFill>
            <a:srgbClr val="FFFFFF"/>
          </a:solidFill>
          <a:ln w="12700">
            <a:solidFill>
              <a:srgbClr val="DCE3EA"/>
            </a:solidFill>
            <a:prstDash val="solid"/>
          </a:ln>
        </p:spPr>
      </p:sp>
      <p:sp>
        <p:nvSpPr>
          <p:cNvPr id="64" name="Shape 62"/>
          <p:cNvSpPr/>
          <p:nvPr/>
        </p:nvSpPr>
        <p:spPr>
          <a:xfrm>
            <a:off x="6053328" y="4764024"/>
            <a:ext cx="438912" cy="438912"/>
          </a:xfrm>
          <a:prstGeom prst="ellipse">
            <a:avLst/>
          </a:prstGeom>
          <a:solidFill>
            <a:srgbClr val="FB7185"/>
          </a:solidFill>
          <a:ln w="12700">
            <a:solidFill>
              <a:srgbClr val="FB7185"/>
            </a:solidFill>
            <a:prstDash val="solid"/>
          </a:ln>
        </p:spPr>
      </p:sp>
      <p:sp>
        <p:nvSpPr>
          <p:cNvPr id="65" name="Text 63"/>
          <p:cNvSpPr txBox="1"/>
          <p:nvPr/>
        </p:nvSpPr>
        <p:spPr>
          <a:xfrm>
            <a:off x="6053328" y="4800600"/>
            <a:ext cx="438912" cy="164592"/>
          </a:xfrm>
          <a:prstGeom prst="rect">
            <a:avLst/>
          </a:prstGeom>
          <a:noFill/>
          <a:ln/>
        </p:spPr>
        <p:txBody>
          <a:bodyPr wrap="square" lIns="0" tIns="0" rIns="0" bIns="0" rtlCol="0" anchor="ctr">
            <a:normAutofit/>
          </a:bodyPr>
          <a:lstStyle/>
          <a:p>
            <a:pPr algn="ctr" indent="0" marL="0">
              <a:buNone/>
            </a:pPr>
            <a:r>
              <a:rPr lang="en-US" sz="900" b="1" dirty="0">
                <a:solidFill>
                  <a:srgbClr val="0B1220"/>
                </a:solidFill>
                <a:latin typeface="Aptos" pitchFamily="34" charset="0"/>
                <a:ea typeface="Aptos" pitchFamily="34" charset="-122"/>
                <a:cs typeface="Aptos" pitchFamily="34" charset="-120"/>
              </a:rPr>
              <a:t>03</a:t>
            </a:r>
            <a:endParaRPr lang="en-US" sz="900" dirty="0"/>
          </a:p>
        </p:txBody>
      </p:sp>
      <p:sp>
        <p:nvSpPr>
          <p:cNvPr id="66" name="Text 64"/>
          <p:cNvSpPr txBox="1"/>
          <p:nvPr/>
        </p:nvSpPr>
        <p:spPr>
          <a:xfrm>
            <a:off x="6656832" y="4736592"/>
            <a:ext cx="3291840" cy="237744"/>
          </a:xfrm>
          <a:prstGeom prst="rect">
            <a:avLst/>
          </a:prstGeom>
          <a:noFill/>
          <a:ln/>
        </p:spPr>
        <p:txBody>
          <a:bodyPr wrap="square" lIns="0" tIns="0" rIns="0" bIns="0" rtlCol="0" anchor="ctr">
            <a:normAutofit/>
          </a:bodyPr>
          <a:lstStyle/>
          <a:p>
            <a:pPr algn="l" indent="0" marL="0">
              <a:buNone/>
            </a:pPr>
            <a:r>
              <a:rPr lang="en-US" sz="1600" b="1" dirty="0">
                <a:solidFill>
                  <a:srgbClr val="132033"/>
                </a:solidFill>
                <a:latin typeface="Aptos" pitchFamily="34" charset="0"/>
                <a:ea typeface="Aptos" pitchFamily="34" charset="-122"/>
                <a:cs typeface="Aptos" pitchFamily="34" charset="-120"/>
              </a:rPr>
              <a:t>Resolution is hard to verify</a:t>
            </a:r>
            <a:endParaRPr lang="en-US" sz="1600" dirty="0"/>
          </a:p>
        </p:txBody>
      </p:sp>
      <p:sp>
        <p:nvSpPr>
          <p:cNvPr id="67" name="Text 65"/>
          <p:cNvSpPr txBox="1"/>
          <p:nvPr/>
        </p:nvSpPr>
        <p:spPr>
          <a:xfrm>
            <a:off x="6656832" y="5056632"/>
            <a:ext cx="4434840" cy="384048"/>
          </a:xfrm>
          <a:prstGeom prst="rect">
            <a:avLst/>
          </a:prstGeom>
          <a:noFill/>
          <a:ln/>
        </p:spPr>
        <p:txBody>
          <a:bodyPr wrap="square" lIns="0" tIns="0" rIns="0" bIns="0" rtlCol="0" anchor="ctr">
            <a:normAutofit/>
          </a:bodyPr>
          <a:lstStyle/>
          <a:p>
            <a:pPr algn="l" indent="0" marL="0">
              <a:buNone/>
            </a:pPr>
            <a:r>
              <a:rPr lang="en-US" sz="1050" dirty="0">
                <a:solidFill>
                  <a:srgbClr val="526176"/>
                </a:solidFill>
                <a:latin typeface="Aptos" pitchFamily="34" charset="0"/>
                <a:ea typeface="Aptos" pitchFamily="34" charset="-122"/>
                <a:cs typeface="Aptos" pitchFamily="34" charset="-120"/>
              </a:rPr>
              <a:t>A status label alone does not show what changed on the ground.</a:t>
            </a:r>
            <a:endParaRPr lang="en-US" sz="1050" dirty="0"/>
          </a:p>
        </p:txBody>
      </p:sp>
      <p:sp>
        <p:nvSpPr>
          <p:cNvPr id="68" name="Shape 66"/>
          <p:cNvSpPr/>
          <p:nvPr/>
        </p:nvSpPr>
        <p:spPr>
          <a:xfrm>
            <a:off x="10561320" y="4764024"/>
            <a:ext cx="713232" cy="274320"/>
          </a:xfrm>
          <a:prstGeom prst="roundRect">
            <a:avLst>
              <a:gd name="adj" fmla="val 40000"/>
            </a:avLst>
          </a:prstGeom>
          <a:solidFill>
            <a:srgbClr val="F5F7FA"/>
          </a:solidFill>
          <a:ln w="12700">
            <a:solidFill>
              <a:srgbClr val="F5F7FA">
                <a:alpha val="0"/>
              </a:srgbClr>
            </a:solidFill>
            <a:prstDash val="solid"/>
          </a:ln>
        </p:spPr>
      </p:sp>
      <p:sp>
        <p:nvSpPr>
          <p:cNvPr id="69" name="Text 67"/>
          <p:cNvSpPr txBox="1"/>
          <p:nvPr/>
        </p:nvSpPr>
        <p:spPr>
          <a:xfrm>
            <a:off x="10634472" y="4782312"/>
            <a:ext cx="566928" cy="228600"/>
          </a:xfrm>
          <a:prstGeom prst="rect">
            <a:avLst/>
          </a:prstGeom>
          <a:noFill/>
          <a:ln/>
        </p:spPr>
        <p:txBody>
          <a:bodyPr wrap="square" lIns="0" tIns="0" rIns="0" bIns="0" rtlCol="0" anchor="ctr">
            <a:normAutofit/>
          </a:bodyPr>
          <a:lstStyle/>
          <a:p>
            <a:pPr algn="ctr" indent="0" marL="0">
              <a:buNone/>
            </a:pPr>
            <a:r>
              <a:rPr lang="en-US" sz="850" b="1" dirty="0">
                <a:solidFill>
                  <a:srgbClr val="526176"/>
                </a:solidFill>
                <a:latin typeface="Aptos" pitchFamily="34" charset="0"/>
                <a:ea typeface="Aptos" pitchFamily="34" charset="-122"/>
                <a:cs typeface="Aptos" pitchFamily="34" charset="-120"/>
              </a:rPr>
              <a:t>OUTCOME</a:t>
            </a:r>
            <a:endParaRPr lang="en-US" sz="850" dirty="0"/>
          </a:p>
        </p:txBody>
      </p:sp>
      <p:sp>
        <p:nvSpPr>
          <p:cNvPr id="70" name="Text 68"/>
          <p:cNvSpPr txBox="1"/>
          <p:nvPr/>
        </p:nvSpPr>
        <p:spPr>
          <a:xfrm>
            <a:off x="5870448" y="5989320"/>
            <a:ext cx="5577840" cy="256032"/>
          </a:xfrm>
          <a:prstGeom prst="rect">
            <a:avLst/>
          </a:prstGeom>
          <a:noFill/>
          <a:ln/>
        </p:spPr>
        <p:txBody>
          <a:bodyPr wrap="square" lIns="0" tIns="0" rIns="0" bIns="0" rtlCol="0" anchor="ctr">
            <a:normAutofit/>
          </a:bodyPr>
          <a:lstStyle/>
          <a:p>
            <a:pPr algn="l" indent="0" marL="0">
              <a:buNone/>
            </a:pPr>
            <a:r>
              <a:rPr lang="en-US" sz="1300" b="1" dirty="0">
                <a:solidFill>
                  <a:srgbClr val="0F766E"/>
                </a:solidFill>
                <a:latin typeface="Aptos" pitchFamily="34" charset="0"/>
                <a:ea typeface="Aptos" pitchFamily="34" charset="-122"/>
                <a:cs typeface="Aptos" pitchFamily="34" charset="-120"/>
              </a:rPr>
              <a:t>CivicFix connects evidence, decisions and follow-through.</a:t>
            </a:r>
            <a:endParaRPr lang="en-US" sz="1300" dirty="0"/>
          </a:p>
        </p:txBody>
      </p:sp>
      <p:sp>
        <p:nvSpPr>
          <p:cNvPr id="71" name="Shape 69"/>
          <p:cNvSpPr/>
          <p:nvPr/>
        </p:nvSpPr>
        <p:spPr>
          <a:xfrm>
            <a:off x="566928" y="6510528"/>
            <a:ext cx="11064240" cy="0"/>
          </a:xfrm>
          <a:prstGeom prst="line">
            <a:avLst/>
          </a:prstGeom>
          <a:noFill/>
          <a:ln w="8890">
            <a:solidFill>
              <a:srgbClr val="DCE3EA"/>
            </a:solidFill>
            <a:prstDash val="solid"/>
            <a:headEnd type="none"/>
            <a:tailEnd type="none"/>
          </a:ln>
        </p:spPr>
      </p:sp>
      <p:sp>
        <p:nvSpPr>
          <p:cNvPr id="72" name="Text 70"/>
          <p:cNvSpPr txBox="1"/>
          <p:nvPr/>
        </p:nvSpPr>
        <p:spPr>
          <a:xfrm>
            <a:off x="585216" y="6556248"/>
            <a:ext cx="5120640" cy="137160"/>
          </a:xfrm>
          <a:prstGeom prst="rect">
            <a:avLst/>
          </a:prstGeom>
          <a:noFill/>
          <a:ln/>
        </p:spPr>
        <p:txBody>
          <a:bodyPr wrap="square" lIns="0" tIns="0" rIns="0" bIns="0" rtlCol="0" anchor="ctr">
            <a:normAutofit/>
          </a:bodyPr>
          <a:lstStyle/>
          <a:p>
            <a:pPr algn="l" indent="0" marL="0">
              <a:buNone/>
            </a:pPr>
            <a:r>
              <a:rPr lang="en-US" sz="700" b="1" spc="50" kern="0" dirty="0">
                <a:solidFill>
                  <a:srgbClr val="7C8A9A"/>
                </a:solidFill>
                <a:latin typeface="Aptos" pitchFamily="34" charset="0"/>
                <a:ea typeface="Aptos" pitchFamily="34" charset="-122"/>
                <a:cs typeface="Aptos" pitchFamily="34" charset="-120"/>
              </a:rPr>
              <a:t>CIVICFIX AI  •  CONCEPT / PROTOTYPE PITCH</a:t>
            </a:r>
            <a:endParaRPr lang="en-US" sz="700" dirty="0"/>
          </a:p>
        </p:txBody>
      </p:sp>
      <p:sp>
        <p:nvSpPr>
          <p:cNvPr id="73" name="Text 71"/>
          <p:cNvSpPr txBox="1"/>
          <p:nvPr/>
        </p:nvSpPr>
        <p:spPr>
          <a:xfrm>
            <a:off x="11064240" y="6547104"/>
            <a:ext cx="502920" cy="146304"/>
          </a:xfrm>
          <a:prstGeom prst="rect">
            <a:avLst/>
          </a:prstGeom>
          <a:noFill/>
          <a:ln/>
        </p:spPr>
        <p:txBody>
          <a:bodyPr wrap="square" lIns="0" tIns="0" rIns="0" bIns="0" rtlCol="0" anchor="ctr">
            <a:normAutofit/>
          </a:bodyPr>
          <a:lstStyle/>
          <a:p>
            <a:pPr algn="r" indent="0" marL="0">
              <a:buNone/>
            </a:pPr>
            <a:r>
              <a:rPr lang="en-US" sz="800" b="1" dirty="0">
                <a:solidFill>
                  <a:srgbClr val="7C8A9A"/>
                </a:solidFill>
                <a:latin typeface="Aptos" pitchFamily="34" charset="0"/>
                <a:ea typeface="Aptos" pitchFamily="34" charset="-122"/>
                <a:cs typeface="Aptos" pitchFamily="34" charset="-120"/>
              </a:rPr>
              <a:t>02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220"/>
          </a:solidFill>
          <a:ln w="12700">
            <a:solidFill>
              <a:srgbClr val="0B1220">
                <a:alpha val="0"/>
              </a:srgbClr>
            </a:solidFill>
            <a:prstDash val="solid"/>
          </a:ln>
        </p:spPr>
      </p:sp>
      <p:sp>
        <p:nvSpPr>
          <p:cNvPr id="3" name="Shape 1"/>
          <p:cNvSpPr/>
          <p:nvPr/>
        </p:nvSpPr>
        <p:spPr>
          <a:xfrm>
            <a:off x="566928" y="384048"/>
            <a:ext cx="1417320" cy="274320"/>
          </a:xfrm>
          <a:prstGeom prst="roundRect">
            <a:avLst>
              <a:gd name="adj" fmla="val 36667"/>
            </a:avLst>
          </a:prstGeom>
          <a:solidFill>
            <a:srgbClr val="17263A"/>
          </a:solidFill>
          <a:ln w="12700">
            <a:solidFill>
              <a:srgbClr val="17263A">
                <a:alpha val="0"/>
              </a:srgbClr>
            </a:solidFill>
            <a:prstDash val="solid"/>
          </a:ln>
        </p:spPr>
      </p:sp>
      <p:sp>
        <p:nvSpPr>
          <p:cNvPr id="4" name="Shape 2"/>
          <p:cNvSpPr/>
          <p:nvPr/>
        </p:nvSpPr>
        <p:spPr>
          <a:xfrm>
            <a:off x="658368" y="480060"/>
            <a:ext cx="82296" cy="82296"/>
          </a:xfrm>
          <a:prstGeom prst="ellipse">
            <a:avLst/>
          </a:prstGeom>
          <a:solidFill>
            <a:srgbClr val="2DD4BF"/>
          </a:solidFill>
          <a:ln w="12700">
            <a:solidFill>
              <a:srgbClr val="2DD4BF"/>
            </a:solidFill>
            <a:prstDash val="solid"/>
          </a:ln>
        </p:spPr>
      </p:sp>
      <p:sp>
        <p:nvSpPr>
          <p:cNvPr id="5" name="Text 3"/>
          <p:cNvSpPr txBox="1"/>
          <p:nvPr/>
        </p:nvSpPr>
        <p:spPr>
          <a:xfrm>
            <a:off x="795528" y="402336"/>
            <a:ext cx="1133856" cy="219456"/>
          </a:xfrm>
          <a:prstGeom prst="rect">
            <a:avLst/>
          </a:prstGeom>
          <a:noFill/>
          <a:ln/>
        </p:spPr>
        <p:txBody>
          <a:bodyPr wrap="square" lIns="0" tIns="0" rIns="0" bIns="0" rtlCol="0" anchor="ctr">
            <a:normAutofit/>
          </a:bodyPr>
          <a:lstStyle/>
          <a:p>
            <a:pPr algn="l" indent="0" marL="0">
              <a:buNone/>
            </a:pPr>
            <a:r>
              <a:rPr lang="en-US" sz="850" b="1" spc="50" kern="0" dirty="0">
                <a:solidFill>
                  <a:srgbClr val="D9E3EF"/>
                </a:solidFill>
                <a:latin typeface="Aptos" pitchFamily="34" charset="0"/>
                <a:ea typeface="Aptos" pitchFamily="34" charset="-122"/>
                <a:cs typeface="Aptos" pitchFamily="34" charset="-120"/>
              </a:rPr>
              <a:t>CIVICFIX AI  /  02</a:t>
            </a:r>
            <a:endParaRPr lang="en-US" sz="850" dirty="0"/>
          </a:p>
        </p:txBody>
      </p:sp>
      <p:sp>
        <p:nvSpPr>
          <p:cNvPr id="6" name="Text 4"/>
          <p:cNvSpPr txBox="1"/>
          <p:nvPr/>
        </p:nvSpPr>
        <p:spPr>
          <a:xfrm>
            <a:off x="566928" y="804672"/>
            <a:ext cx="10972800" cy="475488"/>
          </a:xfrm>
          <a:prstGeom prst="rect">
            <a:avLst/>
          </a:prstGeom>
          <a:noFill/>
          <a:ln/>
        </p:spPr>
        <p:txBody>
          <a:bodyPr wrap="square" lIns="0" tIns="0" rIns="0" bIns="0" rtlCol="0" anchor="ctr">
            <a:normAutofit/>
          </a:bodyPr>
          <a:lstStyle/>
          <a:p>
            <a:pPr algn="l" indent="0" marL="0">
              <a:buNone/>
            </a:pPr>
            <a:r>
              <a:rPr lang="en-US" sz="2700" b="1" dirty="0">
                <a:solidFill>
                  <a:srgbClr val="FFFFFF"/>
                </a:solidFill>
                <a:latin typeface="Aptos Display" pitchFamily="34" charset="0"/>
                <a:ea typeface="Aptos Display" pitchFamily="34" charset="-122"/>
                <a:cs typeface="Aptos Display" pitchFamily="34" charset="-120"/>
              </a:rPr>
              <a:t>One issue. One traceable lifecycle.</a:t>
            </a:r>
            <a:endParaRPr lang="en-US" sz="2700" dirty="0"/>
          </a:p>
        </p:txBody>
      </p:sp>
      <p:sp>
        <p:nvSpPr>
          <p:cNvPr id="7" name="Text 5"/>
          <p:cNvSpPr txBox="1"/>
          <p:nvPr/>
        </p:nvSpPr>
        <p:spPr>
          <a:xfrm>
            <a:off x="585216" y="1335024"/>
            <a:ext cx="10881360" cy="347472"/>
          </a:xfrm>
          <a:prstGeom prst="rect">
            <a:avLst/>
          </a:prstGeom>
          <a:noFill/>
          <a:ln/>
        </p:spPr>
        <p:txBody>
          <a:bodyPr wrap="square" lIns="0" tIns="0" rIns="0" bIns="0" rtlCol="0" anchor="ctr">
            <a:normAutofit/>
          </a:bodyPr>
          <a:lstStyle/>
          <a:p>
            <a:pPr algn="l" indent="0" marL="0">
              <a:buNone/>
            </a:pPr>
            <a:r>
              <a:rPr lang="en-US" sz="1200" dirty="0">
                <a:solidFill>
                  <a:srgbClr val="B8C4D4"/>
                </a:solidFill>
                <a:latin typeface="Aptos" pitchFamily="34" charset="0"/>
                <a:ea typeface="Aptos" pitchFamily="34" charset="-122"/>
                <a:cs typeface="Aptos" pitchFamily="34" charset="-120"/>
              </a:rPr>
              <a:t>CivicFix connects the report to the evidence trail that follows it.</a:t>
            </a:r>
            <a:endParaRPr lang="en-US" sz="1200" dirty="0"/>
          </a:p>
        </p:txBody>
      </p:sp>
      <p:sp>
        <p:nvSpPr>
          <p:cNvPr id="8" name="Shape 6"/>
          <p:cNvSpPr/>
          <p:nvPr/>
        </p:nvSpPr>
        <p:spPr>
          <a:xfrm>
            <a:off x="1225296" y="2761488"/>
            <a:ext cx="9710928" cy="0"/>
          </a:xfrm>
          <a:prstGeom prst="line">
            <a:avLst/>
          </a:prstGeom>
          <a:noFill/>
          <a:ln w="25400">
            <a:solidFill>
              <a:srgbClr val="35445A"/>
            </a:solidFill>
            <a:prstDash val="solid"/>
            <a:headEnd type="none"/>
            <a:tailEnd type="none"/>
          </a:ln>
        </p:spPr>
      </p:sp>
      <p:sp>
        <p:nvSpPr>
          <p:cNvPr id="9" name="Shape 7"/>
          <p:cNvSpPr/>
          <p:nvPr/>
        </p:nvSpPr>
        <p:spPr>
          <a:xfrm>
            <a:off x="1033272" y="2441448"/>
            <a:ext cx="640080" cy="640080"/>
          </a:xfrm>
          <a:prstGeom prst="ellipse">
            <a:avLst/>
          </a:prstGeom>
          <a:solidFill>
            <a:srgbClr val="2DD4BF"/>
          </a:solidFill>
          <a:ln w="12700">
            <a:solidFill>
              <a:srgbClr val="2DD4BF"/>
            </a:solidFill>
            <a:prstDash val="solid"/>
          </a:ln>
        </p:spPr>
      </p:sp>
      <p:sp>
        <p:nvSpPr>
          <p:cNvPr id="10" name="Text 8"/>
          <p:cNvSpPr txBox="1"/>
          <p:nvPr/>
        </p:nvSpPr>
        <p:spPr>
          <a:xfrm>
            <a:off x="1033272" y="2651760"/>
            <a:ext cx="640080" cy="182880"/>
          </a:xfrm>
          <a:prstGeom prst="rect">
            <a:avLst/>
          </a:prstGeom>
          <a:noFill/>
          <a:ln/>
        </p:spPr>
        <p:txBody>
          <a:bodyPr wrap="square" lIns="0" tIns="0" rIns="0" bIns="0" rtlCol="0" anchor="ctr">
            <a:normAutofit/>
          </a:bodyPr>
          <a:lstStyle/>
          <a:p>
            <a:pPr algn="ctr" indent="0" marL="0">
              <a:buNone/>
            </a:pPr>
            <a:r>
              <a:rPr lang="en-US" sz="1100" b="1" dirty="0">
                <a:solidFill>
                  <a:srgbClr val="0B1220"/>
                </a:solidFill>
                <a:latin typeface="Aptos" pitchFamily="34" charset="0"/>
                <a:ea typeface="Aptos" pitchFamily="34" charset="-122"/>
                <a:cs typeface="Aptos" pitchFamily="34" charset="-120"/>
              </a:rPr>
              <a:t>01</a:t>
            </a:r>
            <a:endParaRPr lang="en-US" sz="1100" dirty="0"/>
          </a:p>
        </p:txBody>
      </p:sp>
      <p:sp>
        <p:nvSpPr>
          <p:cNvPr id="11" name="Text 9"/>
          <p:cNvSpPr txBox="1"/>
          <p:nvPr/>
        </p:nvSpPr>
        <p:spPr>
          <a:xfrm>
            <a:off x="621792" y="3310128"/>
            <a:ext cx="1508760" cy="228600"/>
          </a:xfrm>
          <a:prstGeom prst="rect">
            <a:avLst/>
          </a:prstGeom>
          <a:noFill/>
          <a:ln/>
        </p:spPr>
        <p:txBody>
          <a:bodyPr wrap="square" lIns="0" tIns="0" rIns="0" bIns="0" rtlCol="0" anchor="ctr">
            <a:normAutofit/>
          </a:bodyPr>
          <a:lstStyle/>
          <a:p>
            <a:pPr algn="ctr" indent="0" marL="0">
              <a:buNone/>
            </a:pPr>
            <a:r>
              <a:rPr lang="en-US" sz="1200" b="1" spc="40" kern="0" dirty="0">
                <a:solidFill>
                  <a:srgbClr val="FFFFFF"/>
                </a:solidFill>
                <a:latin typeface="Aptos" pitchFamily="34" charset="0"/>
                <a:ea typeface="Aptos" pitchFamily="34" charset="-122"/>
                <a:cs typeface="Aptos" pitchFamily="34" charset="-120"/>
              </a:rPr>
              <a:t>SCAN</a:t>
            </a:r>
            <a:endParaRPr lang="en-US" sz="1200" dirty="0"/>
          </a:p>
        </p:txBody>
      </p:sp>
      <p:sp>
        <p:nvSpPr>
          <p:cNvPr id="12" name="Text 10"/>
          <p:cNvSpPr txBox="1"/>
          <p:nvPr/>
        </p:nvSpPr>
        <p:spPr>
          <a:xfrm>
            <a:off x="548640" y="3630168"/>
            <a:ext cx="1664208" cy="365760"/>
          </a:xfrm>
          <a:prstGeom prst="rect">
            <a:avLst/>
          </a:prstGeom>
          <a:noFill/>
          <a:ln/>
        </p:spPr>
        <p:txBody>
          <a:bodyPr wrap="square" lIns="0" tIns="0" rIns="0" bIns="0" rtlCol="0" anchor="ctr">
            <a:normAutofit/>
          </a:bodyPr>
          <a:lstStyle/>
          <a:p>
            <a:pPr algn="ctr" indent="0" marL="0">
              <a:buNone/>
            </a:pPr>
            <a:r>
              <a:rPr lang="en-US" sz="1000" dirty="0">
                <a:solidFill>
                  <a:srgbClr val="A7B7CA"/>
                </a:solidFill>
                <a:latin typeface="Aptos" pitchFamily="34" charset="0"/>
                <a:ea typeface="Aptos" pitchFamily="34" charset="-122"/>
                <a:cs typeface="Aptos" pitchFamily="34" charset="-120"/>
              </a:rPr>
              <a:t>Photo + text</a:t>
            </a:r>
            <a:endParaRPr lang="en-US" sz="1000" dirty="0"/>
          </a:p>
        </p:txBody>
      </p:sp>
      <p:sp>
        <p:nvSpPr>
          <p:cNvPr id="13" name="Shape 11"/>
          <p:cNvSpPr/>
          <p:nvPr/>
        </p:nvSpPr>
        <p:spPr>
          <a:xfrm>
            <a:off x="2935224" y="2441448"/>
            <a:ext cx="640080" cy="640080"/>
          </a:xfrm>
          <a:prstGeom prst="ellipse">
            <a:avLst/>
          </a:prstGeom>
          <a:solidFill>
            <a:srgbClr val="7DD3FC"/>
          </a:solidFill>
          <a:ln w="12700">
            <a:solidFill>
              <a:srgbClr val="7DD3FC"/>
            </a:solidFill>
            <a:prstDash val="solid"/>
          </a:ln>
        </p:spPr>
      </p:sp>
      <p:sp>
        <p:nvSpPr>
          <p:cNvPr id="14" name="Text 12"/>
          <p:cNvSpPr txBox="1"/>
          <p:nvPr/>
        </p:nvSpPr>
        <p:spPr>
          <a:xfrm>
            <a:off x="2935224" y="2651760"/>
            <a:ext cx="640080" cy="182880"/>
          </a:xfrm>
          <a:prstGeom prst="rect">
            <a:avLst/>
          </a:prstGeom>
          <a:noFill/>
          <a:ln/>
        </p:spPr>
        <p:txBody>
          <a:bodyPr wrap="square" lIns="0" tIns="0" rIns="0" bIns="0" rtlCol="0" anchor="ctr">
            <a:normAutofit/>
          </a:bodyPr>
          <a:lstStyle/>
          <a:p>
            <a:pPr algn="ctr" indent="0" marL="0">
              <a:buNone/>
            </a:pPr>
            <a:r>
              <a:rPr lang="en-US" sz="1100" b="1" dirty="0">
                <a:solidFill>
                  <a:srgbClr val="0B1220"/>
                </a:solidFill>
                <a:latin typeface="Aptos" pitchFamily="34" charset="0"/>
                <a:ea typeface="Aptos" pitchFamily="34" charset="-122"/>
                <a:cs typeface="Aptos" pitchFamily="34" charset="-120"/>
              </a:rPr>
              <a:t>02</a:t>
            </a:r>
            <a:endParaRPr lang="en-US" sz="1100" dirty="0"/>
          </a:p>
        </p:txBody>
      </p:sp>
      <p:sp>
        <p:nvSpPr>
          <p:cNvPr id="15" name="Text 13"/>
          <p:cNvSpPr txBox="1"/>
          <p:nvPr/>
        </p:nvSpPr>
        <p:spPr>
          <a:xfrm>
            <a:off x="2523744" y="3310128"/>
            <a:ext cx="1508760" cy="228600"/>
          </a:xfrm>
          <a:prstGeom prst="rect">
            <a:avLst/>
          </a:prstGeom>
          <a:noFill/>
          <a:ln/>
        </p:spPr>
        <p:txBody>
          <a:bodyPr wrap="square" lIns="0" tIns="0" rIns="0" bIns="0" rtlCol="0" anchor="ctr">
            <a:normAutofit/>
          </a:bodyPr>
          <a:lstStyle/>
          <a:p>
            <a:pPr algn="ctr" indent="0" marL="0">
              <a:buNone/>
            </a:pPr>
            <a:r>
              <a:rPr lang="en-US" sz="1200" b="1" spc="40" kern="0" dirty="0">
                <a:solidFill>
                  <a:srgbClr val="FFFFFF"/>
                </a:solidFill>
                <a:latin typeface="Aptos" pitchFamily="34" charset="0"/>
                <a:ea typeface="Aptos" pitchFamily="34" charset="-122"/>
                <a:cs typeface="Aptos" pitchFamily="34" charset="-120"/>
              </a:rPr>
              <a:t>UNDERSTAND</a:t>
            </a:r>
            <a:endParaRPr lang="en-US" sz="1200" dirty="0"/>
          </a:p>
        </p:txBody>
      </p:sp>
      <p:sp>
        <p:nvSpPr>
          <p:cNvPr id="16" name="Text 14"/>
          <p:cNvSpPr txBox="1"/>
          <p:nvPr/>
        </p:nvSpPr>
        <p:spPr>
          <a:xfrm>
            <a:off x="2450592" y="3630168"/>
            <a:ext cx="1664208" cy="365760"/>
          </a:xfrm>
          <a:prstGeom prst="rect">
            <a:avLst/>
          </a:prstGeom>
          <a:noFill/>
          <a:ln/>
        </p:spPr>
        <p:txBody>
          <a:bodyPr wrap="square" lIns="0" tIns="0" rIns="0" bIns="0" rtlCol="0" anchor="ctr">
            <a:normAutofit/>
          </a:bodyPr>
          <a:lstStyle/>
          <a:p>
            <a:pPr algn="ctr" indent="0" marL="0">
              <a:buNone/>
            </a:pPr>
            <a:r>
              <a:rPr lang="en-US" sz="1000" dirty="0">
                <a:solidFill>
                  <a:srgbClr val="A7B7CA"/>
                </a:solidFill>
                <a:latin typeface="Aptos" pitchFamily="34" charset="0"/>
                <a:ea typeface="Aptos" pitchFamily="34" charset="-122"/>
                <a:cs typeface="Aptos" pitchFamily="34" charset="-120"/>
              </a:rPr>
              <a:t>Vision + context</a:t>
            </a:r>
            <a:endParaRPr lang="en-US" sz="1000" dirty="0"/>
          </a:p>
        </p:txBody>
      </p:sp>
      <p:sp>
        <p:nvSpPr>
          <p:cNvPr id="17" name="Shape 15"/>
          <p:cNvSpPr/>
          <p:nvPr/>
        </p:nvSpPr>
        <p:spPr>
          <a:xfrm>
            <a:off x="4837176" y="2441448"/>
            <a:ext cx="640080" cy="640080"/>
          </a:xfrm>
          <a:prstGeom prst="ellipse">
            <a:avLst/>
          </a:prstGeom>
          <a:solidFill>
            <a:srgbClr val="FFC66D"/>
          </a:solidFill>
          <a:ln w="12700">
            <a:solidFill>
              <a:srgbClr val="FFC66D"/>
            </a:solidFill>
            <a:prstDash val="solid"/>
          </a:ln>
        </p:spPr>
      </p:sp>
      <p:sp>
        <p:nvSpPr>
          <p:cNvPr id="18" name="Text 16"/>
          <p:cNvSpPr txBox="1"/>
          <p:nvPr/>
        </p:nvSpPr>
        <p:spPr>
          <a:xfrm>
            <a:off x="4837176" y="2651760"/>
            <a:ext cx="640080" cy="182880"/>
          </a:xfrm>
          <a:prstGeom prst="rect">
            <a:avLst/>
          </a:prstGeom>
          <a:noFill/>
          <a:ln/>
        </p:spPr>
        <p:txBody>
          <a:bodyPr wrap="square" lIns="0" tIns="0" rIns="0" bIns="0" rtlCol="0" anchor="ctr">
            <a:normAutofit/>
          </a:bodyPr>
          <a:lstStyle/>
          <a:p>
            <a:pPr algn="ctr" indent="0" marL="0">
              <a:buNone/>
            </a:pPr>
            <a:r>
              <a:rPr lang="en-US" sz="1100" b="1" dirty="0">
                <a:solidFill>
                  <a:srgbClr val="0B1220"/>
                </a:solidFill>
                <a:latin typeface="Aptos" pitchFamily="34" charset="0"/>
                <a:ea typeface="Aptos" pitchFamily="34" charset="-122"/>
                <a:cs typeface="Aptos" pitchFamily="34" charset="-120"/>
              </a:rPr>
              <a:t>03</a:t>
            </a:r>
            <a:endParaRPr lang="en-US" sz="1100" dirty="0"/>
          </a:p>
        </p:txBody>
      </p:sp>
      <p:sp>
        <p:nvSpPr>
          <p:cNvPr id="19" name="Text 17"/>
          <p:cNvSpPr txBox="1"/>
          <p:nvPr/>
        </p:nvSpPr>
        <p:spPr>
          <a:xfrm>
            <a:off x="4425696" y="3310128"/>
            <a:ext cx="1508760" cy="228600"/>
          </a:xfrm>
          <a:prstGeom prst="rect">
            <a:avLst/>
          </a:prstGeom>
          <a:noFill/>
          <a:ln/>
        </p:spPr>
        <p:txBody>
          <a:bodyPr wrap="square" lIns="0" tIns="0" rIns="0" bIns="0" rtlCol="0" anchor="ctr">
            <a:normAutofit/>
          </a:bodyPr>
          <a:lstStyle/>
          <a:p>
            <a:pPr algn="ctr" indent="0" marL="0">
              <a:buNone/>
            </a:pPr>
            <a:r>
              <a:rPr lang="en-US" sz="1200" b="1" spc="40" kern="0" dirty="0">
                <a:solidFill>
                  <a:srgbClr val="FFFFFF"/>
                </a:solidFill>
                <a:latin typeface="Aptos" pitchFamily="34" charset="0"/>
                <a:ea typeface="Aptos" pitchFamily="34" charset="-122"/>
                <a:cs typeface="Aptos" pitchFamily="34" charset="-120"/>
              </a:rPr>
              <a:t>PRIORITIZE</a:t>
            </a:r>
            <a:endParaRPr lang="en-US" sz="1200" dirty="0"/>
          </a:p>
        </p:txBody>
      </p:sp>
      <p:sp>
        <p:nvSpPr>
          <p:cNvPr id="20" name="Text 18"/>
          <p:cNvSpPr txBox="1"/>
          <p:nvPr/>
        </p:nvSpPr>
        <p:spPr>
          <a:xfrm>
            <a:off x="4352544" y="3630168"/>
            <a:ext cx="1664208" cy="365760"/>
          </a:xfrm>
          <a:prstGeom prst="rect">
            <a:avLst/>
          </a:prstGeom>
          <a:noFill/>
          <a:ln/>
        </p:spPr>
        <p:txBody>
          <a:bodyPr wrap="square" lIns="0" tIns="0" rIns="0" bIns="0" rtlCol="0" anchor="ctr">
            <a:normAutofit/>
          </a:bodyPr>
          <a:lstStyle/>
          <a:p>
            <a:pPr algn="ctr" indent="0" marL="0">
              <a:buNone/>
            </a:pPr>
            <a:r>
              <a:rPr lang="en-US" sz="1000" dirty="0">
                <a:solidFill>
                  <a:srgbClr val="A7B7CA"/>
                </a:solidFill>
                <a:latin typeface="Aptos" pitchFamily="34" charset="0"/>
                <a:ea typeface="Aptos" pitchFamily="34" charset="-122"/>
                <a:cs typeface="Aptos" pitchFamily="34" charset="-120"/>
              </a:rPr>
              <a:t>Risk signals</a:t>
            </a:r>
            <a:endParaRPr lang="en-US" sz="1000" dirty="0"/>
          </a:p>
        </p:txBody>
      </p:sp>
      <p:sp>
        <p:nvSpPr>
          <p:cNvPr id="21" name="Shape 19"/>
          <p:cNvSpPr/>
          <p:nvPr/>
        </p:nvSpPr>
        <p:spPr>
          <a:xfrm>
            <a:off x="6739128" y="2441448"/>
            <a:ext cx="640080" cy="640080"/>
          </a:xfrm>
          <a:prstGeom prst="ellipse">
            <a:avLst/>
          </a:prstGeom>
          <a:solidFill>
            <a:srgbClr val="D5FF74"/>
          </a:solidFill>
          <a:ln w="12700">
            <a:solidFill>
              <a:srgbClr val="D5FF74"/>
            </a:solidFill>
            <a:prstDash val="solid"/>
          </a:ln>
        </p:spPr>
      </p:sp>
      <p:sp>
        <p:nvSpPr>
          <p:cNvPr id="22" name="Text 20"/>
          <p:cNvSpPr txBox="1"/>
          <p:nvPr/>
        </p:nvSpPr>
        <p:spPr>
          <a:xfrm>
            <a:off x="6739128" y="2651760"/>
            <a:ext cx="640080" cy="182880"/>
          </a:xfrm>
          <a:prstGeom prst="rect">
            <a:avLst/>
          </a:prstGeom>
          <a:noFill/>
          <a:ln/>
        </p:spPr>
        <p:txBody>
          <a:bodyPr wrap="square" lIns="0" tIns="0" rIns="0" bIns="0" rtlCol="0" anchor="ctr">
            <a:normAutofit/>
          </a:bodyPr>
          <a:lstStyle/>
          <a:p>
            <a:pPr algn="ctr" indent="0" marL="0">
              <a:buNone/>
            </a:pPr>
            <a:r>
              <a:rPr lang="en-US" sz="1100" b="1" dirty="0">
                <a:solidFill>
                  <a:srgbClr val="0B1220"/>
                </a:solidFill>
                <a:latin typeface="Aptos" pitchFamily="34" charset="0"/>
                <a:ea typeface="Aptos" pitchFamily="34" charset="-122"/>
                <a:cs typeface="Aptos" pitchFamily="34" charset="-120"/>
              </a:rPr>
              <a:t>04</a:t>
            </a:r>
            <a:endParaRPr lang="en-US" sz="1100" dirty="0"/>
          </a:p>
        </p:txBody>
      </p:sp>
      <p:sp>
        <p:nvSpPr>
          <p:cNvPr id="23" name="Text 21"/>
          <p:cNvSpPr txBox="1"/>
          <p:nvPr/>
        </p:nvSpPr>
        <p:spPr>
          <a:xfrm>
            <a:off x="6327648" y="3310128"/>
            <a:ext cx="1508760" cy="228600"/>
          </a:xfrm>
          <a:prstGeom prst="rect">
            <a:avLst/>
          </a:prstGeom>
          <a:noFill/>
          <a:ln/>
        </p:spPr>
        <p:txBody>
          <a:bodyPr wrap="square" lIns="0" tIns="0" rIns="0" bIns="0" rtlCol="0" anchor="ctr">
            <a:normAutofit/>
          </a:bodyPr>
          <a:lstStyle/>
          <a:p>
            <a:pPr algn="ctr" indent="0" marL="0">
              <a:buNone/>
            </a:pPr>
            <a:r>
              <a:rPr lang="en-US" sz="1200" b="1" spc="40" kern="0" dirty="0">
                <a:solidFill>
                  <a:srgbClr val="FFFFFF"/>
                </a:solidFill>
                <a:latin typeface="Aptos" pitchFamily="34" charset="0"/>
                <a:ea typeface="Aptos" pitchFamily="34" charset="-122"/>
                <a:cs typeface="Aptos" pitchFamily="34" charset="-120"/>
              </a:rPr>
              <a:t>CLUSTER</a:t>
            </a:r>
            <a:endParaRPr lang="en-US" sz="1200" dirty="0"/>
          </a:p>
        </p:txBody>
      </p:sp>
      <p:sp>
        <p:nvSpPr>
          <p:cNvPr id="24" name="Text 22"/>
          <p:cNvSpPr txBox="1"/>
          <p:nvPr/>
        </p:nvSpPr>
        <p:spPr>
          <a:xfrm>
            <a:off x="6254496" y="3630168"/>
            <a:ext cx="1664208" cy="365760"/>
          </a:xfrm>
          <a:prstGeom prst="rect">
            <a:avLst/>
          </a:prstGeom>
          <a:noFill/>
          <a:ln/>
        </p:spPr>
        <p:txBody>
          <a:bodyPr wrap="square" lIns="0" tIns="0" rIns="0" bIns="0" rtlCol="0" anchor="ctr">
            <a:normAutofit/>
          </a:bodyPr>
          <a:lstStyle/>
          <a:p>
            <a:pPr algn="ctr" indent="0" marL="0">
              <a:buNone/>
            </a:pPr>
            <a:r>
              <a:rPr lang="en-US" sz="1000" dirty="0">
                <a:solidFill>
                  <a:srgbClr val="A7B7CA"/>
                </a:solidFill>
                <a:latin typeface="Aptos" pitchFamily="34" charset="0"/>
                <a:ea typeface="Aptos" pitchFamily="34" charset="-122"/>
                <a:cs typeface="Aptos" pitchFamily="34" charset="-120"/>
              </a:rPr>
              <a:t>Duplicate reports</a:t>
            </a:r>
            <a:endParaRPr lang="en-US" sz="1000" dirty="0"/>
          </a:p>
        </p:txBody>
      </p:sp>
      <p:sp>
        <p:nvSpPr>
          <p:cNvPr id="25" name="Shape 23"/>
          <p:cNvSpPr/>
          <p:nvPr/>
        </p:nvSpPr>
        <p:spPr>
          <a:xfrm>
            <a:off x="8641080" y="2441448"/>
            <a:ext cx="640080" cy="640080"/>
          </a:xfrm>
          <a:prstGeom prst="ellipse">
            <a:avLst/>
          </a:prstGeom>
          <a:solidFill>
            <a:srgbClr val="7DD3FC"/>
          </a:solidFill>
          <a:ln w="12700">
            <a:solidFill>
              <a:srgbClr val="7DD3FC"/>
            </a:solidFill>
            <a:prstDash val="solid"/>
          </a:ln>
        </p:spPr>
      </p:sp>
      <p:sp>
        <p:nvSpPr>
          <p:cNvPr id="26" name="Text 24"/>
          <p:cNvSpPr txBox="1"/>
          <p:nvPr/>
        </p:nvSpPr>
        <p:spPr>
          <a:xfrm>
            <a:off x="8641080" y="2651760"/>
            <a:ext cx="640080" cy="182880"/>
          </a:xfrm>
          <a:prstGeom prst="rect">
            <a:avLst/>
          </a:prstGeom>
          <a:noFill/>
          <a:ln/>
        </p:spPr>
        <p:txBody>
          <a:bodyPr wrap="square" lIns="0" tIns="0" rIns="0" bIns="0" rtlCol="0" anchor="ctr">
            <a:normAutofit/>
          </a:bodyPr>
          <a:lstStyle/>
          <a:p>
            <a:pPr algn="ctr" indent="0" marL="0">
              <a:buNone/>
            </a:pPr>
            <a:r>
              <a:rPr lang="en-US" sz="1100" b="1" dirty="0">
                <a:solidFill>
                  <a:srgbClr val="0B1220"/>
                </a:solidFill>
                <a:latin typeface="Aptos" pitchFamily="34" charset="0"/>
                <a:ea typeface="Aptos" pitchFamily="34" charset="-122"/>
                <a:cs typeface="Aptos" pitchFamily="34" charset="-120"/>
              </a:rPr>
              <a:t>05</a:t>
            </a:r>
            <a:endParaRPr lang="en-US" sz="1100" dirty="0"/>
          </a:p>
        </p:txBody>
      </p:sp>
      <p:sp>
        <p:nvSpPr>
          <p:cNvPr id="27" name="Text 25"/>
          <p:cNvSpPr txBox="1"/>
          <p:nvPr/>
        </p:nvSpPr>
        <p:spPr>
          <a:xfrm>
            <a:off x="8229600" y="3310128"/>
            <a:ext cx="1508760" cy="228600"/>
          </a:xfrm>
          <a:prstGeom prst="rect">
            <a:avLst/>
          </a:prstGeom>
          <a:noFill/>
          <a:ln/>
        </p:spPr>
        <p:txBody>
          <a:bodyPr wrap="square" lIns="0" tIns="0" rIns="0" bIns="0" rtlCol="0" anchor="ctr">
            <a:normAutofit/>
          </a:bodyPr>
          <a:lstStyle/>
          <a:p>
            <a:pPr algn="ctr" indent="0" marL="0">
              <a:buNone/>
            </a:pPr>
            <a:r>
              <a:rPr lang="en-US" sz="1200" b="1" spc="40" kern="0" dirty="0">
                <a:solidFill>
                  <a:srgbClr val="FFFFFF"/>
                </a:solidFill>
                <a:latin typeface="Aptos" pitchFamily="34" charset="0"/>
                <a:ea typeface="Aptos" pitchFamily="34" charset="-122"/>
                <a:cs typeface="Aptos" pitchFamily="34" charset="-120"/>
              </a:rPr>
              <a:t>TRACK</a:t>
            </a:r>
            <a:endParaRPr lang="en-US" sz="1200" dirty="0"/>
          </a:p>
        </p:txBody>
      </p:sp>
      <p:sp>
        <p:nvSpPr>
          <p:cNvPr id="28" name="Text 26"/>
          <p:cNvSpPr txBox="1"/>
          <p:nvPr/>
        </p:nvSpPr>
        <p:spPr>
          <a:xfrm>
            <a:off x="8156448" y="3630168"/>
            <a:ext cx="1664208" cy="365760"/>
          </a:xfrm>
          <a:prstGeom prst="rect">
            <a:avLst/>
          </a:prstGeom>
          <a:noFill/>
          <a:ln/>
        </p:spPr>
        <p:txBody>
          <a:bodyPr wrap="square" lIns="0" tIns="0" rIns="0" bIns="0" rtlCol="0" anchor="ctr">
            <a:normAutofit/>
          </a:bodyPr>
          <a:lstStyle/>
          <a:p>
            <a:pPr algn="ctr" indent="0" marL="0">
              <a:buNone/>
            </a:pPr>
            <a:r>
              <a:rPr lang="en-US" sz="1000" dirty="0">
                <a:solidFill>
                  <a:srgbClr val="A7B7CA"/>
                </a:solidFill>
                <a:latin typeface="Aptos" pitchFamily="34" charset="0"/>
                <a:ea typeface="Aptos" pitchFamily="34" charset="-122"/>
                <a:cs typeface="Aptos" pitchFamily="34" charset="-120"/>
              </a:rPr>
              <a:t>Issue ID + map</a:t>
            </a:r>
            <a:endParaRPr lang="en-US" sz="1000" dirty="0"/>
          </a:p>
        </p:txBody>
      </p:sp>
      <p:sp>
        <p:nvSpPr>
          <p:cNvPr id="29" name="Shape 27"/>
          <p:cNvSpPr/>
          <p:nvPr/>
        </p:nvSpPr>
        <p:spPr>
          <a:xfrm>
            <a:off x="10543032" y="2441448"/>
            <a:ext cx="640080" cy="640080"/>
          </a:xfrm>
          <a:prstGeom prst="ellipse">
            <a:avLst/>
          </a:prstGeom>
          <a:solidFill>
            <a:srgbClr val="2DD4BF"/>
          </a:solidFill>
          <a:ln w="12700">
            <a:solidFill>
              <a:srgbClr val="2DD4BF"/>
            </a:solidFill>
            <a:prstDash val="solid"/>
          </a:ln>
        </p:spPr>
      </p:sp>
      <p:sp>
        <p:nvSpPr>
          <p:cNvPr id="30" name="Text 28"/>
          <p:cNvSpPr txBox="1"/>
          <p:nvPr/>
        </p:nvSpPr>
        <p:spPr>
          <a:xfrm>
            <a:off x="10543032" y="2651760"/>
            <a:ext cx="640080" cy="182880"/>
          </a:xfrm>
          <a:prstGeom prst="rect">
            <a:avLst/>
          </a:prstGeom>
          <a:noFill/>
          <a:ln/>
        </p:spPr>
        <p:txBody>
          <a:bodyPr wrap="square" lIns="0" tIns="0" rIns="0" bIns="0" rtlCol="0" anchor="ctr">
            <a:normAutofit/>
          </a:bodyPr>
          <a:lstStyle/>
          <a:p>
            <a:pPr algn="ctr" indent="0" marL="0">
              <a:buNone/>
            </a:pPr>
            <a:r>
              <a:rPr lang="en-US" sz="1100" b="1" dirty="0">
                <a:solidFill>
                  <a:srgbClr val="0B1220"/>
                </a:solidFill>
                <a:latin typeface="Aptos" pitchFamily="34" charset="0"/>
                <a:ea typeface="Aptos" pitchFamily="34" charset="-122"/>
                <a:cs typeface="Aptos" pitchFamily="34" charset="-120"/>
              </a:rPr>
              <a:t>06</a:t>
            </a:r>
            <a:endParaRPr lang="en-US" sz="1100" dirty="0"/>
          </a:p>
        </p:txBody>
      </p:sp>
      <p:sp>
        <p:nvSpPr>
          <p:cNvPr id="31" name="Text 29"/>
          <p:cNvSpPr txBox="1"/>
          <p:nvPr/>
        </p:nvSpPr>
        <p:spPr>
          <a:xfrm>
            <a:off x="10131552" y="3310128"/>
            <a:ext cx="1508760" cy="228600"/>
          </a:xfrm>
          <a:prstGeom prst="rect">
            <a:avLst/>
          </a:prstGeom>
          <a:noFill/>
          <a:ln/>
        </p:spPr>
        <p:txBody>
          <a:bodyPr wrap="square" lIns="0" tIns="0" rIns="0" bIns="0" rtlCol="0" anchor="ctr">
            <a:normAutofit/>
          </a:bodyPr>
          <a:lstStyle/>
          <a:p>
            <a:pPr algn="ctr" indent="0" marL="0">
              <a:buNone/>
            </a:pPr>
            <a:r>
              <a:rPr lang="en-US" sz="1200" b="1" spc="40" kern="0" dirty="0">
                <a:solidFill>
                  <a:srgbClr val="FFFFFF"/>
                </a:solidFill>
                <a:latin typeface="Aptos" pitchFamily="34" charset="0"/>
                <a:ea typeface="Aptos" pitchFamily="34" charset="-122"/>
                <a:cs typeface="Aptos" pitchFamily="34" charset="-120"/>
              </a:rPr>
              <a:t>VERIFY</a:t>
            </a:r>
            <a:endParaRPr lang="en-US" sz="1200" dirty="0"/>
          </a:p>
        </p:txBody>
      </p:sp>
      <p:sp>
        <p:nvSpPr>
          <p:cNvPr id="32" name="Text 30"/>
          <p:cNvSpPr txBox="1"/>
          <p:nvPr/>
        </p:nvSpPr>
        <p:spPr>
          <a:xfrm>
            <a:off x="10058400" y="3630168"/>
            <a:ext cx="1664208" cy="365760"/>
          </a:xfrm>
          <a:prstGeom prst="rect">
            <a:avLst/>
          </a:prstGeom>
          <a:noFill/>
          <a:ln/>
        </p:spPr>
        <p:txBody>
          <a:bodyPr wrap="square" lIns="0" tIns="0" rIns="0" bIns="0" rtlCol="0" anchor="ctr">
            <a:normAutofit/>
          </a:bodyPr>
          <a:lstStyle/>
          <a:p>
            <a:pPr algn="ctr" indent="0" marL="0">
              <a:buNone/>
            </a:pPr>
            <a:r>
              <a:rPr lang="en-US" sz="1000" dirty="0">
                <a:solidFill>
                  <a:srgbClr val="A7B7CA"/>
                </a:solidFill>
                <a:latin typeface="Aptos" pitchFamily="34" charset="0"/>
                <a:ea typeface="Aptos" pitchFamily="34" charset="-122"/>
                <a:cs typeface="Aptos" pitchFamily="34" charset="-120"/>
              </a:rPr>
              <a:t>Before / after</a:t>
            </a:r>
            <a:endParaRPr lang="en-US" sz="1000" dirty="0"/>
          </a:p>
        </p:txBody>
      </p:sp>
      <p:sp>
        <p:nvSpPr>
          <p:cNvPr id="33" name="Shape 31"/>
          <p:cNvSpPr/>
          <p:nvPr/>
        </p:nvSpPr>
        <p:spPr>
          <a:xfrm>
            <a:off x="685800" y="4572000"/>
            <a:ext cx="10826496" cy="1143000"/>
          </a:xfrm>
          <a:prstGeom prst="roundRect">
            <a:avLst>
              <a:gd name="adj" fmla="val 12800"/>
            </a:avLst>
          </a:prstGeom>
          <a:solidFill>
            <a:srgbClr val="111F32"/>
          </a:solidFill>
          <a:ln w="12700">
            <a:solidFill>
              <a:srgbClr val="263B52"/>
            </a:solidFill>
            <a:prstDash val="solid"/>
          </a:ln>
        </p:spPr>
      </p:sp>
      <p:sp>
        <p:nvSpPr>
          <p:cNvPr id="34" name="Text 32"/>
          <p:cNvSpPr txBox="1"/>
          <p:nvPr/>
        </p:nvSpPr>
        <p:spPr>
          <a:xfrm>
            <a:off x="960120" y="4828032"/>
            <a:ext cx="1554480" cy="182880"/>
          </a:xfrm>
          <a:prstGeom prst="rect">
            <a:avLst/>
          </a:prstGeom>
          <a:noFill/>
          <a:ln/>
        </p:spPr>
        <p:txBody>
          <a:bodyPr wrap="square" lIns="0" tIns="0" rIns="0" bIns="0" rtlCol="0" anchor="ctr">
            <a:normAutofit/>
          </a:bodyPr>
          <a:lstStyle/>
          <a:p>
            <a:pPr algn="l" indent="0" marL="0">
              <a:buNone/>
            </a:pPr>
            <a:r>
              <a:rPr lang="en-US" sz="900" b="1" spc="100" kern="0" dirty="0">
                <a:solidFill>
                  <a:srgbClr val="2DD4BF"/>
                </a:solidFill>
                <a:latin typeface="Aptos" pitchFamily="34" charset="0"/>
                <a:ea typeface="Aptos" pitchFamily="34" charset="-122"/>
                <a:cs typeface="Aptos" pitchFamily="34" charset="-120"/>
              </a:rPr>
              <a:t>THE DIFFERENCE</a:t>
            </a:r>
            <a:endParaRPr lang="en-US" sz="900" dirty="0"/>
          </a:p>
        </p:txBody>
      </p:sp>
      <p:sp>
        <p:nvSpPr>
          <p:cNvPr id="35" name="Text 33"/>
          <p:cNvSpPr txBox="1"/>
          <p:nvPr/>
        </p:nvSpPr>
        <p:spPr>
          <a:xfrm>
            <a:off x="960120" y="5148072"/>
            <a:ext cx="9966960" cy="320040"/>
          </a:xfrm>
          <a:prstGeom prst="rect">
            <a:avLst/>
          </a:prstGeom>
          <a:noFill/>
          <a:ln/>
        </p:spPr>
        <p:txBody>
          <a:bodyPr wrap="square" lIns="0" tIns="0" rIns="0" bIns="0" rtlCol="0" anchor="ctr">
            <a:normAutofit/>
          </a:bodyPr>
          <a:lstStyle/>
          <a:p>
            <a:pPr algn="l" indent="0" marL="0">
              <a:buNone/>
            </a:pPr>
            <a:r>
              <a:rPr lang="en-US" sz="1700" b="1" dirty="0">
                <a:solidFill>
                  <a:srgbClr val="FFFFFF"/>
                </a:solidFill>
                <a:latin typeface="Aptos" pitchFamily="34" charset="0"/>
                <a:ea typeface="Aptos" pitchFamily="34" charset="-122"/>
                <a:cs typeface="Aptos" pitchFamily="34" charset="-120"/>
              </a:rPr>
              <a:t>Not just “complaint submitted” — a visible path from first observation to resolution evidence.</a:t>
            </a:r>
            <a:endParaRPr lang="en-US" sz="1700" dirty="0"/>
          </a:p>
        </p:txBody>
      </p:sp>
      <p:sp>
        <p:nvSpPr>
          <p:cNvPr id="36" name="Shape 34"/>
          <p:cNvSpPr/>
          <p:nvPr/>
        </p:nvSpPr>
        <p:spPr>
          <a:xfrm>
            <a:off x="566928" y="6510528"/>
            <a:ext cx="11064240" cy="0"/>
          </a:xfrm>
          <a:prstGeom prst="line">
            <a:avLst/>
          </a:prstGeom>
          <a:noFill/>
          <a:ln w="8890">
            <a:solidFill>
              <a:srgbClr val="243248"/>
            </a:solidFill>
            <a:prstDash val="solid"/>
            <a:headEnd type="none"/>
            <a:tailEnd type="none"/>
          </a:ln>
        </p:spPr>
      </p:sp>
      <p:sp>
        <p:nvSpPr>
          <p:cNvPr id="37" name="Text 35"/>
          <p:cNvSpPr txBox="1"/>
          <p:nvPr/>
        </p:nvSpPr>
        <p:spPr>
          <a:xfrm>
            <a:off x="585216" y="6556248"/>
            <a:ext cx="5120640" cy="137160"/>
          </a:xfrm>
          <a:prstGeom prst="rect">
            <a:avLst/>
          </a:prstGeom>
          <a:noFill/>
          <a:ln/>
        </p:spPr>
        <p:txBody>
          <a:bodyPr wrap="square" lIns="0" tIns="0" rIns="0" bIns="0" rtlCol="0" anchor="ctr">
            <a:normAutofit/>
          </a:bodyPr>
          <a:lstStyle/>
          <a:p>
            <a:pPr algn="l" indent="0" marL="0">
              <a:buNone/>
            </a:pPr>
            <a:r>
              <a:rPr lang="en-US" sz="700" b="1" spc="50" kern="0" dirty="0">
                <a:solidFill>
                  <a:srgbClr val="6E8097"/>
                </a:solidFill>
                <a:latin typeface="Aptos" pitchFamily="34" charset="0"/>
                <a:ea typeface="Aptos" pitchFamily="34" charset="-122"/>
                <a:cs typeface="Aptos" pitchFamily="34" charset="-120"/>
              </a:rPr>
              <a:t>CIVICFIX AI  •  CONCEPT / PROTOTYPE PITCH</a:t>
            </a:r>
            <a:endParaRPr lang="en-US" sz="700" dirty="0"/>
          </a:p>
        </p:txBody>
      </p:sp>
      <p:sp>
        <p:nvSpPr>
          <p:cNvPr id="38" name="Text 36"/>
          <p:cNvSpPr txBox="1"/>
          <p:nvPr/>
        </p:nvSpPr>
        <p:spPr>
          <a:xfrm>
            <a:off x="11064240" y="6547104"/>
            <a:ext cx="502920" cy="146304"/>
          </a:xfrm>
          <a:prstGeom prst="rect">
            <a:avLst/>
          </a:prstGeom>
          <a:noFill/>
          <a:ln/>
        </p:spPr>
        <p:txBody>
          <a:bodyPr wrap="square" lIns="0" tIns="0" rIns="0" bIns="0" rtlCol="0" anchor="ctr">
            <a:normAutofit/>
          </a:bodyPr>
          <a:lstStyle/>
          <a:p>
            <a:pPr algn="r" indent="0" marL="0">
              <a:buNone/>
            </a:pPr>
            <a:r>
              <a:rPr lang="en-US" sz="800" b="1" dirty="0">
                <a:solidFill>
                  <a:srgbClr val="6E8097"/>
                </a:solidFill>
                <a:latin typeface="Aptos" pitchFamily="34" charset="0"/>
                <a:ea typeface="Aptos" pitchFamily="34" charset="-122"/>
                <a:cs typeface="Aptos" pitchFamily="34" charset="-120"/>
              </a:rPr>
              <a:t>03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5F7FA"/>
          </a:solidFill>
          <a:ln w="12700">
            <a:solidFill>
              <a:srgbClr val="F5F7FA">
                <a:alpha val="0"/>
              </a:srgbClr>
            </a:solidFill>
            <a:prstDash val="solid"/>
          </a:ln>
        </p:spPr>
      </p:sp>
      <p:sp>
        <p:nvSpPr>
          <p:cNvPr id="3" name="Shape 1"/>
          <p:cNvSpPr/>
          <p:nvPr/>
        </p:nvSpPr>
        <p:spPr>
          <a:xfrm>
            <a:off x="566928" y="384048"/>
            <a:ext cx="1417320" cy="274320"/>
          </a:xfrm>
          <a:prstGeom prst="roundRect">
            <a:avLst>
              <a:gd name="adj" fmla="val 36667"/>
            </a:avLst>
          </a:prstGeom>
          <a:solidFill>
            <a:srgbClr val="FFFFFF"/>
          </a:solidFill>
          <a:ln w="12700">
            <a:solidFill>
              <a:srgbClr val="DCE3EA"/>
            </a:solidFill>
            <a:prstDash val="solid"/>
          </a:ln>
        </p:spPr>
      </p:sp>
      <p:sp>
        <p:nvSpPr>
          <p:cNvPr id="4" name="Shape 2"/>
          <p:cNvSpPr/>
          <p:nvPr/>
        </p:nvSpPr>
        <p:spPr>
          <a:xfrm>
            <a:off x="658368" y="480060"/>
            <a:ext cx="82296" cy="82296"/>
          </a:xfrm>
          <a:prstGeom prst="ellipse">
            <a:avLst/>
          </a:prstGeom>
          <a:solidFill>
            <a:srgbClr val="2DD4BF"/>
          </a:solidFill>
          <a:ln w="12700">
            <a:solidFill>
              <a:srgbClr val="2DD4BF"/>
            </a:solidFill>
            <a:prstDash val="solid"/>
          </a:ln>
        </p:spPr>
      </p:sp>
      <p:sp>
        <p:nvSpPr>
          <p:cNvPr id="5" name="Text 3"/>
          <p:cNvSpPr txBox="1"/>
          <p:nvPr/>
        </p:nvSpPr>
        <p:spPr>
          <a:xfrm>
            <a:off x="795528" y="402336"/>
            <a:ext cx="1133856" cy="219456"/>
          </a:xfrm>
          <a:prstGeom prst="rect">
            <a:avLst/>
          </a:prstGeom>
          <a:noFill/>
          <a:ln/>
        </p:spPr>
        <p:txBody>
          <a:bodyPr wrap="square" lIns="0" tIns="0" rIns="0" bIns="0" rtlCol="0" anchor="ctr">
            <a:normAutofit/>
          </a:bodyPr>
          <a:lstStyle/>
          <a:p>
            <a:pPr algn="l" indent="0" marL="0">
              <a:buNone/>
            </a:pPr>
            <a:r>
              <a:rPr lang="en-US" sz="850" b="1" spc="50" kern="0" dirty="0">
                <a:solidFill>
                  <a:srgbClr val="526176"/>
                </a:solidFill>
                <a:latin typeface="Aptos" pitchFamily="34" charset="0"/>
                <a:ea typeface="Aptos" pitchFamily="34" charset="-122"/>
                <a:cs typeface="Aptos" pitchFamily="34" charset="-120"/>
              </a:rPr>
              <a:t>CIVICFIX AI  /  03</a:t>
            </a:r>
            <a:endParaRPr lang="en-US" sz="850" dirty="0"/>
          </a:p>
        </p:txBody>
      </p:sp>
      <p:sp>
        <p:nvSpPr>
          <p:cNvPr id="6" name="Text 4"/>
          <p:cNvSpPr txBox="1"/>
          <p:nvPr/>
        </p:nvSpPr>
        <p:spPr>
          <a:xfrm>
            <a:off x="566928" y="804672"/>
            <a:ext cx="10972800" cy="475488"/>
          </a:xfrm>
          <a:prstGeom prst="rect">
            <a:avLst/>
          </a:prstGeom>
          <a:noFill/>
          <a:ln/>
        </p:spPr>
        <p:txBody>
          <a:bodyPr wrap="square" lIns="0" tIns="0" rIns="0" bIns="0" rtlCol="0" anchor="ctr">
            <a:normAutofit/>
          </a:bodyPr>
          <a:lstStyle/>
          <a:p>
            <a:pPr algn="l" indent="0" marL="0">
              <a:buNone/>
            </a:pPr>
            <a:r>
              <a:rPr lang="en-US" sz="2700" b="1" dirty="0">
                <a:solidFill>
                  <a:srgbClr val="132033"/>
                </a:solidFill>
                <a:latin typeface="Aptos Display" pitchFamily="34" charset="0"/>
                <a:ea typeface="Aptos Display" pitchFamily="34" charset="-122"/>
                <a:cs typeface="Aptos Display" pitchFamily="34" charset="-120"/>
              </a:rPr>
              <a:t>One scan becomes structured intelligence.</a:t>
            </a:r>
            <a:endParaRPr lang="en-US" sz="2700" dirty="0"/>
          </a:p>
        </p:txBody>
      </p:sp>
      <p:sp>
        <p:nvSpPr>
          <p:cNvPr id="7" name="Text 5"/>
          <p:cNvSpPr txBox="1"/>
          <p:nvPr/>
        </p:nvSpPr>
        <p:spPr>
          <a:xfrm>
            <a:off x="585216" y="1335024"/>
            <a:ext cx="10881360" cy="347472"/>
          </a:xfrm>
          <a:prstGeom prst="rect">
            <a:avLst/>
          </a:prstGeom>
          <a:noFill/>
          <a:ln/>
        </p:spPr>
        <p:txBody>
          <a:bodyPr wrap="square" lIns="0" tIns="0" rIns="0" bIns="0" rtlCol="0" anchor="ctr">
            <a:normAutofit/>
          </a:bodyPr>
          <a:lstStyle/>
          <a:p>
            <a:pPr algn="l" indent="0" marL="0">
              <a:buNone/>
            </a:pPr>
            <a:r>
              <a:rPr lang="en-US" sz="1200" dirty="0">
                <a:solidFill>
                  <a:srgbClr val="526176"/>
                </a:solidFill>
                <a:latin typeface="Aptos" pitchFamily="34" charset="0"/>
                <a:ea typeface="Aptos" pitchFamily="34" charset="-122"/>
                <a:cs typeface="Aptos" pitchFamily="34" charset="-120"/>
              </a:rPr>
              <a:t>A camera-first flow, followed by a readable AI assessment—not a chatbot transcript.</a:t>
            </a:r>
            <a:endParaRPr lang="en-US" sz="1200" dirty="0"/>
          </a:p>
        </p:txBody>
      </p:sp>
      <p:sp>
        <p:nvSpPr>
          <p:cNvPr id="8" name="Shape 6"/>
          <p:cNvSpPr/>
          <p:nvPr/>
        </p:nvSpPr>
        <p:spPr>
          <a:xfrm>
            <a:off x="621792" y="1874520"/>
            <a:ext cx="3703320" cy="4297680"/>
          </a:xfrm>
          <a:prstGeom prst="roundRect">
            <a:avLst>
              <a:gd name="adj" fmla="val 3704"/>
            </a:avLst>
          </a:prstGeom>
          <a:solidFill>
            <a:srgbClr val="FFFFFF"/>
          </a:solidFill>
          <a:ln w="12700">
            <a:solidFill>
              <a:srgbClr val="DCE3EA"/>
            </a:solidFill>
            <a:prstDash val="solid"/>
          </a:ln>
        </p:spPr>
      </p:sp>
      <p:sp>
        <p:nvSpPr>
          <p:cNvPr id="9" name="Shape 7"/>
          <p:cNvSpPr/>
          <p:nvPr/>
        </p:nvSpPr>
        <p:spPr>
          <a:xfrm>
            <a:off x="850392" y="2103120"/>
            <a:ext cx="3246120" cy="3383280"/>
          </a:xfrm>
          <a:prstGeom prst="roundRect">
            <a:avLst>
              <a:gd name="adj" fmla="val 6761"/>
            </a:avLst>
          </a:prstGeom>
          <a:solidFill>
            <a:srgbClr val="0B1220"/>
          </a:solidFill>
          <a:ln w="12700">
            <a:solidFill>
              <a:srgbClr val="0B1220">
                <a:alpha val="0"/>
              </a:srgbClr>
            </a:solidFill>
            <a:prstDash val="solid"/>
          </a:ln>
        </p:spPr>
      </p:sp>
      <p:sp>
        <p:nvSpPr>
          <p:cNvPr id="10" name="Shape 8"/>
          <p:cNvSpPr/>
          <p:nvPr/>
        </p:nvSpPr>
        <p:spPr>
          <a:xfrm>
            <a:off x="987552" y="2267712"/>
            <a:ext cx="2971800" cy="2852928"/>
          </a:xfrm>
          <a:prstGeom prst="roundRect">
            <a:avLst>
              <a:gd name="adj" fmla="val 4487"/>
            </a:avLst>
          </a:prstGeom>
          <a:solidFill>
            <a:srgbClr val="E2ECF1"/>
          </a:solidFill>
          <a:ln w="12700">
            <a:solidFill>
              <a:srgbClr val="33465A"/>
            </a:solidFill>
            <a:prstDash val="solid"/>
          </a:ln>
        </p:spPr>
      </p:sp>
      <p:sp>
        <p:nvSpPr>
          <p:cNvPr id="11" name="Shape 9"/>
          <p:cNvSpPr/>
          <p:nvPr/>
        </p:nvSpPr>
        <p:spPr>
          <a:xfrm>
            <a:off x="1051560" y="2331720"/>
            <a:ext cx="2843784" cy="2615184"/>
          </a:xfrm>
          <a:prstGeom prst="roundRect">
            <a:avLst>
              <a:gd name="adj" fmla="val 4196"/>
            </a:avLst>
          </a:prstGeom>
          <a:solidFill>
            <a:srgbClr val="DCECF0"/>
          </a:solidFill>
          <a:ln w="12700">
            <a:solidFill>
              <a:srgbClr val="C5D8DE"/>
            </a:solidFill>
            <a:prstDash val="solid"/>
          </a:ln>
        </p:spPr>
      </p:sp>
      <p:sp>
        <p:nvSpPr>
          <p:cNvPr id="12" name="Shape 10"/>
          <p:cNvSpPr/>
          <p:nvPr/>
        </p:nvSpPr>
        <p:spPr>
          <a:xfrm>
            <a:off x="1060704" y="2340864"/>
            <a:ext cx="2825496" cy="1124529"/>
          </a:xfrm>
          <a:prstGeom prst="roundRect">
            <a:avLst>
              <a:gd name="adj" fmla="val 8131"/>
            </a:avLst>
          </a:prstGeom>
          <a:solidFill>
            <a:srgbClr val="DCEEF3"/>
          </a:solidFill>
          <a:ln w="12700">
            <a:solidFill>
              <a:srgbClr val="DCEEF3">
                <a:alpha val="0"/>
              </a:srgbClr>
            </a:solidFill>
            <a:prstDash val="solid"/>
          </a:ln>
        </p:spPr>
      </p:sp>
      <p:sp>
        <p:nvSpPr>
          <p:cNvPr id="13" name="Shape 11"/>
          <p:cNvSpPr/>
          <p:nvPr/>
        </p:nvSpPr>
        <p:spPr>
          <a:xfrm>
            <a:off x="1193749" y="2723998"/>
            <a:ext cx="455005" cy="863011"/>
          </a:xfrm>
          <a:prstGeom prst="roundRect">
            <a:avLst>
              <a:gd name="adj" fmla="val 2010"/>
            </a:avLst>
          </a:prstGeom>
          <a:solidFill>
            <a:srgbClr val="8B9AA8"/>
          </a:solidFill>
          <a:ln w="12700">
            <a:solidFill>
              <a:srgbClr val="8B9AA8">
                <a:alpha val="0"/>
              </a:srgbClr>
            </a:solidFill>
            <a:prstDash val="solid"/>
          </a:ln>
        </p:spPr>
      </p:sp>
      <p:sp>
        <p:nvSpPr>
          <p:cNvPr id="14" name="Shape 12"/>
          <p:cNvSpPr/>
          <p:nvPr/>
        </p:nvSpPr>
        <p:spPr>
          <a:xfrm>
            <a:off x="1279063" y="2854757"/>
            <a:ext cx="71095" cy="91531"/>
          </a:xfrm>
          <a:prstGeom prst="roundRect">
            <a:avLst>
              <a:gd name="adj" fmla="val 12862"/>
            </a:avLst>
          </a:prstGeom>
          <a:solidFill>
            <a:srgbClr val="D8E1E8"/>
          </a:solidFill>
          <a:ln w="12700">
            <a:solidFill>
              <a:srgbClr val="D8E1E8">
                <a:alpha val="0"/>
              </a:srgbClr>
            </a:solidFill>
            <a:prstDash val="solid"/>
          </a:ln>
        </p:spPr>
      </p:sp>
      <p:sp>
        <p:nvSpPr>
          <p:cNvPr id="15" name="Shape 13"/>
          <p:cNvSpPr/>
          <p:nvPr/>
        </p:nvSpPr>
        <p:spPr>
          <a:xfrm>
            <a:off x="1449690" y="2854757"/>
            <a:ext cx="71095" cy="91531"/>
          </a:xfrm>
          <a:prstGeom prst="roundRect">
            <a:avLst>
              <a:gd name="adj" fmla="val 12862"/>
            </a:avLst>
          </a:prstGeom>
          <a:solidFill>
            <a:srgbClr val="D8E1E8"/>
          </a:solidFill>
          <a:ln w="12700">
            <a:solidFill>
              <a:srgbClr val="D8E1E8">
                <a:alpha val="0"/>
              </a:srgbClr>
            </a:solidFill>
            <a:prstDash val="solid"/>
          </a:ln>
        </p:spPr>
      </p:sp>
      <p:sp>
        <p:nvSpPr>
          <p:cNvPr id="16" name="Shape 14"/>
          <p:cNvSpPr/>
          <p:nvPr/>
        </p:nvSpPr>
        <p:spPr>
          <a:xfrm>
            <a:off x="1279063" y="3116275"/>
            <a:ext cx="71095" cy="91531"/>
          </a:xfrm>
          <a:prstGeom prst="roundRect">
            <a:avLst>
              <a:gd name="adj" fmla="val 12862"/>
            </a:avLst>
          </a:prstGeom>
          <a:solidFill>
            <a:srgbClr val="D8E1E8"/>
          </a:solidFill>
          <a:ln w="12700">
            <a:solidFill>
              <a:srgbClr val="D8E1E8">
                <a:alpha val="0"/>
              </a:srgbClr>
            </a:solidFill>
            <a:prstDash val="solid"/>
          </a:ln>
        </p:spPr>
      </p:sp>
      <p:sp>
        <p:nvSpPr>
          <p:cNvPr id="17" name="Shape 15"/>
          <p:cNvSpPr/>
          <p:nvPr/>
        </p:nvSpPr>
        <p:spPr>
          <a:xfrm>
            <a:off x="1449690" y="3116275"/>
            <a:ext cx="71095" cy="91531"/>
          </a:xfrm>
          <a:prstGeom prst="roundRect">
            <a:avLst>
              <a:gd name="adj" fmla="val 12862"/>
            </a:avLst>
          </a:prstGeom>
          <a:solidFill>
            <a:srgbClr val="D8E1E8"/>
          </a:solidFill>
          <a:ln w="12700">
            <a:solidFill>
              <a:srgbClr val="D8E1E8">
                <a:alpha val="0"/>
              </a:srgbClr>
            </a:solidFill>
            <a:prstDash val="solid"/>
          </a:ln>
        </p:spPr>
      </p:sp>
      <p:sp>
        <p:nvSpPr>
          <p:cNvPr id="18" name="Shape 16"/>
          <p:cNvSpPr/>
          <p:nvPr/>
        </p:nvSpPr>
        <p:spPr>
          <a:xfrm>
            <a:off x="1677192" y="2540935"/>
            <a:ext cx="483443" cy="1046074"/>
          </a:xfrm>
          <a:prstGeom prst="roundRect">
            <a:avLst>
              <a:gd name="adj" fmla="val 1891"/>
            </a:avLst>
          </a:prstGeom>
          <a:solidFill>
            <a:srgbClr val="AFB9C5"/>
          </a:solidFill>
          <a:ln w="12700">
            <a:solidFill>
              <a:srgbClr val="AFB9C5">
                <a:alpha val="0"/>
              </a:srgbClr>
            </a:solidFill>
            <a:prstDash val="solid"/>
          </a:ln>
        </p:spPr>
      </p:sp>
      <p:sp>
        <p:nvSpPr>
          <p:cNvPr id="19" name="Shape 17"/>
          <p:cNvSpPr/>
          <p:nvPr/>
        </p:nvSpPr>
        <p:spPr>
          <a:xfrm>
            <a:off x="1762506" y="2671694"/>
            <a:ext cx="71095" cy="91531"/>
          </a:xfrm>
          <a:prstGeom prst="roundRect">
            <a:avLst>
              <a:gd name="adj" fmla="val 12862"/>
            </a:avLst>
          </a:prstGeom>
          <a:solidFill>
            <a:srgbClr val="D8E1E8"/>
          </a:solidFill>
          <a:ln w="12700">
            <a:solidFill>
              <a:srgbClr val="D8E1E8">
                <a:alpha val="0"/>
              </a:srgbClr>
            </a:solidFill>
            <a:prstDash val="solid"/>
          </a:ln>
        </p:spPr>
      </p:sp>
      <p:sp>
        <p:nvSpPr>
          <p:cNvPr id="20" name="Shape 18"/>
          <p:cNvSpPr/>
          <p:nvPr/>
        </p:nvSpPr>
        <p:spPr>
          <a:xfrm>
            <a:off x="1933133" y="2671694"/>
            <a:ext cx="71095" cy="91531"/>
          </a:xfrm>
          <a:prstGeom prst="roundRect">
            <a:avLst>
              <a:gd name="adj" fmla="val 12862"/>
            </a:avLst>
          </a:prstGeom>
          <a:solidFill>
            <a:srgbClr val="D8E1E8"/>
          </a:solidFill>
          <a:ln w="12700">
            <a:solidFill>
              <a:srgbClr val="D8E1E8">
                <a:alpha val="0"/>
              </a:srgbClr>
            </a:solidFill>
            <a:prstDash val="solid"/>
          </a:ln>
        </p:spPr>
      </p:sp>
      <p:sp>
        <p:nvSpPr>
          <p:cNvPr id="21" name="Shape 19"/>
          <p:cNvSpPr/>
          <p:nvPr/>
        </p:nvSpPr>
        <p:spPr>
          <a:xfrm>
            <a:off x="1762506" y="2933212"/>
            <a:ext cx="71095" cy="91531"/>
          </a:xfrm>
          <a:prstGeom prst="roundRect">
            <a:avLst>
              <a:gd name="adj" fmla="val 12862"/>
            </a:avLst>
          </a:prstGeom>
          <a:solidFill>
            <a:srgbClr val="D8E1E8"/>
          </a:solidFill>
          <a:ln w="12700">
            <a:solidFill>
              <a:srgbClr val="D8E1E8">
                <a:alpha val="0"/>
              </a:srgbClr>
            </a:solidFill>
            <a:prstDash val="solid"/>
          </a:ln>
        </p:spPr>
      </p:sp>
      <p:sp>
        <p:nvSpPr>
          <p:cNvPr id="22" name="Shape 20"/>
          <p:cNvSpPr/>
          <p:nvPr/>
        </p:nvSpPr>
        <p:spPr>
          <a:xfrm>
            <a:off x="1933133" y="2933212"/>
            <a:ext cx="71095" cy="91531"/>
          </a:xfrm>
          <a:prstGeom prst="roundRect">
            <a:avLst>
              <a:gd name="adj" fmla="val 12862"/>
            </a:avLst>
          </a:prstGeom>
          <a:solidFill>
            <a:srgbClr val="D8E1E8"/>
          </a:solidFill>
          <a:ln w="12700">
            <a:solidFill>
              <a:srgbClr val="D8E1E8">
                <a:alpha val="0"/>
              </a:srgbClr>
            </a:solidFill>
            <a:prstDash val="solid"/>
          </a:ln>
        </p:spPr>
      </p:sp>
      <p:sp>
        <p:nvSpPr>
          <p:cNvPr id="23" name="Shape 21"/>
          <p:cNvSpPr/>
          <p:nvPr/>
        </p:nvSpPr>
        <p:spPr>
          <a:xfrm>
            <a:off x="2245949" y="2802453"/>
            <a:ext cx="426568" cy="784555"/>
          </a:xfrm>
          <a:prstGeom prst="roundRect">
            <a:avLst>
              <a:gd name="adj" fmla="val 2144"/>
            </a:avLst>
          </a:prstGeom>
          <a:solidFill>
            <a:srgbClr val="8E9CAA"/>
          </a:solidFill>
          <a:ln w="12700">
            <a:solidFill>
              <a:srgbClr val="8E9CAA">
                <a:alpha val="0"/>
              </a:srgbClr>
            </a:solidFill>
            <a:prstDash val="solid"/>
          </a:ln>
        </p:spPr>
      </p:sp>
      <p:sp>
        <p:nvSpPr>
          <p:cNvPr id="24" name="Shape 22"/>
          <p:cNvSpPr/>
          <p:nvPr/>
        </p:nvSpPr>
        <p:spPr>
          <a:xfrm>
            <a:off x="2331263" y="2933212"/>
            <a:ext cx="71095" cy="91531"/>
          </a:xfrm>
          <a:prstGeom prst="roundRect">
            <a:avLst>
              <a:gd name="adj" fmla="val 12862"/>
            </a:avLst>
          </a:prstGeom>
          <a:solidFill>
            <a:srgbClr val="D8E1E8"/>
          </a:solidFill>
          <a:ln w="12700">
            <a:solidFill>
              <a:srgbClr val="D8E1E8">
                <a:alpha val="0"/>
              </a:srgbClr>
            </a:solidFill>
            <a:prstDash val="solid"/>
          </a:ln>
        </p:spPr>
      </p:sp>
      <p:sp>
        <p:nvSpPr>
          <p:cNvPr id="25" name="Shape 23"/>
          <p:cNvSpPr/>
          <p:nvPr/>
        </p:nvSpPr>
        <p:spPr>
          <a:xfrm>
            <a:off x="2501890" y="2933212"/>
            <a:ext cx="71095" cy="91531"/>
          </a:xfrm>
          <a:prstGeom prst="roundRect">
            <a:avLst>
              <a:gd name="adj" fmla="val 12862"/>
            </a:avLst>
          </a:prstGeom>
          <a:solidFill>
            <a:srgbClr val="D8E1E8"/>
          </a:solidFill>
          <a:ln w="12700">
            <a:solidFill>
              <a:srgbClr val="D8E1E8">
                <a:alpha val="0"/>
              </a:srgbClr>
            </a:solidFill>
            <a:prstDash val="solid"/>
          </a:ln>
        </p:spPr>
      </p:sp>
      <p:sp>
        <p:nvSpPr>
          <p:cNvPr id="26" name="Shape 24"/>
          <p:cNvSpPr/>
          <p:nvPr/>
        </p:nvSpPr>
        <p:spPr>
          <a:xfrm>
            <a:off x="2331263" y="3194731"/>
            <a:ext cx="71095" cy="91531"/>
          </a:xfrm>
          <a:prstGeom prst="roundRect">
            <a:avLst>
              <a:gd name="adj" fmla="val 12862"/>
            </a:avLst>
          </a:prstGeom>
          <a:solidFill>
            <a:srgbClr val="D8E1E8"/>
          </a:solidFill>
          <a:ln w="12700">
            <a:solidFill>
              <a:srgbClr val="D8E1E8">
                <a:alpha val="0"/>
              </a:srgbClr>
            </a:solidFill>
            <a:prstDash val="solid"/>
          </a:ln>
        </p:spPr>
      </p:sp>
      <p:sp>
        <p:nvSpPr>
          <p:cNvPr id="27" name="Shape 25"/>
          <p:cNvSpPr/>
          <p:nvPr/>
        </p:nvSpPr>
        <p:spPr>
          <a:xfrm>
            <a:off x="2501890" y="3194731"/>
            <a:ext cx="71095" cy="91531"/>
          </a:xfrm>
          <a:prstGeom prst="roundRect">
            <a:avLst>
              <a:gd name="adj" fmla="val 12862"/>
            </a:avLst>
          </a:prstGeom>
          <a:solidFill>
            <a:srgbClr val="D8E1E8"/>
          </a:solidFill>
          <a:ln w="12700">
            <a:solidFill>
              <a:srgbClr val="D8E1E8">
                <a:alpha val="0"/>
              </a:srgbClr>
            </a:solidFill>
            <a:prstDash val="solid"/>
          </a:ln>
        </p:spPr>
      </p:sp>
      <p:sp>
        <p:nvSpPr>
          <p:cNvPr id="28" name="Shape 26"/>
          <p:cNvSpPr/>
          <p:nvPr/>
        </p:nvSpPr>
        <p:spPr>
          <a:xfrm>
            <a:off x="2814706" y="2593238"/>
            <a:ext cx="483443" cy="993770"/>
          </a:xfrm>
          <a:prstGeom prst="roundRect">
            <a:avLst>
              <a:gd name="adj" fmla="val 1891"/>
            </a:avLst>
          </a:prstGeom>
          <a:solidFill>
            <a:srgbClr val="ADB7C3"/>
          </a:solidFill>
          <a:ln w="12700">
            <a:solidFill>
              <a:srgbClr val="ADB7C3">
                <a:alpha val="0"/>
              </a:srgbClr>
            </a:solidFill>
            <a:prstDash val="solid"/>
          </a:ln>
        </p:spPr>
      </p:sp>
      <p:sp>
        <p:nvSpPr>
          <p:cNvPr id="29" name="Shape 27"/>
          <p:cNvSpPr/>
          <p:nvPr/>
        </p:nvSpPr>
        <p:spPr>
          <a:xfrm>
            <a:off x="2900020" y="2723998"/>
            <a:ext cx="71095" cy="91531"/>
          </a:xfrm>
          <a:prstGeom prst="roundRect">
            <a:avLst>
              <a:gd name="adj" fmla="val 12862"/>
            </a:avLst>
          </a:prstGeom>
          <a:solidFill>
            <a:srgbClr val="D8E1E8"/>
          </a:solidFill>
          <a:ln w="12700">
            <a:solidFill>
              <a:srgbClr val="D8E1E8">
                <a:alpha val="0"/>
              </a:srgbClr>
            </a:solidFill>
            <a:prstDash val="solid"/>
          </a:ln>
        </p:spPr>
      </p:sp>
      <p:sp>
        <p:nvSpPr>
          <p:cNvPr id="30" name="Shape 28"/>
          <p:cNvSpPr/>
          <p:nvPr/>
        </p:nvSpPr>
        <p:spPr>
          <a:xfrm>
            <a:off x="3070647" y="2723998"/>
            <a:ext cx="71095" cy="91531"/>
          </a:xfrm>
          <a:prstGeom prst="roundRect">
            <a:avLst>
              <a:gd name="adj" fmla="val 12862"/>
            </a:avLst>
          </a:prstGeom>
          <a:solidFill>
            <a:srgbClr val="D8E1E8"/>
          </a:solidFill>
          <a:ln w="12700">
            <a:solidFill>
              <a:srgbClr val="D8E1E8">
                <a:alpha val="0"/>
              </a:srgbClr>
            </a:solidFill>
            <a:prstDash val="solid"/>
          </a:ln>
        </p:spPr>
      </p:sp>
      <p:sp>
        <p:nvSpPr>
          <p:cNvPr id="31" name="Shape 29"/>
          <p:cNvSpPr/>
          <p:nvPr/>
        </p:nvSpPr>
        <p:spPr>
          <a:xfrm>
            <a:off x="2900020" y="2985516"/>
            <a:ext cx="71095" cy="91531"/>
          </a:xfrm>
          <a:prstGeom prst="roundRect">
            <a:avLst>
              <a:gd name="adj" fmla="val 12862"/>
            </a:avLst>
          </a:prstGeom>
          <a:solidFill>
            <a:srgbClr val="D8E1E8"/>
          </a:solidFill>
          <a:ln w="12700">
            <a:solidFill>
              <a:srgbClr val="D8E1E8">
                <a:alpha val="0"/>
              </a:srgbClr>
            </a:solidFill>
            <a:prstDash val="solid"/>
          </a:ln>
        </p:spPr>
      </p:sp>
      <p:sp>
        <p:nvSpPr>
          <p:cNvPr id="32" name="Shape 30"/>
          <p:cNvSpPr/>
          <p:nvPr/>
        </p:nvSpPr>
        <p:spPr>
          <a:xfrm>
            <a:off x="3070647" y="2985516"/>
            <a:ext cx="71095" cy="91531"/>
          </a:xfrm>
          <a:prstGeom prst="roundRect">
            <a:avLst>
              <a:gd name="adj" fmla="val 12862"/>
            </a:avLst>
          </a:prstGeom>
          <a:solidFill>
            <a:srgbClr val="D8E1E8"/>
          </a:solidFill>
          <a:ln w="12700">
            <a:solidFill>
              <a:srgbClr val="D8E1E8">
                <a:alpha val="0"/>
              </a:srgbClr>
            </a:solidFill>
            <a:prstDash val="solid"/>
          </a:ln>
        </p:spPr>
      </p:sp>
      <p:sp>
        <p:nvSpPr>
          <p:cNvPr id="33" name="Shape 31"/>
          <p:cNvSpPr/>
          <p:nvPr/>
        </p:nvSpPr>
        <p:spPr>
          <a:xfrm>
            <a:off x="3355025" y="2854757"/>
            <a:ext cx="369692" cy="732252"/>
          </a:xfrm>
          <a:prstGeom prst="roundRect">
            <a:avLst>
              <a:gd name="adj" fmla="val 2473"/>
            </a:avLst>
          </a:prstGeom>
          <a:solidFill>
            <a:srgbClr val="8796A5"/>
          </a:solidFill>
          <a:ln w="12700">
            <a:solidFill>
              <a:srgbClr val="8796A5">
                <a:alpha val="0"/>
              </a:srgbClr>
            </a:solidFill>
            <a:prstDash val="solid"/>
          </a:ln>
        </p:spPr>
      </p:sp>
      <p:sp>
        <p:nvSpPr>
          <p:cNvPr id="34" name="Shape 32"/>
          <p:cNvSpPr/>
          <p:nvPr/>
        </p:nvSpPr>
        <p:spPr>
          <a:xfrm>
            <a:off x="3440339" y="2985516"/>
            <a:ext cx="71095" cy="91531"/>
          </a:xfrm>
          <a:prstGeom prst="roundRect">
            <a:avLst>
              <a:gd name="adj" fmla="val 12862"/>
            </a:avLst>
          </a:prstGeom>
          <a:solidFill>
            <a:srgbClr val="D8E1E8"/>
          </a:solidFill>
          <a:ln w="12700">
            <a:solidFill>
              <a:srgbClr val="D8E1E8">
                <a:alpha val="0"/>
              </a:srgbClr>
            </a:solidFill>
            <a:prstDash val="solid"/>
          </a:ln>
        </p:spPr>
      </p:sp>
      <p:sp>
        <p:nvSpPr>
          <p:cNvPr id="35" name="Shape 33"/>
          <p:cNvSpPr/>
          <p:nvPr/>
        </p:nvSpPr>
        <p:spPr>
          <a:xfrm>
            <a:off x="3610966" y="2985516"/>
            <a:ext cx="71095" cy="91531"/>
          </a:xfrm>
          <a:prstGeom prst="roundRect">
            <a:avLst>
              <a:gd name="adj" fmla="val 12862"/>
            </a:avLst>
          </a:prstGeom>
          <a:solidFill>
            <a:srgbClr val="D8E1E8"/>
          </a:solidFill>
          <a:ln w="12700">
            <a:solidFill>
              <a:srgbClr val="D8E1E8">
                <a:alpha val="0"/>
              </a:srgbClr>
            </a:solidFill>
            <a:prstDash val="solid"/>
          </a:ln>
        </p:spPr>
      </p:sp>
      <p:sp>
        <p:nvSpPr>
          <p:cNvPr id="36" name="Shape 34"/>
          <p:cNvSpPr/>
          <p:nvPr/>
        </p:nvSpPr>
        <p:spPr>
          <a:xfrm>
            <a:off x="3440339" y="3247034"/>
            <a:ext cx="71095" cy="91531"/>
          </a:xfrm>
          <a:prstGeom prst="roundRect">
            <a:avLst>
              <a:gd name="adj" fmla="val 12862"/>
            </a:avLst>
          </a:prstGeom>
          <a:solidFill>
            <a:srgbClr val="D8E1E8"/>
          </a:solidFill>
          <a:ln w="12700">
            <a:solidFill>
              <a:srgbClr val="D8E1E8">
                <a:alpha val="0"/>
              </a:srgbClr>
            </a:solidFill>
            <a:prstDash val="solid"/>
          </a:ln>
        </p:spPr>
      </p:sp>
      <p:sp>
        <p:nvSpPr>
          <p:cNvPr id="37" name="Shape 35"/>
          <p:cNvSpPr/>
          <p:nvPr/>
        </p:nvSpPr>
        <p:spPr>
          <a:xfrm>
            <a:off x="3610966" y="3247034"/>
            <a:ext cx="71095" cy="91531"/>
          </a:xfrm>
          <a:prstGeom prst="roundRect">
            <a:avLst>
              <a:gd name="adj" fmla="val 12862"/>
            </a:avLst>
          </a:prstGeom>
          <a:solidFill>
            <a:srgbClr val="D8E1E8"/>
          </a:solidFill>
          <a:ln w="12700">
            <a:solidFill>
              <a:srgbClr val="D8E1E8">
                <a:alpha val="0"/>
              </a:srgbClr>
            </a:solidFill>
            <a:prstDash val="solid"/>
          </a:ln>
        </p:spPr>
      </p:sp>
      <p:sp>
        <p:nvSpPr>
          <p:cNvPr id="38" name="Shape 36"/>
          <p:cNvSpPr/>
          <p:nvPr/>
        </p:nvSpPr>
        <p:spPr>
          <a:xfrm>
            <a:off x="1060704" y="3456249"/>
            <a:ext cx="2825496" cy="1490655"/>
          </a:xfrm>
          <a:prstGeom prst="roundRect">
            <a:avLst>
              <a:gd name="adj" fmla="val 1227"/>
            </a:avLst>
          </a:prstGeom>
          <a:solidFill>
            <a:srgbClr val="657080"/>
          </a:solidFill>
          <a:ln w="12700">
            <a:solidFill>
              <a:srgbClr val="657080">
                <a:alpha val="0"/>
              </a:srgbClr>
            </a:solidFill>
            <a:prstDash val="solid"/>
          </a:ln>
        </p:spPr>
      </p:sp>
      <p:sp>
        <p:nvSpPr>
          <p:cNvPr id="39" name="Shape 37"/>
          <p:cNvSpPr/>
          <p:nvPr/>
        </p:nvSpPr>
        <p:spPr>
          <a:xfrm>
            <a:off x="1392814" y="4162349"/>
            <a:ext cx="341254" cy="47073"/>
          </a:xfrm>
          <a:prstGeom prst="roundRect">
            <a:avLst>
              <a:gd name="adj" fmla="val 19425"/>
            </a:avLst>
          </a:prstGeom>
          <a:solidFill>
            <a:srgbClr val="E9EEF4"/>
          </a:solidFill>
          <a:ln w="12700">
            <a:solidFill>
              <a:srgbClr val="E9EEF4">
                <a:alpha val="0"/>
              </a:srgbClr>
            </a:solidFill>
            <a:prstDash val="solid"/>
          </a:ln>
        </p:spPr>
      </p:sp>
      <p:sp>
        <p:nvSpPr>
          <p:cNvPr id="40" name="Shape 38"/>
          <p:cNvSpPr/>
          <p:nvPr/>
        </p:nvSpPr>
        <p:spPr>
          <a:xfrm>
            <a:off x="2046884" y="4162349"/>
            <a:ext cx="341254" cy="47073"/>
          </a:xfrm>
          <a:prstGeom prst="roundRect">
            <a:avLst>
              <a:gd name="adj" fmla="val 19425"/>
            </a:avLst>
          </a:prstGeom>
          <a:solidFill>
            <a:srgbClr val="E9EEF4"/>
          </a:solidFill>
          <a:ln w="12700">
            <a:solidFill>
              <a:srgbClr val="E9EEF4">
                <a:alpha val="0"/>
              </a:srgbClr>
            </a:solidFill>
            <a:prstDash val="solid"/>
          </a:ln>
        </p:spPr>
      </p:sp>
      <p:sp>
        <p:nvSpPr>
          <p:cNvPr id="41" name="Shape 39"/>
          <p:cNvSpPr/>
          <p:nvPr/>
        </p:nvSpPr>
        <p:spPr>
          <a:xfrm>
            <a:off x="2700955" y="4162349"/>
            <a:ext cx="341254" cy="47073"/>
          </a:xfrm>
          <a:prstGeom prst="roundRect">
            <a:avLst>
              <a:gd name="adj" fmla="val 19425"/>
            </a:avLst>
          </a:prstGeom>
          <a:solidFill>
            <a:srgbClr val="E9EEF4"/>
          </a:solidFill>
          <a:ln w="12700">
            <a:solidFill>
              <a:srgbClr val="E9EEF4">
                <a:alpha val="0"/>
              </a:srgbClr>
            </a:solidFill>
            <a:prstDash val="solid"/>
          </a:ln>
        </p:spPr>
      </p:sp>
      <p:sp>
        <p:nvSpPr>
          <p:cNvPr id="42" name="Shape 40"/>
          <p:cNvSpPr/>
          <p:nvPr/>
        </p:nvSpPr>
        <p:spPr>
          <a:xfrm>
            <a:off x="3355025" y="4162349"/>
            <a:ext cx="341254" cy="47073"/>
          </a:xfrm>
          <a:prstGeom prst="roundRect">
            <a:avLst>
              <a:gd name="adj" fmla="val 19425"/>
            </a:avLst>
          </a:prstGeom>
          <a:solidFill>
            <a:srgbClr val="E9EEF4"/>
          </a:solidFill>
          <a:ln w="12700">
            <a:solidFill>
              <a:srgbClr val="E9EEF4">
                <a:alpha val="0"/>
              </a:srgbClr>
            </a:solidFill>
            <a:prstDash val="solid"/>
          </a:ln>
        </p:spPr>
      </p:sp>
      <p:sp>
        <p:nvSpPr>
          <p:cNvPr id="43" name="Shape 41"/>
          <p:cNvSpPr/>
          <p:nvPr/>
        </p:nvSpPr>
        <p:spPr>
          <a:xfrm>
            <a:off x="2473452" y="4162349"/>
            <a:ext cx="767822" cy="444581"/>
          </a:xfrm>
          <a:prstGeom prst="ellipse">
            <a:avLst/>
          </a:prstGeom>
          <a:solidFill>
            <a:srgbClr val="202A36"/>
          </a:solidFill>
          <a:ln w="12700">
            <a:solidFill>
              <a:srgbClr val="323B48"/>
            </a:solidFill>
            <a:prstDash val="solid"/>
          </a:ln>
        </p:spPr>
      </p:sp>
      <p:sp>
        <p:nvSpPr>
          <p:cNvPr id="44" name="Shape 42"/>
          <p:cNvSpPr/>
          <p:nvPr/>
        </p:nvSpPr>
        <p:spPr>
          <a:xfrm>
            <a:off x="2501890" y="4136197"/>
            <a:ext cx="710946" cy="366126"/>
          </a:xfrm>
          <a:prstGeom prst="arc">
            <a:avLst/>
          </a:prstGeom>
          <a:solidFill>
            <a:srgbClr val="202A36">
              <a:alpha val="0"/>
            </a:srgbClr>
          </a:solidFill>
          <a:ln w="19050">
            <a:solidFill>
              <a:srgbClr val="9099A7"/>
            </a:solidFill>
            <a:prstDash val="solid"/>
          </a:ln>
        </p:spPr>
      </p:sp>
      <p:sp>
        <p:nvSpPr>
          <p:cNvPr id="45" name="Shape 43"/>
          <p:cNvSpPr/>
          <p:nvPr/>
        </p:nvSpPr>
        <p:spPr>
          <a:xfrm>
            <a:off x="3298149" y="2723998"/>
            <a:ext cx="227503" cy="227503"/>
          </a:xfrm>
          <a:prstGeom prst="ellipse">
            <a:avLst/>
          </a:prstGeom>
          <a:solidFill>
            <a:srgbClr val="FB7185"/>
          </a:solidFill>
          <a:ln w="12700">
            <a:solidFill>
              <a:srgbClr val="FFFFFF"/>
            </a:solidFill>
            <a:prstDash val="solid"/>
          </a:ln>
        </p:spPr>
      </p:sp>
      <p:sp>
        <p:nvSpPr>
          <p:cNvPr id="46" name="Shape 44"/>
          <p:cNvSpPr/>
          <p:nvPr/>
        </p:nvSpPr>
        <p:spPr>
          <a:xfrm>
            <a:off x="3369244" y="2802453"/>
            <a:ext cx="85314" cy="85314"/>
          </a:xfrm>
          <a:prstGeom prst="ellipse">
            <a:avLst/>
          </a:prstGeom>
          <a:solidFill>
            <a:srgbClr val="FFFFFF"/>
          </a:solidFill>
          <a:ln w="2540">
            <a:solidFill>
              <a:srgbClr val="FFFFFF"/>
            </a:solidFill>
            <a:prstDash val="solid"/>
          </a:ln>
        </p:spPr>
      </p:sp>
      <p:sp>
        <p:nvSpPr>
          <p:cNvPr id="47" name="Shape 45"/>
          <p:cNvSpPr/>
          <p:nvPr/>
        </p:nvSpPr>
        <p:spPr>
          <a:xfrm>
            <a:off x="1161288" y="2459736"/>
            <a:ext cx="219456" cy="0"/>
          </a:xfrm>
          <a:prstGeom prst="line">
            <a:avLst/>
          </a:prstGeom>
          <a:noFill/>
          <a:ln w="27940">
            <a:solidFill>
              <a:srgbClr val="D5FF74"/>
            </a:solidFill>
            <a:prstDash val="solid"/>
            <a:headEnd type="none"/>
            <a:tailEnd type="none"/>
          </a:ln>
        </p:spPr>
      </p:sp>
      <p:sp>
        <p:nvSpPr>
          <p:cNvPr id="48" name="Shape 46"/>
          <p:cNvSpPr/>
          <p:nvPr/>
        </p:nvSpPr>
        <p:spPr>
          <a:xfrm>
            <a:off x="1161288" y="2459736"/>
            <a:ext cx="0" cy="219456"/>
          </a:xfrm>
          <a:prstGeom prst="line">
            <a:avLst/>
          </a:prstGeom>
          <a:noFill/>
          <a:ln w="27940">
            <a:solidFill>
              <a:srgbClr val="D5FF74"/>
            </a:solidFill>
            <a:prstDash val="solid"/>
            <a:headEnd type="none"/>
            <a:tailEnd type="none"/>
          </a:ln>
        </p:spPr>
      </p:sp>
      <p:sp>
        <p:nvSpPr>
          <p:cNvPr id="49" name="Shape 47"/>
          <p:cNvSpPr/>
          <p:nvPr/>
        </p:nvSpPr>
        <p:spPr>
          <a:xfrm>
            <a:off x="3703320" y="2459736"/>
            <a:ext cx="-219456" cy="0"/>
          </a:xfrm>
          <a:prstGeom prst="line">
            <a:avLst/>
          </a:prstGeom>
          <a:noFill/>
          <a:ln w="27940">
            <a:solidFill>
              <a:srgbClr val="D5FF74"/>
            </a:solidFill>
            <a:prstDash val="solid"/>
            <a:headEnd type="none"/>
            <a:tailEnd type="none"/>
          </a:ln>
        </p:spPr>
      </p:sp>
      <p:sp>
        <p:nvSpPr>
          <p:cNvPr id="50" name="Shape 48"/>
          <p:cNvSpPr/>
          <p:nvPr/>
        </p:nvSpPr>
        <p:spPr>
          <a:xfrm>
            <a:off x="3703320" y="2459736"/>
            <a:ext cx="0" cy="219456"/>
          </a:xfrm>
          <a:prstGeom prst="line">
            <a:avLst/>
          </a:prstGeom>
          <a:noFill/>
          <a:ln w="27940">
            <a:solidFill>
              <a:srgbClr val="D5FF74"/>
            </a:solidFill>
            <a:prstDash val="solid"/>
            <a:headEnd type="none"/>
            <a:tailEnd type="none"/>
          </a:ln>
        </p:spPr>
      </p:sp>
      <p:sp>
        <p:nvSpPr>
          <p:cNvPr id="51" name="Shape 49"/>
          <p:cNvSpPr/>
          <p:nvPr/>
        </p:nvSpPr>
        <p:spPr>
          <a:xfrm>
            <a:off x="1161288" y="4526280"/>
            <a:ext cx="219456" cy="0"/>
          </a:xfrm>
          <a:prstGeom prst="line">
            <a:avLst/>
          </a:prstGeom>
          <a:noFill/>
          <a:ln w="27940">
            <a:solidFill>
              <a:srgbClr val="D5FF74"/>
            </a:solidFill>
            <a:prstDash val="solid"/>
            <a:headEnd type="none"/>
            <a:tailEnd type="none"/>
          </a:ln>
        </p:spPr>
      </p:sp>
      <p:sp>
        <p:nvSpPr>
          <p:cNvPr id="52" name="Shape 50"/>
          <p:cNvSpPr/>
          <p:nvPr/>
        </p:nvSpPr>
        <p:spPr>
          <a:xfrm>
            <a:off x="1161288" y="4526280"/>
            <a:ext cx="0" cy="-219456"/>
          </a:xfrm>
          <a:prstGeom prst="line">
            <a:avLst/>
          </a:prstGeom>
          <a:noFill/>
          <a:ln w="27940">
            <a:solidFill>
              <a:srgbClr val="D5FF74"/>
            </a:solidFill>
            <a:prstDash val="solid"/>
            <a:headEnd type="none"/>
            <a:tailEnd type="none"/>
          </a:ln>
        </p:spPr>
      </p:sp>
      <p:sp>
        <p:nvSpPr>
          <p:cNvPr id="53" name="Shape 51"/>
          <p:cNvSpPr/>
          <p:nvPr/>
        </p:nvSpPr>
        <p:spPr>
          <a:xfrm>
            <a:off x="3703320" y="4526280"/>
            <a:ext cx="-219456" cy="0"/>
          </a:xfrm>
          <a:prstGeom prst="line">
            <a:avLst/>
          </a:prstGeom>
          <a:noFill/>
          <a:ln w="27940">
            <a:solidFill>
              <a:srgbClr val="D5FF74"/>
            </a:solidFill>
            <a:prstDash val="solid"/>
            <a:headEnd type="none"/>
            <a:tailEnd type="none"/>
          </a:ln>
        </p:spPr>
      </p:sp>
      <p:sp>
        <p:nvSpPr>
          <p:cNvPr id="54" name="Shape 52"/>
          <p:cNvSpPr/>
          <p:nvPr/>
        </p:nvSpPr>
        <p:spPr>
          <a:xfrm>
            <a:off x="3703320" y="4526280"/>
            <a:ext cx="0" cy="-219456"/>
          </a:xfrm>
          <a:prstGeom prst="line">
            <a:avLst/>
          </a:prstGeom>
          <a:noFill/>
          <a:ln w="27940">
            <a:solidFill>
              <a:srgbClr val="D5FF74"/>
            </a:solidFill>
            <a:prstDash val="solid"/>
            <a:headEnd type="none"/>
            <a:tailEnd type="none"/>
          </a:ln>
        </p:spPr>
      </p:sp>
      <p:sp>
        <p:nvSpPr>
          <p:cNvPr id="55" name="Shape 53"/>
          <p:cNvSpPr/>
          <p:nvPr/>
        </p:nvSpPr>
        <p:spPr>
          <a:xfrm>
            <a:off x="2313432" y="5047488"/>
            <a:ext cx="429768" cy="429768"/>
          </a:xfrm>
          <a:prstGeom prst="ellipse">
            <a:avLst/>
          </a:prstGeom>
          <a:solidFill>
            <a:srgbClr val="FFFFFF"/>
          </a:solidFill>
          <a:ln w="12700">
            <a:solidFill>
              <a:srgbClr val="FFFFFF"/>
            </a:solidFill>
            <a:prstDash val="solid"/>
          </a:ln>
        </p:spPr>
      </p:sp>
      <p:sp>
        <p:nvSpPr>
          <p:cNvPr id="56" name="Shape 54"/>
          <p:cNvSpPr/>
          <p:nvPr/>
        </p:nvSpPr>
        <p:spPr>
          <a:xfrm>
            <a:off x="2414016" y="5148072"/>
            <a:ext cx="228600" cy="228600"/>
          </a:xfrm>
          <a:prstGeom prst="ellipse">
            <a:avLst/>
          </a:prstGeom>
          <a:solidFill>
            <a:srgbClr val="2DD4BF"/>
          </a:solidFill>
          <a:ln w="12700">
            <a:solidFill>
              <a:srgbClr val="2DD4BF"/>
            </a:solidFill>
            <a:prstDash val="solid"/>
          </a:ln>
        </p:spPr>
      </p:sp>
      <p:sp>
        <p:nvSpPr>
          <p:cNvPr id="57" name="Text 55"/>
          <p:cNvSpPr txBox="1"/>
          <p:nvPr/>
        </p:nvSpPr>
        <p:spPr>
          <a:xfrm>
            <a:off x="941832" y="5605272"/>
            <a:ext cx="3063240" cy="246888"/>
          </a:xfrm>
          <a:prstGeom prst="rect">
            <a:avLst/>
          </a:prstGeom>
          <a:noFill/>
          <a:ln/>
        </p:spPr>
        <p:txBody>
          <a:bodyPr wrap="square" lIns="0" tIns="0" rIns="0" bIns="0" rtlCol="0" anchor="ctr">
            <a:normAutofit/>
          </a:bodyPr>
          <a:lstStyle/>
          <a:p>
            <a:pPr algn="ctr" indent="0" marL="0">
              <a:buNone/>
            </a:pPr>
            <a:r>
              <a:rPr lang="en-US" sz="1400" b="1" dirty="0">
                <a:solidFill>
                  <a:srgbClr val="132033"/>
                </a:solidFill>
                <a:latin typeface="Aptos" pitchFamily="34" charset="0"/>
                <a:ea typeface="Aptos" pitchFamily="34" charset="-122"/>
                <a:cs typeface="Aptos" pitchFamily="34" charset="-120"/>
              </a:rPr>
              <a:t>Scan civic issue</a:t>
            </a:r>
            <a:endParaRPr lang="en-US" sz="1400" dirty="0"/>
          </a:p>
        </p:txBody>
      </p:sp>
      <p:sp>
        <p:nvSpPr>
          <p:cNvPr id="58" name="Text 56"/>
          <p:cNvSpPr txBox="1"/>
          <p:nvPr/>
        </p:nvSpPr>
        <p:spPr>
          <a:xfrm>
            <a:off x="932688" y="5888736"/>
            <a:ext cx="3108960" cy="164592"/>
          </a:xfrm>
          <a:prstGeom prst="rect">
            <a:avLst/>
          </a:prstGeom>
          <a:noFill/>
          <a:ln/>
        </p:spPr>
        <p:txBody>
          <a:bodyPr wrap="square" lIns="0" tIns="0" rIns="0" bIns="0" rtlCol="0" anchor="ctr">
            <a:normAutofit/>
          </a:bodyPr>
          <a:lstStyle/>
          <a:p>
            <a:pPr algn="ctr" indent="0" marL="0">
              <a:buNone/>
            </a:pPr>
            <a:r>
              <a:rPr lang="en-US" sz="850" dirty="0">
                <a:solidFill>
                  <a:srgbClr val="526176"/>
                </a:solidFill>
                <a:latin typeface="Aptos" pitchFamily="34" charset="0"/>
                <a:ea typeface="Aptos" pitchFamily="34" charset="-122"/>
                <a:cs typeface="Aptos" pitchFamily="34" charset="-120"/>
              </a:rPr>
              <a:t>Photo + optional description + location</a:t>
            </a:r>
            <a:endParaRPr lang="en-US" sz="850" dirty="0"/>
          </a:p>
        </p:txBody>
      </p:sp>
      <p:sp>
        <p:nvSpPr>
          <p:cNvPr id="59" name="Shape 57"/>
          <p:cNvSpPr/>
          <p:nvPr/>
        </p:nvSpPr>
        <p:spPr>
          <a:xfrm>
            <a:off x="4617720" y="1874520"/>
            <a:ext cx="6903720" cy="4297680"/>
          </a:xfrm>
          <a:prstGeom prst="roundRect">
            <a:avLst>
              <a:gd name="adj" fmla="val 3191"/>
            </a:avLst>
          </a:prstGeom>
          <a:solidFill>
            <a:srgbClr val="FFFFFF"/>
          </a:solidFill>
          <a:ln w="12700">
            <a:solidFill>
              <a:srgbClr val="DCE3EA"/>
            </a:solidFill>
            <a:prstDash val="solid"/>
          </a:ln>
        </p:spPr>
      </p:sp>
      <p:sp>
        <p:nvSpPr>
          <p:cNvPr id="60" name="Shape 58"/>
          <p:cNvSpPr/>
          <p:nvPr/>
        </p:nvSpPr>
        <p:spPr>
          <a:xfrm>
            <a:off x="4892040" y="2121408"/>
            <a:ext cx="1170432" cy="274320"/>
          </a:xfrm>
          <a:prstGeom prst="roundRect">
            <a:avLst>
              <a:gd name="adj" fmla="val 36667"/>
            </a:avLst>
          </a:prstGeom>
          <a:solidFill>
            <a:srgbClr val="FFFFFF"/>
          </a:solidFill>
          <a:ln w="12700">
            <a:solidFill>
              <a:srgbClr val="DCE3EA"/>
            </a:solidFill>
            <a:prstDash val="solid"/>
          </a:ln>
        </p:spPr>
      </p:sp>
      <p:sp>
        <p:nvSpPr>
          <p:cNvPr id="61" name="Shape 59"/>
          <p:cNvSpPr/>
          <p:nvPr/>
        </p:nvSpPr>
        <p:spPr>
          <a:xfrm>
            <a:off x="4983480" y="2217420"/>
            <a:ext cx="82296" cy="82296"/>
          </a:xfrm>
          <a:prstGeom prst="ellipse">
            <a:avLst/>
          </a:prstGeom>
          <a:solidFill>
            <a:srgbClr val="2DD4BF"/>
          </a:solidFill>
          <a:ln w="12700">
            <a:solidFill>
              <a:srgbClr val="2DD4BF"/>
            </a:solidFill>
            <a:prstDash val="solid"/>
          </a:ln>
        </p:spPr>
      </p:sp>
      <p:sp>
        <p:nvSpPr>
          <p:cNvPr id="62" name="Text 60"/>
          <p:cNvSpPr txBox="1"/>
          <p:nvPr/>
        </p:nvSpPr>
        <p:spPr>
          <a:xfrm>
            <a:off x="5120640" y="2139696"/>
            <a:ext cx="886968" cy="219456"/>
          </a:xfrm>
          <a:prstGeom prst="rect">
            <a:avLst/>
          </a:prstGeom>
          <a:noFill/>
          <a:ln/>
        </p:spPr>
        <p:txBody>
          <a:bodyPr wrap="square" lIns="0" tIns="0" rIns="0" bIns="0" rtlCol="0" anchor="ctr">
            <a:normAutofit/>
          </a:bodyPr>
          <a:lstStyle/>
          <a:p>
            <a:pPr algn="l" indent="0" marL="0">
              <a:buNone/>
            </a:pPr>
            <a:r>
              <a:rPr lang="en-US" sz="850" b="1" spc="50" kern="0" dirty="0">
                <a:solidFill>
                  <a:srgbClr val="526176"/>
                </a:solidFill>
                <a:latin typeface="Aptos" pitchFamily="34" charset="0"/>
                <a:ea typeface="Aptos" pitchFamily="34" charset="-122"/>
                <a:cs typeface="Aptos" pitchFamily="34" charset="-120"/>
              </a:rPr>
              <a:t>AI ANALYSIS</a:t>
            </a:r>
            <a:endParaRPr lang="en-US" sz="850" dirty="0"/>
          </a:p>
        </p:txBody>
      </p:sp>
      <p:sp>
        <p:nvSpPr>
          <p:cNvPr id="63" name="Shape 61"/>
          <p:cNvSpPr/>
          <p:nvPr/>
        </p:nvSpPr>
        <p:spPr>
          <a:xfrm>
            <a:off x="9646920" y="2121408"/>
            <a:ext cx="1508760" cy="274320"/>
          </a:xfrm>
          <a:prstGeom prst="roundRect">
            <a:avLst>
              <a:gd name="adj" fmla="val 40000"/>
            </a:avLst>
          </a:prstGeom>
          <a:solidFill>
            <a:srgbClr val="D1FAE5"/>
          </a:solidFill>
          <a:ln w="12700">
            <a:solidFill>
              <a:srgbClr val="D1FAE5">
                <a:alpha val="0"/>
              </a:srgbClr>
            </a:solidFill>
            <a:prstDash val="solid"/>
          </a:ln>
        </p:spPr>
      </p:sp>
      <p:sp>
        <p:nvSpPr>
          <p:cNvPr id="64" name="Text 62"/>
          <p:cNvSpPr txBox="1"/>
          <p:nvPr/>
        </p:nvSpPr>
        <p:spPr>
          <a:xfrm>
            <a:off x="9720072" y="2139696"/>
            <a:ext cx="1362456" cy="228600"/>
          </a:xfrm>
          <a:prstGeom prst="rect">
            <a:avLst/>
          </a:prstGeom>
          <a:noFill/>
          <a:ln/>
        </p:spPr>
        <p:txBody>
          <a:bodyPr wrap="square" lIns="0" tIns="0" rIns="0" bIns="0" rtlCol="0" anchor="ctr">
            <a:normAutofit/>
          </a:bodyPr>
          <a:lstStyle/>
          <a:p>
            <a:pPr algn="ctr" indent="0" marL="0">
              <a:buNone/>
            </a:pPr>
            <a:r>
              <a:rPr lang="en-US" sz="850" b="1" dirty="0">
                <a:solidFill>
                  <a:srgbClr val="065F46"/>
                </a:solidFill>
                <a:latin typeface="Aptos" pitchFamily="34" charset="0"/>
                <a:ea typeface="Aptos" pitchFamily="34" charset="-122"/>
                <a:cs typeface="Aptos" pitchFamily="34" charset="-120"/>
              </a:rPr>
              <a:t>VALID CIVIC ISSUE</a:t>
            </a:r>
            <a:endParaRPr lang="en-US" sz="850" dirty="0"/>
          </a:p>
        </p:txBody>
      </p:sp>
      <p:sp>
        <p:nvSpPr>
          <p:cNvPr id="65" name="Text 63"/>
          <p:cNvSpPr txBox="1"/>
          <p:nvPr/>
        </p:nvSpPr>
        <p:spPr>
          <a:xfrm>
            <a:off x="4892040" y="2578608"/>
            <a:ext cx="4389120" cy="347472"/>
          </a:xfrm>
          <a:prstGeom prst="rect">
            <a:avLst/>
          </a:prstGeom>
          <a:noFill/>
          <a:ln/>
        </p:spPr>
        <p:txBody>
          <a:bodyPr wrap="square" lIns="0" tIns="0" rIns="0" bIns="0" rtlCol="0" anchor="ctr">
            <a:normAutofit/>
          </a:bodyPr>
          <a:lstStyle/>
          <a:p>
            <a:pPr algn="l" indent="0" marL="0">
              <a:buNone/>
            </a:pPr>
            <a:r>
              <a:rPr lang="en-US" sz="2200" b="1" dirty="0">
                <a:solidFill>
                  <a:srgbClr val="132033"/>
                </a:solidFill>
                <a:latin typeface="Aptos" pitchFamily="34" charset="0"/>
                <a:ea typeface="Aptos" pitchFamily="34" charset="-122"/>
                <a:cs typeface="Aptos" pitchFamily="34" charset="-120"/>
              </a:rPr>
              <a:t>Road damage detected</a:t>
            </a:r>
            <a:endParaRPr lang="en-US" sz="2200" dirty="0"/>
          </a:p>
        </p:txBody>
      </p:sp>
      <p:sp>
        <p:nvSpPr>
          <p:cNvPr id="66" name="Text 64"/>
          <p:cNvSpPr txBox="1"/>
          <p:nvPr/>
        </p:nvSpPr>
        <p:spPr>
          <a:xfrm>
            <a:off x="4892040" y="2971800"/>
            <a:ext cx="5669280" cy="292608"/>
          </a:xfrm>
          <a:prstGeom prst="rect">
            <a:avLst/>
          </a:prstGeom>
          <a:noFill/>
          <a:ln/>
        </p:spPr>
        <p:txBody>
          <a:bodyPr wrap="square" lIns="0" tIns="0" rIns="0" bIns="0" rtlCol="0" anchor="ctr">
            <a:normAutofit/>
          </a:bodyPr>
          <a:lstStyle/>
          <a:p>
            <a:pPr algn="l" indent="0" marL="0">
              <a:buNone/>
            </a:pPr>
            <a:r>
              <a:rPr lang="en-US" sz="1100" dirty="0">
                <a:solidFill>
                  <a:srgbClr val="526176"/>
                </a:solidFill>
                <a:latin typeface="Aptos" pitchFamily="34" charset="0"/>
                <a:ea typeface="Aptos" pitchFamily="34" charset="-122"/>
                <a:cs typeface="Aptos" pitchFamily="34" charset="-120"/>
              </a:rPr>
              <a:t>“Large pothole beside a pedestrian pathway.”</a:t>
            </a:r>
            <a:endParaRPr lang="en-US" sz="1100" dirty="0"/>
          </a:p>
        </p:txBody>
      </p:sp>
      <p:sp>
        <p:nvSpPr>
          <p:cNvPr id="67" name="Shape 65"/>
          <p:cNvSpPr/>
          <p:nvPr/>
        </p:nvSpPr>
        <p:spPr>
          <a:xfrm>
            <a:off x="4892040" y="3410712"/>
            <a:ext cx="6281928" cy="0"/>
          </a:xfrm>
          <a:prstGeom prst="line">
            <a:avLst/>
          </a:prstGeom>
          <a:noFill/>
          <a:ln w="10160">
            <a:solidFill>
              <a:srgbClr val="DCE3EA"/>
            </a:solidFill>
            <a:prstDash val="solid"/>
            <a:headEnd type="none"/>
            <a:tailEnd type="none"/>
          </a:ln>
        </p:spPr>
      </p:sp>
      <p:sp>
        <p:nvSpPr>
          <p:cNvPr id="68" name="Text 66"/>
          <p:cNvSpPr txBox="1"/>
          <p:nvPr/>
        </p:nvSpPr>
        <p:spPr>
          <a:xfrm>
            <a:off x="4956048" y="3639312"/>
            <a:ext cx="1901038" cy="182880"/>
          </a:xfrm>
          <a:prstGeom prst="rect">
            <a:avLst/>
          </a:prstGeom>
          <a:noFill/>
          <a:ln/>
        </p:spPr>
        <p:txBody>
          <a:bodyPr wrap="square" lIns="0" tIns="0" rIns="0" bIns="0" rtlCol="0" anchor="ctr">
            <a:normAutofit/>
          </a:bodyPr>
          <a:lstStyle/>
          <a:p>
            <a:pPr algn="l" indent="0" marL="0">
              <a:buNone/>
            </a:pPr>
            <a:r>
              <a:rPr lang="en-US" sz="1000" b="1" dirty="0">
                <a:solidFill>
                  <a:srgbClr val="526176"/>
                </a:solidFill>
                <a:latin typeface="Aptos" pitchFamily="34" charset="0"/>
                <a:ea typeface="Aptos" pitchFamily="34" charset="-122"/>
                <a:cs typeface="Aptos" pitchFamily="34" charset="-120"/>
              </a:rPr>
              <a:t>Severity</a:t>
            </a:r>
            <a:endParaRPr lang="en-US" sz="1000" dirty="0"/>
          </a:p>
        </p:txBody>
      </p:sp>
      <p:sp>
        <p:nvSpPr>
          <p:cNvPr id="69" name="Text 67"/>
          <p:cNvSpPr txBox="1"/>
          <p:nvPr/>
        </p:nvSpPr>
        <p:spPr>
          <a:xfrm>
            <a:off x="8001000" y="3639312"/>
            <a:ext cx="1830629" cy="182880"/>
          </a:xfrm>
          <a:prstGeom prst="rect">
            <a:avLst/>
          </a:prstGeom>
          <a:noFill/>
          <a:ln/>
        </p:spPr>
        <p:txBody>
          <a:bodyPr wrap="square" lIns="0" tIns="0" rIns="0" bIns="0" rtlCol="0" anchor="ctr">
            <a:normAutofit/>
          </a:bodyPr>
          <a:lstStyle/>
          <a:p>
            <a:pPr algn="r" indent="0" marL="0">
              <a:buNone/>
            </a:pPr>
            <a:r>
              <a:rPr lang="en-US" sz="1000" b="1" dirty="0">
                <a:solidFill>
                  <a:srgbClr val="132033"/>
                </a:solidFill>
                <a:latin typeface="Aptos" pitchFamily="34" charset="0"/>
                <a:ea typeface="Aptos" pitchFamily="34" charset="-122"/>
                <a:cs typeface="Aptos" pitchFamily="34" charset="-120"/>
              </a:rPr>
              <a:t>86</a:t>
            </a:r>
            <a:endParaRPr lang="en-US" sz="1000" dirty="0"/>
          </a:p>
        </p:txBody>
      </p:sp>
      <p:sp>
        <p:nvSpPr>
          <p:cNvPr id="70" name="Shape 68"/>
          <p:cNvSpPr/>
          <p:nvPr/>
        </p:nvSpPr>
        <p:spPr>
          <a:xfrm>
            <a:off x="4956048" y="3886200"/>
            <a:ext cx="3520440" cy="91440"/>
          </a:xfrm>
          <a:prstGeom prst="roundRect">
            <a:avLst>
              <a:gd name="adj" fmla="val 50000"/>
            </a:avLst>
          </a:prstGeom>
          <a:solidFill>
            <a:srgbClr val="E7EDF3"/>
          </a:solidFill>
          <a:ln w="12700">
            <a:solidFill>
              <a:srgbClr val="E7EDF3">
                <a:alpha val="0"/>
              </a:srgbClr>
            </a:solidFill>
            <a:prstDash val="solid"/>
          </a:ln>
        </p:spPr>
      </p:sp>
      <p:sp>
        <p:nvSpPr>
          <p:cNvPr id="71" name="Shape 69"/>
          <p:cNvSpPr/>
          <p:nvPr/>
        </p:nvSpPr>
        <p:spPr>
          <a:xfrm>
            <a:off x="4956048" y="3886200"/>
            <a:ext cx="3027578" cy="91440"/>
          </a:xfrm>
          <a:prstGeom prst="roundRect">
            <a:avLst>
              <a:gd name="adj" fmla="val 50000"/>
            </a:avLst>
          </a:prstGeom>
          <a:solidFill>
            <a:srgbClr val="FB7185"/>
          </a:solidFill>
          <a:ln w="12700">
            <a:solidFill>
              <a:srgbClr val="FB7185">
                <a:alpha val="0"/>
              </a:srgbClr>
            </a:solidFill>
            <a:prstDash val="solid"/>
          </a:ln>
        </p:spPr>
      </p:sp>
      <p:sp>
        <p:nvSpPr>
          <p:cNvPr id="72" name="Text 70"/>
          <p:cNvSpPr txBox="1"/>
          <p:nvPr/>
        </p:nvSpPr>
        <p:spPr>
          <a:xfrm>
            <a:off x="4956048" y="4142232"/>
            <a:ext cx="1901038" cy="182880"/>
          </a:xfrm>
          <a:prstGeom prst="rect">
            <a:avLst/>
          </a:prstGeom>
          <a:noFill/>
          <a:ln/>
        </p:spPr>
        <p:txBody>
          <a:bodyPr wrap="square" lIns="0" tIns="0" rIns="0" bIns="0" rtlCol="0" anchor="ctr">
            <a:normAutofit/>
          </a:bodyPr>
          <a:lstStyle/>
          <a:p>
            <a:pPr algn="l" indent="0" marL="0">
              <a:buNone/>
            </a:pPr>
            <a:r>
              <a:rPr lang="en-US" sz="1000" b="1" dirty="0">
                <a:solidFill>
                  <a:srgbClr val="526176"/>
                </a:solidFill>
                <a:latin typeface="Aptos" pitchFamily="34" charset="0"/>
                <a:ea typeface="Aptos" pitchFamily="34" charset="-122"/>
                <a:cs typeface="Aptos" pitchFamily="34" charset="-120"/>
              </a:rPr>
              <a:t>Public impact</a:t>
            </a:r>
            <a:endParaRPr lang="en-US" sz="1000" dirty="0"/>
          </a:p>
        </p:txBody>
      </p:sp>
      <p:sp>
        <p:nvSpPr>
          <p:cNvPr id="73" name="Text 71"/>
          <p:cNvSpPr txBox="1"/>
          <p:nvPr/>
        </p:nvSpPr>
        <p:spPr>
          <a:xfrm>
            <a:off x="8001000" y="4142232"/>
            <a:ext cx="1830629" cy="182880"/>
          </a:xfrm>
          <a:prstGeom prst="rect">
            <a:avLst/>
          </a:prstGeom>
          <a:noFill/>
          <a:ln/>
        </p:spPr>
        <p:txBody>
          <a:bodyPr wrap="square" lIns="0" tIns="0" rIns="0" bIns="0" rtlCol="0" anchor="ctr">
            <a:normAutofit/>
          </a:bodyPr>
          <a:lstStyle/>
          <a:p>
            <a:pPr algn="r" indent="0" marL="0">
              <a:buNone/>
            </a:pPr>
            <a:r>
              <a:rPr lang="en-US" sz="1000" b="1" dirty="0">
                <a:solidFill>
                  <a:srgbClr val="132033"/>
                </a:solidFill>
                <a:latin typeface="Aptos" pitchFamily="34" charset="0"/>
                <a:ea typeface="Aptos" pitchFamily="34" charset="-122"/>
                <a:cs typeface="Aptos" pitchFamily="34" charset="-120"/>
              </a:rPr>
              <a:t>78</a:t>
            </a:r>
            <a:endParaRPr lang="en-US" sz="1000" dirty="0"/>
          </a:p>
        </p:txBody>
      </p:sp>
      <p:sp>
        <p:nvSpPr>
          <p:cNvPr id="74" name="Shape 72"/>
          <p:cNvSpPr/>
          <p:nvPr/>
        </p:nvSpPr>
        <p:spPr>
          <a:xfrm>
            <a:off x="4956048" y="4389120"/>
            <a:ext cx="3520440" cy="91440"/>
          </a:xfrm>
          <a:prstGeom prst="roundRect">
            <a:avLst>
              <a:gd name="adj" fmla="val 50000"/>
            </a:avLst>
          </a:prstGeom>
          <a:solidFill>
            <a:srgbClr val="E7EDF3"/>
          </a:solidFill>
          <a:ln w="12700">
            <a:solidFill>
              <a:srgbClr val="E7EDF3">
                <a:alpha val="0"/>
              </a:srgbClr>
            </a:solidFill>
            <a:prstDash val="solid"/>
          </a:ln>
        </p:spPr>
      </p:sp>
      <p:sp>
        <p:nvSpPr>
          <p:cNvPr id="75" name="Shape 73"/>
          <p:cNvSpPr/>
          <p:nvPr/>
        </p:nvSpPr>
        <p:spPr>
          <a:xfrm>
            <a:off x="4956048" y="4389120"/>
            <a:ext cx="2745943" cy="91440"/>
          </a:xfrm>
          <a:prstGeom prst="roundRect">
            <a:avLst>
              <a:gd name="adj" fmla="val 50000"/>
            </a:avLst>
          </a:prstGeom>
          <a:solidFill>
            <a:srgbClr val="7DD3FC"/>
          </a:solidFill>
          <a:ln w="12700">
            <a:solidFill>
              <a:srgbClr val="7DD3FC">
                <a:alpha val="0"/>
              </a:srgbClr>
            </a:solidFill>
            <a:prstDash val="solid"/>
          </a:ln>
        </p:spPr>
      </p:sp>
      <p:sp>
        <p:nvSpPr>
          <p:cNvPr id="76" name="Text 74"/>
          <p:cNvSpPr txBox="1"/>
          <p:nvPr/>
        </p:nvSpPr>
        <p:spPr>
          <a:xfrm>
            <a:off x="4956048" y="4645152"/>
            <a:ext cx="1901038" cy="182880"/>
          </a:xfrm>
          <a:prstGeom prst="rect">
            <a:avLst/>
          </a:prstGeom>
          <a:noFill/>
          <a:ln/>
        </p:spPr>
        <p:txBody>
          <a:bodyPr wrap="square" lIns="0" tIns="0" rIns="0" bIns="0" rtlCol="0" anchor="ctr">
            <a:normAutofit/>
          </a:bodyPr>
          <a:lstStyle/>
          <a:p>
            <a:pPr algn="l" indent="0" marL="0">
              <a:buNone/>
            </a:pPr>
            <a:r>
              <a:rPr lang="en-US" sz="1000" b="1" dirty="0">
                <a:solidFill>
                  <a:srgbClr val="526176"/>
                </a:solidFill>
                <a:latin typeface="Aptos" pitchFamily="34" charset="0"/>
                <a:ea typeface="Aptos" pitchFamily="34" charset="-122"/>
                <a:cs typeface="Aptos" pitchFamily="34" charset="-120"/>
              </a:rPr>
              <a:t>Safety risk</a:t>
            </a:r>
            <a:endParaRPr lang="en-US" sz="1000" dirty="0"/>
          </a:p>
        </p:txBody>
      </p:sp>
      <p:sp>
        <p:nvSpPr>
          <p:cNvPr id="77" name="Text 75"/>
          <p:cNvSpPr txBox="1"/>
          <p:nvPr/>
        </p:nvSpPr>
        <p:spPr>
          <a:xfrm>
            <a:off x="8001000" y="4645152"/>
            <a:ext cx="1830629" cy="182880"/>
          </a:xfrm>
          <a:prstGeom prst="rect">
            <a:avLst/>
          </a:prstGeom>
          <a:noFill/>
          <a:ln/>
        </p:spPr>
        <p:txBody>
          <a:bodyPr wrap="square" lIns="0" tIns="0" rIns="0" bIns="0" rtlCol="0" anchor="ctr">
            <a:normAutofit/>
          </a:bodyPr>
          <a:lstStyle/>
          <a:p>
            <a:pPr algn="r" indent="0" marL="0">
              <a:buNone/>
            </a:pPr>
            <a:r>
              <a:rPr lang="en-US" sz="1000" b="1" dirty="0">
                <a:solidFill>
                  <a:srgbClr val="132033"/>
                </a:solidFill>
                <a:latin typeface="Aptos" pitchFamily="34" charset="0"/>
                <a:ea typeface="Aptos" pitchFamily="34" charset="-122"/>
                <a:cs typeface="Aptos" pitchFamily="34" charset="-120"/>
              </a:rPr>
              <a:t>82</a:t>
            </a:r>
            <a:endParaRPr lang="en-US" sz="1000" dirty="0"/>
          </a:p>
        </p:txBody>
      </p:sp>
      <p:sp>
        <p:nvSpPr>
          <p:cNvPr id="78" name="Shape 76"/>
          <p:cNvSpPr/>
          <p:nvPr/>
        </p:nvSpPr>
        <p:spPr>
          <a:xfrm>
            <a:off x="4956048" y="4892040"/>
            <a:ext cx="3520440" cy="91440"/>
          </a:xfrm>
          <a:prstGeom prst="roundRect">
            <a:avLst>
              <a:gd name="adj" fmla="val 50000"/>
            </a:avLst>
          </a:prstGeom>
          <a:solidFill>
            <a:srgbClr val="E7EDF3"/>
          </a:solidFill>
          <a:ln w="12700">
            <a:solidFill>
              <a:srgbClr val="E7EDF3">
                <a:alpha val="0"/>
              </a:srgbClr>
            </a:solidFill>
            <a:prstDash val="solid"/>
          </a:ln>
        </p:spPr>
      </p:sp>
      <p:sp>
        <p:nvSpPr>
          <p:cNvPr id="79" name="Shape 77"/>
          <p:cNvSpPr/>
          <p:nvPr/>
        </p:nvSpPr>
        <p:spPr>
          <a:xfrm>
            <a:off x="4956048" y="4892040"/>
            <a:ext cx="2886761" cy="91440"/>
          </a:xfrm>
          <a:prstGeom prst="roundRect">
            <a:avLst>
              <a:gd name="adj" fmla="val 50000"/>
            </a:avLst>
          </a:prstGeom>
          <a:solidFill>
            <a:srgbClr val="FFC66D"/>
          </a:solidFill>
          <a:ln w="12700">
            <a:solidFill>
              <a:srgbClr val="FFC66D">
                <a:alpha val="0"/>
              </a:srgbClr>
            </a:solidFill>
            <a:prstDash val="solid"/>
          </a:ln>
        </p:spPr>
      </p:sp>
      <p:sp>
        <p:nvSpPr>
          <p:cNvPr id="80" name="Text 78"/>
          <p:cNvSpPr txBox="1"/>
          <p:nvPr/>
        </p:nvSpPr>
        <p:spPr>
          <a:xfrm>
            <a:off x="4956048" y="5148072"/>
            <a:ext cx="1901038" cy="182880"/>
          </a:xfrm>
          <a:prstGeom prst="rect">
            <a:avLst/>
          </a:prstGeom>
          <a:noFill/>
          <a:ln/>
        </p:spPr>
        <p:txBody>
          <a:bodyPr wrap="square" lIns="0" tIns="0" rIns="0" bIns="0" rtlCol="0" anchor="ctr">
            <a:normAutofit/>
          </a:bodyPr>
          <a:lstStyle/>
          <a:p>
            <a:pPr algn="l" indent="0" marL="0">
              <a:buNone/>
            </a:pPr>
            <a:r>
              <a:rPr lang="en-US" sz="1000" b="1" dirty="0">
                <a:solidFill>
                  <a:srgbClr val="526176"/>
                </a:solidFill>
                <a:latin typeface="Aptos" pitchFamily="34" charset="0"/>
                <a:ea typeface="Aptos" pitchFamily="34" charset="-122"/>
                <a:cs typeface="Aptos" pitchFamily="34" charset="-120"/>
              </a:rPr>
              <a:t>Evidence quality</a:t>
            </a:r>
            <a:endParaRPr lang="en-US" sz="1000" dirty="0"/>
          </a:p>
        </p:txBody>
      </p:sp>
      <p:sp>
        <p:nvSpPr>
          <p:cNvPr id="81" name="Text 79"/>
          <p:cNvSpPr txBox="1"/>
          <p:nvPr/>
        </p:nvSpPr>
        <p:spPr>
          <a:xfrm>
            <a:off x="8001000" y="5148072"/>
            <a:ext cx="1830629" cy="182880"/>
          </a:xfrm>
          <a:prstGeom prst="rect">
            <a:avLst/>
          </a:prstGeom>
          <a:noFill/>
          <a:ln/>
        </p:spPr>
        <p:txBody>
          <a:bodyPr wrap="square" lIns="0" tIns="0" rIns="0" bIns="0" rtlCol="0" anchor="ctr">
            <a:normAutofit/>
          </a:bodyPr>
          <a:lstStyle/>
          <a:p>
            <a:pPr algn="r" indent="0" marL="0">
              <a:buNone/>
            </a:pPr>
            <a:r>
              <a:rPr lang="en-US" sz="1000" b="1" dirty="0">
                <a:solidFill>
                  <a:srgbClr val="132033"/>
                </a:solidFill>
                <a:latin typeface="Aptos" pitchFamily="34" charset="0"/>
                <a:ea typeface="Aptos" pitchFamily="34" charset="-122"/>
                <a:cs typeface="Aptos" pitchFamily="34" charset="-120"/>
              </a:rPr>
              <a:t>91</a:t>
            </a:r>
            <a:endParaRPr lang="en-US" sz="1000" dirty="0"/>
          </a:p>
        </p:txBody>
      </p:sp>
      <p:sp>
        <p:nvSpPr>
          <p:cNvPr id="82" name="Shape 80"/>
          <p:cNvSpPr/>
          <p:nvPr/>
        </p:nvSpPr>
        <p:spPr>
          <a:xfrm>
            <a:off x="4956048" y="5394960"/>
            <a:ext cx="3520440" cy="91440"/>
          </a:xfrm>
          <a:prstGeom prst="roundRect">
            <a:avLst>
              <a:gd name="adj" fmla="val 50000"/>
            </a:avLst>
          </a:prstGeom>
          <a:solidFill>
            <a:srgbClr val="E7EDF3"/>
          </a:solidFill>
          <a:ln w="12700">
            <a:solidFill>
              <a:srgbClr val="E7EDF3">
                <a:alpha val="0"/>
              </a:srgbClr>
            </a:solidFill>
            <a:prstDash val="solid"/>
          </a:ln>
        </p:spPr>
      </p:sp>
      <p:sp>
        <p:nvSpPr>
          <p:cNvPr id="83" name="Shape 81"/>
          <p:cNvSpPr/>
          <p:nvPr/>
        </p:nvSpPr>
        <p:spPr>
          <a:xfrm>
            <a:off x="4956048" y="5394960"/>
            <a:ext cx="3203600" cy="91440"/>
          </a:xfrm>
          <a:prstGeom prst="roundRect">
            <a:avLst>
              <a:gd name="adj" fmla="val 50000"/>
            </a:avLst>
          </a:prstGeom>
          <a:solidFill>
            <a:srgbClr val="2DD4BF"/>
          </a:solidFill>
          <a:ln w="12700">
            <a:solidFill>
              <a:srgbClr val="2DD4BF">
                <a:alpha val="0"/>
              </a:srgbClr>
            </a:solidFill>
            <a:prstDash val="solid"/>
          </a:ln>
        </p:spPr>
      </p:sp>
      <p:sp>
        <p:nvSpPr>
          <p:cNvPr id="84" name="Shape 82"/>
          <p:cNvSpPr/>
          <p:nvPr/>
        </p:nvSpPr>
        <p:spPr>
          <a:xfrm>
            <a:off x="8887968" y="3611880"/>
            <a:ext cx="2267712" cy="2011680"/>
          </a:xfrm>
          <a:prstGeom prst="roundRect">
            <a:avLst>
              <a:gd name="adj" fmla="val 6818"/>
            </a:avLst>
          </a:prstGeom>
          <a:solidFill>
            <a:srgbClr val="0B1220"/>
          </a:solidFill>
          <a:ln w="12700">
            <a:solidFill>
              <a:srgbClr val="0B1220">
                <a:alpha val="0"/>
              </a:srgbClr>
            </a:solidFill>
            <a:prstDash val="solid"/>
          </a:ln>
        </p:spPr>
      </p:sp>
      <p:sp>
        <p:nvSpPr>
          <p:cNvPr id="85" name="Text 83"/>
          <p:cNvSpPr txBox="1"/>
          <p:nvPr/>
        </p:nvSpPr>
        <p:spPr>
          <a:xfrm>
            <a:off x="9125712" y="3858768"/>
            <a:ext cx="1737360" cy="182880"/>
          </a:xfrm>
          <a:prstGeom prst="rect">
            <a:avLst/>
          </a:prstGeom>
          <a:noFill/>
          <a:ln/>
        </p:spPr>
        <p:txBody>
          <a:bodyPr wrap="square" lIns="0" tIns="0" rIns="0" bIns="0" rtlCol="0" anchor="ctr">
            <a:normAutofit/>
          </a:bodyPr>
          <a:lstStyle/>
          <a:p>
            <a:pPr algn="ctr" indent="0" marL="0">
              <a:buNone/>
            </a:pPr>
            <a:r>
              <a:rPr lang="en-US" sz="900" b="1" spc="100" kern="0" dirty="0">
                <a:solidFill>
                  <a:srgbClr val="9CAFC2"/>
                </a:solidFill>
                <a:latin typeface="Aptos" pitchFamily="34" charset="0"/>
                <a:ea typeface="Aptos" pitchFamily="34" charset="-122"/>
                <a:cs typeface="Aptos" pitchFamily="34" charset="-120"/>
              </a:rPr>
              <a:t>PRIORITY</a:t>
            </a:r>
            <a:endParaRPr lang="en-US" sz="900" dirty="0"/>
          </a:p>
        </p:txBody>
      </p:sp>
      <p:sp>
        <p:nvSpPr>
          <p:cNvPr id="86" name="Text 84"/>
          <p:cNvSpPr txBox="1"/>
          <p:nvPr/>
        </p:nvSpPr>
        <p:spPr>
          <a:xfrm>
            <a:off x="9125712" y="4105656"/>
            <a:ext cx="1737360" cy="704088"/>
          </a:xfrm>
          <a:prstGeom prst="rect">
            <a:avLst/>
          </a:prstGeom>
          <a:noFill/>
          <a:ln/>
        </p:spPr>
        <p:txBody>
          <a:bodyPr wrap="square" lIns="0" tIns="0" rIns="0" bIns="0" rtlCol="0" anchor="ctr">
            <a:normAutofit/>
          </a:bodyPr>
          <a:lstStyle/>
          <a:p>
            <a:pPr algn="ctr" indent="0" marL="0">
              <a:buNone/>
            </a:pPr>
            <a:r>
              <a:rPr lang="en-US" sz="4200" b="1" dirty="0">
                <a:solidFill>
                  <a:srgbClr val="D5FF74"/>
                </a:solidFill>
                <a:latin typeface="Aptos Display" pitchFamily="34" charset="0"/>
                <a:ea typeface="Aptos Display" pitchFamily="34" charset="-122"/>
                <a:cs typeface="Aptos Display" pitchFamily="34" charset="-120"/>
              </a:rPr>
              <a:t>89</a:t>
            </a:r>
            <a:endParaRPr lang="en-US" sz="4200" dirty="0"/>
          </a:p>
        </p:txBody>
      </p:sp>
      <p:sp>
        <p:nvSpPr>
          <p:cNvPr id="87" name="Text 85"/>
          <p:cNvSpPr txBox="1"/>
          <p:nvPr/>
        </p:nvSpPr>
        <p:spPr>
          <a:xfrm>
            <a:off x="9144000" y="4828032"/>
            <a:ext cx="1719072" cy="201168"/>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latin typeface="Aptos" pitchFamily="34" charset="0"/>
                <a:ea typeface="Aptos" pitchFamily="34" charset="-122"/>
                <a:cs typeface="Aptos" pitchFamily="34" charset="-120"/>
              </a:rPr>
              <a:t>/ 100</a:t>
            </a:r>
            <a:endParaRPr lang="en-US" sz="1200" dirty="0"/>
          </a:p>
        </p:txBody>
      </p:sp>
      <p:sp>
        <p:nvSpPr>
          <p:cNvPr id="88" name="Text 86"/>
          <p:cNvSpPr txBox="1"/>
          <p:nvPr/>
        </p:nvSpPr>
        <p:spPr>
          <a:xfrm>
            <a:off x="9052560" y="5340096"/>
            <a:ext cx="1938528" cy="155448"/>
          </a:xfrm>
          <a:prstGeom prst="rect">
            <a:avLst/>
          </a:prstGeom>
          <a:noFill/>
          <a:ln/>
        </p:spPr>
        <p:txBody>
          <a:bodyPr wrap="square" lIns="0" tIns="0" rIns="0" bIns="0" rtlCol="0" anchor="ctr">
            <a:normAutofit/>
          </a:bodyPr>
          <a:lstStyle/>
          <a:p>
            <a:pPr algn="ctr" indent="0" marL="0">
              <a:buNone/>
            </a:pPr>
            <a:r>
              <a:rPr lang="en-US" sz="750" dirty="0">
                <a:solidFill>
                  <a:srgbClr val="8DA0B7"/>
                </a:solidFill>
                <a:latin typeface="Aptos" pitchFamily="34" charset="0"/>
                <a:ea typeface="Aptos" pitchFamily="34" charset="-122"/>
                <a:cs typeface="Aptos" pitchFamily="34" charset="-120"/>
              </a:rPr>
              <a:t>Illustrative demo result</a:t>
            </a:r>
            <a:endParaRPr lang="en-US" sz="750" dirty="0"/>
          </a:p>
        </p:txBody>
      </p:sp>
      <p:sp>
        <p:nvSpPr>
          <p:cNvPr id="89" name="Text 87"/>
          <p:cNvSpPr txBox="1"/>
          <p:nvPr/>
        </p:nvSpPr>
        <p:spPr>
          <a:xfrm>
            <a:off x="4919472" y="5742432"/>
            <a:ext cx="6080760" cy="201168"/>
          </a:xfrm>
          <a:prstGeom prst="rect">
            <a:avLst/>
          </a:prstGeom>
          <a:noFill/>
          <a:ln/>
        </p:spPr>
        <p:txBody>
          <a:bodyPr wrap="square" lIns="0" tIns="0" rIns="0" bIns="0" rtlCol="0" anchor="ctr">
            <a:normAutofit/>
          </a:bodyPr>
          <a:lstStyle/>
          <a:p>
            <a:pPr algn="l" indent="0" marL="0">
              <a:buNone/>
            </a:pPr>
            <a:r>
              <a:rPr lang="en-US" sz="1200" b="1" dirty="0">
                <a:solidFill>
                  <a:srgbClr val="0F766E"/>
                </a:solidFill>
                <a:latin typeface="Aptos" pitchFamily="34" charset="0"/>
                <a:ea typeface="Aptos" pitchFamily="34" charset="-122"/>
                <a:cs typeface="Aptos" pitchFamily="34" charset="-120"/>
              </a:rPr>
              <a:t>Next: generate the complaint automatically</a:t>
            </a:r>
            <a:endParaRPr lang="en-US" sz="1200" dirty="0"/>
          </a:p>
        </p:txBody>
      </p:sp>
      <p:sp>
        <p:nvSpPr>
          <p:cNvPr id="90" name="Shape 88"/>
          <p:cNvSpPr/>
          <p:nvPr/>
        </p:nvSpPr>
        <p:spPr>
          <a:xfrm>
            <a:off x="566928" y="6510528"/>
            <a:ext cx="11064240" cy="0"/>
          </a:xfrm>
          <a:prstGeom prst="line">
            <a:avLst/>
          </a:prstGeom>
          <a:noFill/>
          <a:ln w="8890">
            <a:solidFill>
              <a:srgbClr val="DCE3EA"/>
            </a:solidFill>
            <a:prstDash val="solid"/>
            <a:headEnd type="none"/>
            <a:tailEnd type="none"/>
          </a:ln>
        </p:spPr>
      </p:sp>
      <p:sp>
        <p:nvSpPr>
          <p:cNvPr id="91" name="Text 89"/>
          <p:cNvSpPr txBox="1"/>
          <p:nvPr/>
        </p:nvSpPr>
        <p:spPr>
          <a:xfrm>
            <a:off x="585216" y="6556248"/>
            <a:ext cx="5120640" cy="137160"/>
          </a:xfrm>
          <a:prstGeom prst="rect">
            <a:avLst/>
          </a:prstGeom>
          <a:noFill/>
          <a:ln/>
        </p:spPr>
        <p:txBody>
          <a:bodyPr wrap="square" lIns="0" tIns="0" rIns="0" bIns="0" rtlCol="0" anchor="ctr">
            <a:normAutofit/>
          </a:bodyPr>
          <a:lstStyle/>
          <a:p>
            <a:pPr algn="l" indent="0" marL="0">
              <a:buNone/>
            </a:pPr>
            <a:r>
              <a:rPr lang="en-US" sz="700" b="1" spc="50" kern="0" dirty="0">
                <a:solidFill>
                  <a:srgbClr val="7C8A9A"/>
                </a:solidFill>
                <a:latin typeface="Aptos" pitchFamily="34" charset="0"/>
                <a:ea typeface="Aptos" pitchFamily="34" charset="-122"/>
                <a:cs typeface="Aptos" pitchFamily="34" charset="-120"/>
              </a:rPr>
              <a:t>CIVICFIX AI  •  CONCEPT / PROTOTYPE PITCH</a:t>
            </a:r>
            <a:endParaRPr lang="en-US" sz="700" dirty="0"/>
          </a:p>
        </p:txBody>
      </p:sp>
      <p:sp>
        <p:nvSpPr>
          <p:cNvPr id="92" name="Text 90"/>
          <p:cNvSpPr txBox="1"/>
          <p:nvPr/>
        </p:nvSpPr>
        <p:spPr>
          <a:xfrm>
            <a:off x="11064240" y="6547104"/>
            <a:ext cx="502920" cy="146304"/>
          </a:xfrm>
          <a:prstGeom prst="rect">
            <a:avLst/>
          </a:prstGeom>
          <a:noFill/>
          <a:ln/>
        </p:spPr>
        <p:txBody>
          <a:bodyPr wrap="square" lIns="0" tIns="0" rIns="0" bIns="0" rtlCol="0" anchor="ctr">
            <a:normAutofit/>
          </a:bodyPr>
          <a:lstStyle/>
          <a:p>
            <a:pPr algn="r" indent="0" marL="0">
              <a:buNone/>
            </a:pPr>
            <a:r>
              <a:rPr lang="en-US" sz="800" b="1" dirty="0">
                <a:solidFill>
                  <a:srgbClr val="7C8A9A"/>
                </a:solidFill>
                <a:latin typeface="Aptos" pitchFamily="34" charset="0"/>
                <a:ea typeface="Aptos" pitchFamily="34" charset="-122"/>
                <a:cs typeface="Aptos" pitchFamily="34" charset="-120"/>
              </a:rPr>
              <a:t>04</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220"/>
          </a:solidFill>
          <a:ln w="12700">
            <a:solidFill>
              <a:srgbClr val="0B1220">
                <a:alpha val="0"/>
              </a:srgbClr>
            </a:solidFill>
            <a:prstDash val="solid"/>
          </a:ln>
        </p:spPr>
      </p:sp>
      <p:sp>
        <p:nvSpPr>
          <p:cNvPr id="3" name="Shape 1"/>
          <p:cNvSpPr/>
          <p:nvPr/>
        </p:nvSpPr>
        <p:spPr>
          <a:xfrm>
            <a:off x="566928" y="384048"/>
            <a:ext cx="1417320" cy="274320"/>
          </a:xfrm>
          <a:prstGeom prst="roundRect">
            <a:avLst>
              <a:gd name="adj" fmla="val 36667"/>
            </a:avLst>
          </a:prstGeom>
          <a:solidFill>
            <a:srgbClr val="17263A"/>
          </a:solidFill>
          <a:ln w="12700">
            <a:solidFill>
              <a:srgbClr val="17263A">
                <a:alpha val="0"/>
              </a:srgbClr>
            </a:solidFill>
            <a:prstDash val="solid"/>
          </a:ln>
        </p:spPr>
      </p:sp>
      <p:sp>
        <p:nvSpPr>
          <p:cNvPr id="4" name="Shape 2"/>
          <p:cNvSpPr/>
          <p:nvPr/>
        </p:nvSpPr>
        <p:spPr>
          <a:xfrm>
            <a:off x="658368" y="480060"/>
            <a:ext cx="82296" cy="82296"/>
          </a:xfrm>
          <a:prstGeom prst="ellipse">
            <a:avLst/>
          </a:prstGeom>
          <a:solidFill>
            <a:srgbClr val="2DD4BF"/>
          </a:solidFill>
          <a:ln w="12700">
            <a:solidFill>
              <a:srgbClr val="2DD4BF"/>
            </a:solidFill>
            <a:prstDash val="solid"/>
          </a:ln>
        </p:spPr>
      </p:sp>
      <p:sp>
        <p:nvSpPr>
          <p:cNvPr id="5" name="Text 3"/>
          <p:cNvSpPr txBox="1"/>
          <p:nvPr/>
        </p:nvSpPr>
        <p:spPr>
          <a:xfrm>
            <a:off x="795528" y="402336"/>
            <a:ext cx="1133856" cy="219456"/>
          </a:xfrm>
          <a:prstGeom prst="rect">
            <a:avLst/>
          </a:prstGeom>
          <a:noFill/>
          <a:ln/>
        </p:spPr>
        <p:txBody>
          <a:bodyPr wrap="square" lIns="0" tIns="0" rIns="0" bIns="0" rtlCol="0" anchor="ctr">
            <a:normAutofit/>
          </a:bodyPr>
          <a:lstStyle/>
          <a:p>
            <a:pPr algn="l" indent="0" marL="0">
              <a:buNone/>
            </a:pPr>
            <a:r>
              <a:rPr lang="en-US" sz="850" b="1" spc="50" kern="0" dirty="0">
                <a:solidFill>
                  <a:srgbClr val="D9E3EF"/>
                </a:solidFill>
                <a:latin typeface="Aptos" pitchFamily="34" charset="0"/>
                <a:ea typeface="Aptos" pitchFamily="34" charset="-122"/>
                <a:cs typeface="Aptos" pitchFamily="34" charset="-120"/>
              </a:rPr>
              <a:t>CIVICFIX AI  /  04</a:t>
            </a:r>
            <a:endParaRPr lang="en-US" sz="850" dirty="0"/>
          </a:p>
        </p:txBody>
      </p:sp>
      <p:sp>
        <p:nvSpPr>
          <p:cNvPr id="6" name="Text 4"/>
          <p:cNvSpPr txBox="1"/>
          <p:nvPr/>
        </p:nvSpPr>
        <p:spPr>
          <a:xfrm>
            <a:off x="566928" y="804672"/>
            <a:ext cx="10972800" cy="475488"/>
          </a:xfrm>
          <a:prstGeom prst="rect">
            <a:avLst/>
          </a:prstGeom>
          <a:noFill/>
          <a:ln/>
        </p:spPr>
        <p:txBody>
          <a:bodyPr wrap="square" lIns="0" tIns="0" rIns="0" bIns="0" rtlCol="0" anchor="ctr">
            <a:normAutofit/>
          </a:bodyPr>
          <a:lstStyle/>
          <a:p>
            <a:pPr algn="l" indent="0" marL="0">
              <a:buNone/>
            </a:pPr>
            <a:r>
              <a:rPr lang="en-US" sz="2700" b="1" dirty="0">
                <a:solidFill>
                  <a:srgbClr val="FFFFFF"/>
                </a:solidFill>
                <a:latin typeface="Aptos Display" pitchFamily="34" charset="0"/>
                <a:ea typeface="Aptos Display" pitchFamily="34" charset="-122"/>
                <a:cs typeface="Aptos Display" pitchFamily="34" charset="-120"/>
              </a:rPr>
              <a:t>Priority with reasons—not vibes.</a:t>
            </a:r>
            <a:endParaRPr lang="en-US" sz="2700" dirty="0"/>
          </a:p>
        </p:txBody>
      </p:sp>
      <p:sp>
        <p:nvSpPr>
          <p:cNvPr id="7" name="Text 5"/>
          <p:cNvSpPr txBox="1"/>
          <p:nvPr/>
        </p:nvSpPr>
        <p:spPr>
          <a:xfrm>
            <a:off x="585216" y="1335024"/>
            <a:ext cx="10881360" cy="347472"/>
          </a:xfrm>
          <a:prstGeom prst="rect">
            <a:avLst/>
          </a:prstGeom>
          <a:noFill/>
          <a:ln/>
        </p:spPr>
        <p:txBody>
          <a:bodyPr wrap="square" lIns="0" tIns="0" rIns="0" bIns="0" rtlCol="0" anchor="ctr">
            <a:normAutofit/>
          </a:bodyPr>
          <a:lstStyle/>
          <a:p>
            <a:pPr algn="l" indent="0" marL="0">
              <a:buNone/>
            </a:pPr>
            <a:r>
              <a:rPr lang="en-US" sz="1200" dirty="0">
                <a:solidFill>
                  <a:srgbClr val="B8C4D4"/>
                </a:solidFill>
                <a:latin typeface="Aptos" pitchFamily="34" charset="0"/>
                <a:ea typeface="Aptos" pitchFamily="34" charset="-122"/>
                <a:cs typeface="Aptos" pitchFamily="34" charset="-120"/>
              </a:rPr>
              <a:t>A transparent score helps reviewers understand why an issue is surfaced.</a:t>
            </a:r>
            <a:endParaRPr lang="en-US" sz="1200" dirty="0"/>
          </a:p>
        </p:txBody>
      </p:sp>
      <p:sp>
        <p:nvSpPr>
          <p:cNvPr id="8" name="Shape 6"/>
          <p:cNvSpPr/>
          <p:nvPr/>
        </p:nvSpPr>
        <p:spPr>
          <a:xfrm>
            <a:off x="640080" y="1874520"/>
            <a:ext cx="3767328" cy="4160520"/>
          </a:xfrm>
          <a:prstGeom prst="roundRect">
            <a:avLst>
              <a:gd name="adj" fmla="val 3641"/>
            </a:avLst>
          </a:prstGeom>
          <a:solidFill>
            <a:srgbClr val="111C2E"/>
          </a:solidFill>
          <a:ln w="12700">
            <a:solidFill>
              <a:srgbClr val="17263A"/>
            </a:solidFill>
            <a:prstDash val="solid"/>
          </a:ln>
        </p:spPr>
      </p:sp>
      <p:sp>
        <p:nvSpPr>
          <p:cNvPr id="9" name="Shape 7"/>
          <p:cNvSpPr/>
          <p:nvPr/>
        </p:nvSpPr>
        <p:spPr>
          <a:xfrm>
            <a:off x="1344168" y="2395728"/>
            <a:ext cx="2240280" cy="2240280"/>
          </a:xfrm>
          <a:prstGeom prst="ellipse">
            <a:avLst/>
          </a:prstGeom>
          <a:solidFill>
            <a:srgbClr val="17263A"/>
          </a:solidFill>
          <a:ln w="17780">
            <a:solidFill>
              <a:srgbClr val="2C4157"/>
            </a:solidFill>
            <a:prstDash val="solid"/>
          </a:ln>
        </p:spPr>
      </p:sp>
      <p:sp>
        <p:nvSpPr>
          <p:cNvPr id="10" name="Shape 8"/>
          <p:cNvSpPr/>
          <p:nvPr/>
        </p:nvSpPr>
        <p:spPr>
          <a:xfrm>
            <a:off x="1618488" y="2670048"/>
            <a:ext cx="1691640" cy="1691640"/>
          </a:xfrm>
          <a:prstGeom prst="ellipse">
            <a:avLst/>
          </a:prstGeom>
          <a:solidFill>
            <a:srgbClr val="0B1220"/>
          </a:solidFill>
          <a:ln w="15240">
            <a:solidFill>
              <a:srgbClr val="2C4157"/>
            </a:solidFill>
            <a:prstDash val="solid"/>
          </a:ln>
        </p:spPr>
      </p:sp>
      <p:sp>
        <p:nvSpPr>
          <p:cNvPr id="11" name="Text 9"/>
          <p:cNvSpPr txBox="1"/>
          <p:nvPr/>
        </p:nvSpPr>
        <p:spPr>
          <a:xfrm>
            <a:off x="1618488" y="2971800"/>
            <a:ext cx="1691640" cy="713232"/>
          </a:xfrm>
          <a:prstGeom prst="rect">
            <a:avLst/>
          </a:prstGeom>
          <a:noFill/>
          <a:ln/>
        </p:spPr>
        <p:txBody>
          <a:bodyPr wrap="square" lIns="0" tIns="0" rIns="0" bIns="0" rtlCol="0" anchor="ctr">
            <a:normAutofit/>
          </a:bodyPr>
          <a:lstStyle/>
          <a:p>
            <a:pPr algn="ctr" indent="0" marL="0">
              <a:buNone/>
            </a:pPr>
            <a:r>
              <a:rPr lang="en-US" sz="4200" b="1" dirty="0">
                <a:solidFill>
                  <a:srgbClr val="D5FF74"/>
                </a:solidFill>
                <a:latin typeface="Aptos Display" pitchFamily="34" charset="0"/>
                <a:ea typeface="Aptos Display" pitchFamily="34" charset="-122"/>
                <a:cs typeface="Aptos Display" pitchFamily="34" charset="-120"/>
              </a:rPr>
              <a:t>89</a:t>
            </a:r>
            <a:endParaRPr lang="en-US" sz="4200" dirty="0"/>
          </a:p>
        </p:txBody>
      </p:sp>
      <p:sp>
        <p:nvSpPr>
          <p:cNvPr id="12" name="Text 10"/>
          <p:cNvSpPr txBox="1"/>
          <p:nvPr/>
        </p:nvSpPr>
        <p:spPr>
          <a:xfrm>
            <a:off x="1645920" y="3685032"/>
            <a:ext cx="1627632" cy="228600"/>
          </a:xfrm>
          <a:prstGeom prst="rect">
            <a:avLst/>
          </a:prstGeom>
          <a:noFill/>
          <a:ln/>
        </p:spPr>
        <p:txBody>
          <a:bodyPr wrap="square" lIns="0" tIns="0" rIns="0" bIns="0" rtlCol="0" anchor="ctr">
            <a:normAutofit/>
          </a:bodyPr>
          <a:lstStyle/>
          <a:p>
            <a:pPr algn="ctr" indent="0" marL="0">
              <a:buNone/>
            </a:pPr>
            <a:r>
              <a:rPr lang="en-US" sz="1300" b="1" dirty="0">
                <a:solidFill>
                  <a:srgbClr val="FFFFFF"/>
                </a:solidFill>
                <a:latin typeface="Aptos" pitchFamily="34" charset="0"/>
                <a:ea typeface="Aptos" pitchFamily="34" charset="-122"/>
                <a:cs typeface="Aptos" pitchFamily="34" charset="-120"/>
              </a:rPr>
              <a:t>/ 100</a:t>
            </a:r>
            <a:endParaRPr lang="en-US" sz="1300" dirty="0"/>
          </a:p>
        </p:txBody>
      </p:sp>
      <p:sp>
        <p:nvSpPr>
          <p:cNvPr id="13" name="Text 11"/>
          <p:cNvSpPr txBox="1"/>
          <p:nvPr/>
        </p:nvSpPr>
        <p:spPr>
          <a:xfrm>
            <a:off x="1051560" y="4864608"/>
            <a:ext cx="2852928" cy="256032"/>
          </a:xfrm>
          <a:prstGeom prst="rect">
            <a:avLst/>
          </a:prstGeom>
          <a:noFill/>
          <a:ln/>
        </p:spPr>
        <p:txBody>
          <a:bodyPr wrap="square" lIns="0" tIns="0" rIns="0" bIns="0" rtlCol="0" anchor="ctr">
            <a:normAutofit/>
          </a:bodyPr>
          <a:lstStyle/>
          <a:p>
            <a:pPr algn="ctr" indent="0" marL="0">
              <a:buNone/>
            </a:pPr>
            <a:r>
              <a:rPr lang="en-US" sz="1400" b="1" spc="70" kern="0" dirty="0">
                <a:solidFill>
                  <a:srgbClr val="D5FF74"/>
                </a:solidFill>
                <a:latin typeface="Aptos" pitchFamily="34" charset="0"/>
                <a:ea typeface="Aptos" pitchFamily="34" charset="-122"/>
                <a:cs typeface="Aptos" pitchFamily="34" charset="-120"/>
              </a:rPr>
              <a:t>HIGH PRIORITY</a:t>
            </a:r>
            <a:endParaRPr lang="en-US" sz="1400" dirty="0"/>
          </a:p>
        </p:txBody>
      </p:sp>
      <p:sp>
        <p:nvSpPr>
          <p:cNvPr id="14" name="Text 12"/>
          <p:cNvSpPr txBox="1"/>
          <p:nvPr/>
        </p:nvSpPr>
        <p:spPr>
          <a:xfrm>
            <a:off x="1060704" y="5202936"/>
            <a:ext cx="2852928" cy="182880"/>
          </a:xfrm>
          <a:prstGeom prst="rect">
            <a:avLst/>
          </a:prstGeom>
          <a:noFill/>
          <a:ln/>
        </p:spPr>
        <p:txBody>
          <a:bodyPr wrap="square" lIns="0" tIns="0" rIns="0" bIns="0" rtlCol="0" anchor="ctr">
            <a:normAutofit/>
          </a:bodyPr>
          <a:lstStyle/>
          <a:p>
            <a:pPr algn="ctr" indent="0" marL="0">
              <a:buNone/>
            </a:pPr>
            <a:r>
              <a:rPr lang="en-US" sz="900" dirty="0">
                <a:solidFill>
                  <a:srgbClr val="91A0B5"/>
                </a:solidFill>
                <a:latin typeface="Aptos" pitchFamily="34" charset="0"/>
                <a:ea typeface="Aptos" pitchFamily="34" charset="-122"/>
                <a:cs typeface="Aptos" pitchFamily="34" charset="-120"/>
              </a:rPr>
              <a:t>Illustrative assessment</a:t>
            </a:r>
            <a:endParaRPr lang="en-US" sz="900" dirty="0"/>
          </a:p>
        </p:txBody>
      </p:sp>
      <p:sp>
        <p:nvSpPr>
          <p:cNvPr id="15" name="Shape 13"/>
          <p:cNvSpPr/>
          <p:nvPr/>
        </p:nvSpPr>
        <p:spPr>
          <a:xfrm>
            <a:off x="4645152" y="1874520"/>
            <a:ext cx="3730752" cy="4160520"/>
          </a:xfrm>
          <a:prstGeom prst="roundRect">
            <a:avLst>
              <a:gd name="adj" fmla="val 3676"/>
            </a:avLst>
          </a:prstGeom>
          <a:solidFill>
            <a:srgbClr val="111C2E"/>
          </a:solidFill>
          <a:ln w="12700">
            <a:solidFill>
              <a:srgbClr val="17263A"/>
            </a:solidFill>
            <a:prstDash val="solid"/>
          </a:ln>
        </p:spPr>
      </p:sp>
      <p:sp>
        <p:nvSpPr>
          <p:cNvPr id="16" name="Text 14"/>
          <p:cNvSpPr txBox="1"/>
          <p:nvPr/>
        </p:nvSpPr>
        <p:spPr>
          <a:xfrm>
            <a:off x="4937760" y="2157984"/>
            <a:ext cx="3063240" cy="201168"/>
          </a:xfrm>
          <a:prstGeom prst="rect">
            <a:avLst/>
          </a:prstGeom>
          <a:noFill/>
          <a:ln/>
        </p:spPr>
        <p:txBody>
          <a:bodyPr wrap="square" lIns="0" tIns="0" rIns="0" bIns="0" rtlCol="0" anchor="ctr">
            <a:normAutofit/>
          </a:bodyPr>
          <a:lstStyle/>
          <a:p>
            <a:pPr algn="l" indent="0" marL="0">
              <a:buNone/>
            </a:pPr>
            <a:r>
              <a:rPr lang="en-US" sz="1000" b="1" spc="90" kern="0" dirty="0">
                <a:solidFill>
                  <a:srgbClr val="B3C0D0"/>
                </a:solidFill>
                <a:latin typeface="Aptos" pitchFamily="34" charset="0"/>
                <a:ea typeface="Aptos" pitchFamily="34" charset="-122"/>
                <a:cs typeface="Aptos" pitchFamily="34" charset="-120"/>
              </a:rPr>
              <a:t>PRIORITY BREAKDOWN</a:t>
            </a:r>
            <a:endParaRPr lang="en-US" sz="1000" dirty="0"/>
          </a:p>
        </p:txBody>
      </p:sp>
      <p:sp>
        <p:nvSpPr>
          <p:cNvPr id="17" name="Text 15"/>
          <p:cNvSpPr txBox="1"/>
          <p:nvPr/>
        </p:nvSpPr>
        <p:spPr>
          <a:xfrm>
            <a:off x="4937760" y="2624328"/>
            <a:ext cx="1668963" cy="182880"/>
          </a:xfrm>
          <a:prstGeom prst="rect">
            <a:avLst/>
          </a:prstGeom>
          <a:noFill/>
          <a:ln/>
        </p:spPr>
        <p:txBody>
          <a:bodyPr wrap="square" lIns="0" tIns="0" rIns="0" bIns="0" rtlCol="0" anchor="ctr">
            <a:normAutofit/>
          </a:bodyPr>
          <a:lstStyle/>
          <a:p>
            <a:pPr algn="l" indent="0" marL="0">
              <a:buNone/>
            </a:pPr>
            <a:r>
              <a:rPr lang="en-US" sz="1000" b="1" dirty="0">
                <a:solidFill>
                  <a:srgbClr val="D8E2EF"/>
                </a:solidFill>
                <a:latin typeface="Aptos" pitchFamily="34" charset="0"/>
                <a:ea typeface="Aptos" pitchFamily="34" charset="-122"/>
                <a:cs typeface="Aptos" pitchFamily="34" charset="-120"/>
              </a:rPr>
              <a:t>Severity</a:t>
            </a:r>
            <a:endParaRPr lang="en-US" sz="1000" dirty="0"/>
          </a:p>
        </p:txBody>
      </p:sp>
      <p:sp>
        <p:nvSpPr>
          <p:cNvPr id="18" name="Text 16"/>
          <p:cNvSpPr txBox="1"/>
          <p:nvPr/>
        </p:nvSpPr>
        <p:spPr>
          <a:xfrm>
            <a:off x="7552944" y="2624328"/>
            <a:ext cx="1607149" cy="182880"/>
          </a:xfrm>
          <a:prstGeom prst="rect">
            <a:avLst/>
          </a:prstGeom>
          <a:noFill/>
          <a:ln/>
        </p:spPr>
        <p:txBody>
          <a:bodyPr wrap="square" lIns="0" tIns="0" rIns="0" bIns="0" rtlCol="0" anchor="ctr">
            <a:normAutofit/>
          </a:bodyPr>
          <a:lstStyle/>
          <a:p>
            <a:pPr algn="r" indent="0" marL="0">
              <a:buNone/>
            </a:pPr>
            <a:r>
              <a:rPr lang="en-US" sz="1000" b="1" dirty="0">
                <a:solidFill>
                  <a:srgbClr val="FFFFFF"/>
                </a:solidFill>
                <a:latin typeface="Aptos" pitchFamily="34" charset="0"/>
                <a:ea typeface="Aptos" pitchFamily="34" charset="-122"/>
                <a:cs typeface="Aptos" pitchFamily="34" charset="-120"/>
              </a:rPr>
              <a:t>86</a:t>
            </a:r>
            <a:endParaRPr lang="en-US" sz="1000" dirty="0"/>
          </a:p>
        </p:txBody>
      </p:sp>
      <p:sp>
        <p:nvSpPr>
          <p:cNvPr id="19" name="Shape 17"/>
          <p:cNvSpPr/>
          <p:nvPr/>
        </p:nvSpPr>
        <p:spPr>
          <a:xfrm>
            <a:off x="4937760" y="2871216"/>
            <a:ext cx="3090672" cy="91440"/>
          </a:xfrm>
          <a:prstGeom prst="roundRect">
            <a:avLst>
              <a:gd name="adj" fmla="val 50000"/>
            </a:avLst>
          </a:prstGeom>
          <a:solidFill>
            <a:srgbClr val="263449"/>
          </a:solidFill>
          <a:ln w="12700">
            <a:solidFill>
              <a:srgbClr val="263449">
                <a:alpha val="0"/>
              </a:srgbClr>
            </a:solidFill>
            <a:prstDash val="solid"/>
          </a:ln>
        </p:spPr>
      </p:sp>
      <p:sp>
        <p:nvSpPr>
          <p:cNvPr id="20" name="Shape 18"/>
          <p:cNvSpPr/>
          <p:nvPr/>
        </p:nvSpPr>
        <p:spPr>
          <a:xfrm>
            <a:off x="4937760" y="2871216"/>
            <a:ext cx="2657978" cy="91440"/>
          </a:xfrm>
          <a:prstGeom prst="roundRect">
            <a:avLst>
              <a:gd name="adj" fmla="val 50000"/>
            </a:avLst>
          </a:prstGeom>
          <a:solidFill>
            <a:srgbClr val="FB7185"/>
          </a:solidFill>
          <a:ln w="12700">
            <a:solidFill>
              <a:srgbClr val="FB7185">
                <a:alpha val="0"/>
              </a:srgbClr>
            </a:solidFill>
            <a:prstDash val="solid"/>
          </a:ln>
        </p:spPr>
      </p:sp>
      <p:sp>
        <p:nvSpPr>
          <p:cNvPr id="21" name="Text 19"/>
          <p:cNvSpPr txBox="1"/>
          <p:nvPr/>
        </p:nvSpPr>
        <p:spPr>
          <a:xfrm>
            <a:off x="4937760" y="3246120"/>
            <a:ext cx="1668963" cy="182880"/>
          </a:xfrm>
          <a:prstGeom prst="rect">
            <a:avLst/>
          </a:prstGeom>
          <a:noFill/>
          <a:ln/>
        </p:spPr>
        <p:txBody>
          <a:bodyPr wrap="square" lIns="0" tIns="0" rIns="0" bIns="0" rtlCol="0" anchor="ctr">
            <a:normAutofit/>
          </a:bodyPr>
          <a:lstStyle/>
          <a:p>
            <a:pPr algn="l" indent="0" marL="0">
              <a:buNone/>
            </a:pPr>
            <a:r>
              <a:rPr lang="en-US" sz="1000" b="1" dirty="0">
                <a:solidFill>
                  <a:srgbClr val="D8E2EF"/>
                </a:solidFill>
                <a:latin typeface="Aptos" pitchFamily="34" charset="0"/>
                <a:ea typeface="Aptos" pitchFamily="34" charset="-122"/>
                <a:cs typeface="Aptos" pitchFamily="34" charset="-120"/>
              </a:rPr>
              <a:t>Public impact</a:t>
            </a:r>
            <a:endParaRPr lang="en-US" sz="1000" dirty="0"/>
          </a:p>
        </p:txBody>
      </p:sp>
      <p:sp>
        <p:nvSpPr>
          <p:cNvPr id="22" name="Text 20"/>
          <p:cNvSpPr txBox="1"/>
          <p:nvPr/>
        </p:nvSpPr>
        <p:spPr>
          <a:xfrm>
            <a:off x="7552944" y="3246120"/>
            <a:ext cx="1607149" cy="182880"/>
          </a:xfrm>
          <a:prstGeom prst="rect">
            <a:avLst/>
          </a:prstGeom>
          <a:noFill/>
          <a:ln/>
        </p:spPr>
        <p:txBody>
          <a:bodyPr wrap="square" lIns="0" tIns="0" rIns="0" bIns="0" rtlCol="0" anchor="ctr">
            <a:normAutofit/>
          </a:bodyPr>
          <a:lstStyle/>
          <a:p>
            <a:pPr algn="r" indent="0" marL="0">
              <a:buNone/>
            </a:pPr>
            <a:r>
              <a:rPr lang="en-US" sz="1000" b="1" dirty="0">
                <a:solidFill>
                  <a:srgbClr val="FFFFFF"/>
                </a:solidFill>
                <a:latin typeface="Aptos" pitchFamily="34" charset="0"/>
                <a:ea typeface="Aptos" pitchFamily="34" charset="-122"/>
                <a:cs typeface="Aptos" pitchFamily="34" charset="-120"/>
              </a:rPr>
              <a:t>78</a:t>
            </a:r>
            <a:endParaRPr lang="en-US" sz="1000" dirty="0"/>
          </a:p>
        </p:txBody>
      </p:sp>
      <p:sp>
        <p:nvSpPr>
          <p:cNvPr id="23" name="Shape 21"/>
          <p:cNvSpPr/>
          <p:nvPr/>
        </p:nvSpPr>
        <p:spPr>
          <a:xfrm>
            <a:off x="4937760" y="3493008"/>
            <a:ext cx="3090672" cy="91440"/>
          </a:xfrm>
          <a:prstGeom prst="roundRect">
            <a:avLst>
              <a:gd name="adj" fmla="val 50000"/>
            </a:avLst>
          </a:prstGeom>
          <a:solidFill>
            <a:srgbClr val="263449"/>
          </a:solidFill>
          <a:ln w="12700">
            <a:solidFill>
              <a:srgbClr val="263449">
                <a:alpha val="0"/>
              </a:srgbClr>
            </a:solidFill>
            <a:prstDash val="solid"/>
          </a:ln>
        </p:spPr>
      </p:sp>
      <p:sp>
        <p:nvSpPr>
          <p:cNvPr id="24" name="Shape 22"/>
          <p:cNvSpPr/>
          <p:nvPr/>
        </p:nvSpPr>
        <p:spPr>
          <a:xfrm>
            <a:off x="4937760" y="3493008"/>
            <a:ext cx="2410724" cy="91440"/>
          </a:xfrm>
          <a:prstGeom prst="roundRect">
            <a:avLst>
              <a:gd name="adj" fmla="val 50000"/>
            </a:avLst>
          </a:prstGeom>
          <a:solidFill>
            <a:srgbClr val="7DD3FC"/>
          </a:solidFill>
          <a:ln w="12700">
            <a:solidFill>
              <a:srgbClr val="7DD3FC">
                <a:alpha val="0"/>
              </a:srgbClr>
            </a:solidFill>
            <a:prstDash val="solid"/>
          </a:ln>
        </p:spPr>
      </p:sp>
      <p:sp>
        <p:nvSpPr>
          <p:cNvPr id="25" name="Text 23"/>
          <p:cNvSpPr txBox="1"/>
          <p:nvPr/>
        </p:nvSpPr>
        <p:spPr>
          <a:xfrm>
            <a:off x="4937760" y="3867912"/>
            <a:ext cx="1668963" cy="182880"/>
          </a:xfrm>
          <a:prstGeom prst="rect">
            <a:avLst/>
          </a:prstGeom>
          <a:noFill/>
          <a:ln/>
        </p:spPr>
        <p:txBody>
          <a:bodyPr wrap="square" lIns="0" tIns="0" rIns="0" bIns="0" rtlCol="0" anchor="ctr">
            <a:normAutofit/>
          </a:bodyPr>
          <a:lstStyle/>
          <a:p>
            <a:pPr algn="l" indent="0" marL="0">
              <a:buNone/>
            </a:pPr>
            <a:r>
              <a:rPr lang="en-US" sz="1000" b="1" dirty="0">
                <a:solidFill>
                  <a:srgbClr val="D8E2EF"/>
                </a:solidFill>
                <a:latin typeface="Aptos" pitchFamily="34" charset="0"/>
                <a:ea typeface="Aptos" pitchFamily="34" charset="-122"/>
                <a:cs typeface="Aptos" pitchFamily="34" charset="-120"/>
              </a:rPr>
              <a:t>Safety risk</a:t>
            </a:r>
            <a:endParaRPr lang="en-US" sz="1000" dirty="0"/>
          </a:p>
        </p:txBody>
      </p:sp>
      <p:sp>
        <p:nvSpPr>
          <p:cNvPr id="26" name="Text 24"/>
          <p:cNvSpPr txBox="1"/>
          <p:nvPr/>
        </p:nvSpPr>
        <p:spPr>
          <a:xfrm>
            <a:off x="7552944" y="3867912"/>
            <a:ext cx="1607149" cy="182880"/>
          </a:xfrm>
          <a:prstGeom prst="rect">
            <a:avLst/>
          </a:prstGeom>
          <a:noFill/>
          <a:ln/>
        </p:spPr>
        <p:txBody>
          <a:bodyPr wrap="square" lIns="0" tIns="0" rIns="0" bIns="0" rtlCol="0" anchor="ctr">
            <a:normAutofit/>
          </a:bodyPr>
          <a:lstStyle/>
          <a:p>
            <a:pPr algn="r" indent="0" marL="0">
              <a:buNone/>
            </a:pPr>
            <a:r>
              <a:rPr lang="en-US" sz="1000" b="1" dirty="0">
                <a:solidFill>
                  <a:srgbClr val="FFFFFF"/>
                </a:solidFill>
                <a:latin typeface="Aptos" pitchFamily="34" charset="0"/>
                <a:ea typeface="Aptos" pitchFamily="34" charset="-122"/>
                <a:cs typeface="Aptos" pitchFamily="34" charset="-120"/>
              </a:rPr>
              <a:t>82</a:t>
            </a:r>
            <a:endParaRPr lang="en-US" sz="1000" dirty="0"/>
          </a:p>
        </p:txBody>
      </p:sp>
      <p:sp>
        <p:nvSpPr>
          <p:cNvPr id="27" name="Shape 25"/>
          <p:cNvSpPr/>
          <p:nvPr/>
        </p:nvSpPr>
        <p:spPr>
          <a:xfrm>
            <a:off x="4937760" y="4114800"/>
            <a:ext cx="3090672" cy="91440"/>
          </a:xfrm>
          <a:prstGeom prst="roundRect">
            <a:avLst>
              <a:gd name="adj" fmla="val 50000"/>
            </a:avLst>
          </a:prstGeom>
          <a:solidFill>
            <a:srgbClr val="263449"/>
          </a:solidFill>
          <a:ln w="12700">
            <a:solidFill>
              <a:srgbClr val="263449">
                <a:alpha val="0"/>
              </a:srgbClr>
            </a:solidFill>
            <a:prstDash val="solid"/>
          </a:ln>
        </p:spPr>
      </p:sp>
      <p:sp>
        <p:nvSpPr>
          <p:cNvPr id="28" name="Shape 26"/>
          <p:cNvSpPr/>
          <p:nvPr/>
        </p:nvSpPr>
        <p:spPr>
          <a:xfrm>
            <a:off x="4937760" y="4114800"/>
            <a:ext cx="2534351" cy="91440"/>
          </a:xfrm>
          <a:prstGeom prst="roundRect">
            <a:avLst>
              <a:gd name="adj" fmla="val 50000"/>
            </a:avLst>
          </a:prstGeom>
          <a:solidFill>
            <a:srgbClr val="FFC66D"/>
          </a:solidFill>
          <a:ln w="12700">
            <a:solidFill>
              <a:srgbClr val="FFC66D">
                <a:alpha val="0"/>
              </a:srgbClr>
            </a:solidFill>
            <a:prstDash val="solid"/>
          </a:ln>
        </p:spPr>
      </p:sp>
      <p:sp>
        <p:nvSpPr>
          <p:cNvPr id="29" name="Text 27"/>
          <p:cNvSpPr txBox="1"/>
          <p:nvPr/>
        </p:nvSpPr>
        <p:spPr>
          <a:xfrm>
            <a:off x="4937760" y="4489704"/>
            <a:ext cx="1668963" cy="182880"/>
          </a:xfrm>
          <a:prstGeom prst="rect">
            <a:avLst/>
          </a:prstGeom>
          <a:noFill/>
          <a:ln/>
        </p:spPr>
        <p:txBody>
          <a:bodyPr wrap="square" lIns="0" tIns="0" rIns="0" bIns="0" rtlCol="0" anchor="ctr">
            <a:normAutofit/>
          </a:bodyPr>
          <a:lstStyle/>
          <a:p>
            <a:pPr algn="l" indent="0" marL="0">
              <a:buNone/>
            </a:pPr>
            <a:r>
              <a:rPr lang="en-US" sz="1000" b="1" dirty="0">
                <a:solidFill>
                  <a:srgbClr val="D8E2EF"/>
                </a:solidFill>
                <a:latin typeface="Aptos" pitchFamily="34" charset="0"/>
                <a:ea typeface="Aptos" pitchFamily="34" charset="-122"/>
                <a:cs typeface="Aptos" pitchFamily="34" charset="-120"/>
              </a:rPr>
              <a:t>Evidence confidence</a:t>
            </a:r>
            <a:endParaRPr lang="en-US" sz="1000" dirty="0"/>
          </a:p>
        </p:txBody>
      </p:sp>
      <p:sp>
        <p:nvSpPr>
          <p:cNvPr id="30" name="Text 28"/>
          <p:cNvSpPr txBox="1"/>
          <p:nvPr/>
        </p:nvSpPr>
        <p:spPr>
          <a:xfrm>
            <a:off x="7552944" y="4489704"/>
            <a:ext cx="1607149" cy="182880"/>
          </a:xfrm>
          <a:prstGeom prst="rect">
            <a:avLst/>
          </a:prstGeom>
          <a:noFill/>
          <a:ln/>
        </p:spPr>
        <p:txBody>
          <a:bodyPr wrap="square" lIns="0" tIns="0" rIns="0" bIns="0" rtlCol="0" anchor="ctr">
            <a:normAutofit/>
          </a:bodyPr>
          <a:lstStyle/>
          <a:p>
            <a:pPr algn="r" indent="0" marL="0">
              <a:buNone/>
            </a:pPr>
            <a:r>
              <a:rPr lang="en-US" sz="1000" b="1" dirty="0">
                <a:solidFill>
                  <a:srgbClr val="FFFFFF"/>
                </a:solidFill>
                <a:latin typeface="Aptos" pitchFamily="34" charset="0"/>
                <a:ea typeface="Aptos" pitchFamily="34" charset="-122"/>
                <a:cs typeface="Aptos" pitchFamily="34" charset="-120"/>
              </a:rPr>
              <a:t>91</a:t>
            </a:r>
            <a:endParaRPr lang="en-US" sz="1000" dirty="0"/>
          </a:p>
        </p:txBody>
      </p:sp>
      <p:sp>
        <p:nvSpPr>
          <p:cNvPr id="31" name="Shape 29"/>
          <p:cNvSpPr/>
          <p:nvPr/>
        </p:nvSpPr>
        <p:spPr>
          <a:xfrm>
            <a:off x="4937760" y="4736592"/>
            <a:ext cx="3090672" cy="91440"/>
          </a:xfrm>
          <a:prstGeom prst="roundRect">
            <a:avLst>
              <a:gd name="adj" fmla="val 50000"/>
            </a:avLst>
          </a:prstGeom>
          <a:solidFill>
            <a:srgbClr val="263449"/>
          </a:solidFill>
          <a:ln w="12700">
            <a:solidFill>
              <a:srgbClr val="263449">
                <a:alpha val="0"/>
              </a:srgbClr>
            </a:solidFill>
            <a:prstDash val="solid"/>
          </a:ln>
        </p:spPr>
      </p:sp>
      <p:sp>
        <p:nvSpPr>
          <p:cNvPr id="32" name="Shape 30"/>
          <p:cNvSpPr/>
          <p:nvPr/>
        </p:nvSpPr>
        <p:spPr>
          <a:xfrm>
            <a:off x="4937760" y="4736592"/>
            <a:ext cx="2812512" cy="91440"/>
          </a:xfrm>
          <a:prstGeom prst="roundRect">
            <a:avLst>
              <a:gd name="adj" fmla="val 50000"/>
            </a:avLst>
          </a:prstGeom>
          <a:solidFill>
            <a:srgbClr val="2DD4BF"/>
          </a:solidFill>
          <a:ln w="12700">
            <a:solidFill>
              <a:srgbClr val="2DD4BF">
                <a:alpha val="0"/>
              </a:srgbClr>
            </a:solidFill>
            <a:prstDash val="solid"/>
          </a:ln>
        </p:spPr>
      </p:sp>
      <p:sp>
        <p:nvSpPr>
          <p:cNvPr id="33" name="Text 31"/>
          <p:cNvSpPr txBox="1"/>
          <p:nvPr/>
        </p:nvSpPr>
        <p:spPr>
          <a:xfrm>
            <a:off x="4937760" y="5111496"/>
            <a:ext cx="1668963" cy="182880"/>
          </a:xfrm>
          <a:prstGeom prst="rect">
            <a:avLst/>
          </a:prstGeom>
          <a:noFill/>
          <a:ln/>
        </p:spPr>
        <p:txBody>
          <a:bodyPr wrap="square" lIns="0" tIns="0" rIns="0" bIns="0" rtlCol="0" anchor="ctr">
            <a:normAutofit/>
          </a:bodyPr>
          <a:lstStyle/>
          <a:p>
            <a:pPr algn="l" indent="0" marL="0">
              <a:buNone/>
            </a:pPr>
            <a:r>
              <a:rPr lang="en-US" sz="1000" b="1" dirty="0">
                <a:solidFill>
                  <a:srgbClr val="D8E2EF"/>
                </a:solidFill>
                <a:latin typeface="Aptos" pitchFamily="34" charset="0"/>
                <a:ea typeface="Aptos" pitchFamily="34" charset="-122"/>
                <a:cs typeface="Aptos" pitchFamily="34" charset="-120"/>
              </a:rPr>
              <a:t>Freshness</a:t>
            </a:r>
            <a:endParaRPr lang="en-US" sz="1000" dirty="0"/>
          </a:p>
        </p:txBody>
      </p:sp>
      <p:sp>
        <p:nvSpPr>
          <p:cNvPr id="34" name="Text 32"/>
          <p:cNvSpPr txBox="1"/>
          <p:nvPr/>
        </p:nvSpPr>
        <p:spPr>
          <a:xfrm>
            <a:off x="7552944" y="5111496"/>
            <a:ext cx="1607149" cy="182880"/>
          </a:xfrm>
          <a:prstGeom prst="rect">
            <a:avLst/>
          </a:prstGeom>
          <a:noFill/>
          <a:ln/>
        </p:spPr>
        <p:txBody>
          <a:bodyPr wrap="square" lIns="0" tIns="0" rIns="0" bIns="0" rtlCol="0" anchor="ctr">
            <a:normAutofit/>
          </a:bodyPr>
          <a:lstStyle/>
          <a:p>
            <a:pPr algn="r" indent="0" marL="0">
              <a:buNone/>
            </a:pPr>
            <a:r>
              <a:rPr lang="en-US" sz="1000" b="1" dirty="0">
                <a:solidFill>
                  <a:srgbClr val="FFFFFF"/>
                </a:solidFill>
                <a:latin typeface="Aptos" pitchFamily="34" charset="0"/>
                <a:ea typeface="Aptos" pitchFamily="34" charset="-122"/>
                <a:cs typeface="Aptos" pitchFamily="34" charset="-120"/>
              </a:rPr>
              <a:t>95</a:t>
            </a:r>
            <a:endParaRPr lang="en-US" sz="1000" dirty="0"/>
          </a:p>
        </p:txBody>
      </p:sp>
      <p:sp>
        <p:nvSpPr>
          <p:cNvPr id="35" name="Shape 33"/>
          <p:cNvSpPr/>
          <p:nvPr/>
        </p:nvSpPr>
        <p:spPr>
          <a:xfrm>
            <a:off x="4937760" y="5358384"/>
            <a:ext cx="3090672" cy="91440"/>
          </a:xfrm>
          <a:prstGeom prst="roundRect">
            <a:avLst>
              <a:gd name="adj" fmla="val 50000"/>
            </a:avLst>
          </a:prstGeom>
          <a:solidFill>
            <a:srgbClr val="263449"/>
          </a:solidFill>
          <a:ln w="12700">
            <a:solidFill>
              <a:srgbClr val="263449">
                <a:alpha val="0"/>
              </a:srgbClr>
            </a:solidFill>
            <a:prstDash val="solid"/>
          </a:ln>
        </p:spPr>
      </p:sp>
      <p:sp>
        <p:nvSpPr>
          <p:cNvPr id="36" name="Shape 34"/>
          <p:cNvSpPr/>
          <p:nvPr/>
        </p:nvSpPr>
        <p:spPr>
          <a:xfrm>
            <a:off x="4937760" y="5358384"/>
            <a:ext cx="2936138" cy="91440"/>
          </a:xfrm>
          <a:prstGeom prst="roundRect">
            <a:avLst>
              <a:gd name="adj" fmla="val 50000"/>
            </a:avLst>
          </a:prstGeom>
          <a:solidFill>
            <a:srgbClr val="D5FF74"/>
          </a:solidFill>
          <a:ln w="12700">
            <a:solidFill>
              <a:srgbClr val="D5FF74">
                <a:alpha val="0"/>
              </a:srgbClr>
            </a:solidFill>
            <a:prstDash val="solid"/>
          </a:ln>
        </p:spPr>
      </p:sp>
      <p:sp>
        <p:nvSpPr>
          <p:cNvPr id="37" name="Shape 35"/>
          <p:cNvSpPr/>
          <p:nvPr/>
        </p:nvSpPr>
        <p:spPr>
          <a:xfrm>
            <a:off x="8631936" y="1874520"/>
            <a:ext cx="2880360" cy="4160520"/>
          </a:xfrm>
          <a:prstGeom prst="roundRect">
            <a:avLst>
              <a:gd name="adj" fmla="val 4762"/>
            </a:avLst>
          </a:prstGeom>
          <a:solidFill>
            <a:srgbClr val="111C2E"/>
          </a:solidFill>
          <a:ln w="12700">
            <a:solidFill>
              <a:srgbClr val="17263A"/>
            </a:solidFill>
            <a:prstDash val="solid"/>
          </a:ln>
        </p:spPr>
      </p:sp>
      <p:sp>
        <p:nvSpPr>
          <p:cNvPr id="38" name="Text 36"/>
          <p:cNvSpPr txBox="1"/>
          <p:nvPr/>
        </p:nvSpPr>
        <p:spPr>
          <a:xfrm>
            <a:off x="8897112" y="2157984"/>
            <a:ext cx="2286000" cy="201168"/>
          </a:xfrm>
          <a:prstGeom prst="rect">
            <a:avLst/>
          </a:prstGeom>
          <a:noFill/>
          <a:ln/>
        </p:spPr>
        <p:txBody>
          <a:bodyPr wrap="square" lIns="0" tIns="0" rIns="0" bIns="0" rtlCol="0" anchor="ctr">
            <a:normAutofit/>
          </a:bodyPr>
          <a:lstStyle/>
          <a:p>
            <a:pPr algn="l" indent="0" marL="0">
              <a:buNone/>
            </a:pPr>
            <a:r>
              <a:rPr lang="en-US" sz="1000" b="1" spc="90" kern="0" dirty="0">
                <a:solidFill>
                  <a:srgbClr val="2DD4BF"/>
                </a:solidFill>
                <a:latin typeface="Aptos" pitchFamily="34" charset="0"/>
                <a:ea typeface="Aptos" pitchFamily="34" charset="-122"/>
                <a:cs typeface="Aptos" pitchFamily="34" charset="-120"/>
              </a:rPr>
              <a:t>SCORING MODEL</a:t>
            </a:r>
            <a:endParaRPr lang="en-US" sz="1000" dirty="0"/>
          </a:p>
        </p:txBody>
      </p:sp>
      <p:sp>
        <p:nvSpPr>
          <p:cNvPr id="39" name="Text 37"/>
          <p:cNvSpPr txBox="1"/>
          <p:nvPr/>
        </p:nvSpPr>
        <p:spPr>
          <a:xfrm>
            <a:off x="8897112" y="2606040"/>
            <a:ext cx="2194560" cy="256032"/>
          </a:xfrm>
          <a:prstGeom prst="rect">
            <a:avLst/>
          </a:prstGeom>
          <a:noFill/>
          <a:ln/>
        </p:spPr>
        <p:txBody>
          <a:bodyPr wrap="square" lIns="0" tIns="0" rIns="0" bIns="0" rtlCol="0" anchor="ctr">
            <a:normAutofit/>
          </a:bodyPr>
          <a:lstStyle/>
          <a:p>
            <a:pPr algn="l" indent="0" marL="0">
              <a:buNone/>
            </a:pPr>
            <a:r>
              <a:rPr lang="en-US" sz="1800" b="1" dirty="0">
                <a:solidFill>
                  <a:srgbClr val="FFFFFF"/>
                </a:solidFill>
                <a:latin typeface="Aptos" pitchFamily="34" charset="0"/>
                <a:ea typeface="Aptos" pitchFamily="34" charset="-122"/>
                <a:cs typeface="Aptos" pitchFamily="34" charset="-120"/>
              </a:rPr>
              <a:t>Priority =</a:t>
            </a:r>
            <a:endParaRPr lang="en-US" sz="1800" dirty="0"/>
          </a:p>
        </p:txBody>
      </p:sp>
      <p:sp>
        <p:nvSpPr>
          <p:cNvPr id="40" name="Shape 38"/>
          <p:cNvSpPr/>
          <p:nvPr/>
        </p:nvSpPr>
        <p:spPr>
          <a:xfrm>
            <a:off x="8924544" y="3108960"/>
            <a:ext cx="109728" cy="109728"/>
          </a:xfrm>
          <a:prstGeom prst="ellipse">
            <a:avLst/>
          </a:prstGeom>
          <a:solidFill>
            <a:srgbClr val="FB7185"/>
          </a:solidFill>
          <a:ln w="6350">
            <a:solidFill>
              <a:srgbClr val="FB7185"/>
            </a:solidFill>
            <a:prstDash val="solid"/>
          </a:ln>
        </p:spPr>
      </p:sp>
      <p:sp>
        <p:nvSpPr>
          <p:cNvPr id="41" name="Text 39"/>
          <p:cNvSpPr txBox="1"/>
          <p:nvPr/>
        </p:nvSpPr>
        <p:spPr>
          <a:xfrm>
            <a:off x="9125712" y="3054096"/>
            <a:ext cx="2039112" cy="256032"/>
          </a:xfrm>
          <a:prstGeom prst="rect">
            <a:avLst/>
          </a:prstGeom>
          <a:noFill/>
          <a:ln/>
        </p:spPr>
        <p:txBody>
          <a:bodyPr wrap="square" lIns="0" tIns="0" rIns="0" bIns="0" rtlCol="0" anchor="ctr">
            <a:normAutofit/>
          </a:bodyPr>
          <a:lstStyle/>
          <a:p>
            <a:pPr algn="l" indent="0" marL="0">
              <a:buNone/>
            </a:pPr>
            <a:r>
              <a:rPr lang="en-US" sz="950" dirty="0">
                <a:solidFill>
                  <a:srgbClr val="D6DFEA"/>
                </a:solidFill>
                <a:latin typeface="Aptos" pitchFamily="34" charset="0"/>
                <a:ea typeface="Aptos" pitchFamily="34" charset="-122"/>
                <a:cs typeface="Aptos" pitchFamily="34" charset="-120"/>
              </a:rPr>
              <a:t>0.35 × Severity</a:t>
            </a:r>
            <a:endParaRPr lang="en-US" sz="950" dirty="0"/>
          </a:p>
        </p:txBody>
      </p:sp>
      <p:sp>
        <p:nvSpPr>
          <p:cNvPr id="42" name="Shape 40"/>
          <p:cNvSpPr/>
          <p:nvPr/>
        </p:nvSpPr>
        <p:spPr>
          <a:xfrm>
            <a:off x="8924544" y="3529584"/>
            <a:ext cx="109728" cy="109728"/>
          </a:xfrm>
          <a:prstGeom prst="ellipse">
            <a:avLst/>
          </a:prstGeom>
          <a:solidFill>
            <a:srgbClr val="7DD3FC"/>
          </a:solidFill>
          <a:ln w="6350">
            <a:solidFill>
              <a:srgbClr val="7DD3FC"/>
            </a:solidFill>
            <a:prstDash val="solid"/>
          </a:ln>
        </p:spPr>
      </p:sp>
      <p:sp>
        <p:nvSpPr>
          <p:cNvPr id="43" name="Text 41"/>
          <p:cNvSpPr txBox="1"/>
          <p:nvPr/>
        </p:nvSpPr>
        <p:spPr>
          <a:xfrm>
            <a:off x="9125712" y="3474720"/>
            <a:ext cx="2039112" cy="256032"/>
          </a:xfrm>
          <a:prstGeom prst="rect">
            <a:avLst/>
          </a:prstGeom>
          <a:noFill/>
          <a:ln/>
        </p:spPr>
        <p:txBody>
          <a:bodyPr wrap="square" lIns="0" tIns="0" rIns="0" bIns="0" rtlCol="0" anchor="ctr">
            <a:normAutofit/>
          </a:bodyPr>
          <a:lstStyle/>
          <a:p>
            <a:pPr algn="l" indent="0" marL="0">
              <a:buNone/>
            </a:pPr>
            <a:r>
              <a:rPr lang="en-US" sz="950" dirty="0">
                <a:solidFill>
                  <a:srgbClr val="D6DFEA"/>
                </a:solidFill>
                <a:latin typeface="Aptos" pitchFamily="34" charset="0"/>
                <a:ea typeface="Aptos" pitchFamily="34" charset="-122"/>
                <a:cs typeface="Aptos" pitchFamily="34" charset="-120"/>
              </a:rPr>
              <a:t>0.25 × Public impact</a:t>
            </a:r>
            <a:endParaRPr lang="en-US" sz="950" dirty="0"/>
          </a:p>
        </p:txBody>
      </p:sp>
      <p:sp>
        <p:nvSpPr>
          <p:cNvPr id="44" name="Shape 42"/>
          <p:cNvSpPr/>
          <p:nvPr/>
        </p:nvSpPr>
        <p:spPr>
          <a:xfrm>
            <a:off x="8924544" y="3950208"/>
            <a:ext cx="109728" cy="109728"/>
          </a:xfrm>
          <a:prstGeom prst="ellipse">
            <a:avLst/>
          </a:prstGeom>
          <a:solidFill>
            <a:srgbClr val="FFC66D"/>
          </a:solidFill>
          <a:ln w="6350">
            <a:solidFill>
              <a:srgbClr val="FFC66D"/>
            </a:solidFill>
            <a:prstDash val="solid"/>
          </a:ln>
        </p:spPr>
      </p:sp>
      <p:sp>
        <p:nvSpPr>
          <p:cNvPr id="45" name="Text 43"/>
          <p:cNvSpPr txBox="1"/>
          <p:nvPr/>
        </p:nvSpPr>
        <p:spPr>
          <a:xfrm>
            <a:off x="9125712" y="3895344"/>
            <a:ext cx="2039112" cy="256032"/>
          </a:xfrm>
          <a:prstGeom prst="rect">
            <a:avLst/>
          </a:prstGeom>
          <a:noFill/>
          <a:ln/>
        </p:spPr>
        <p:txBody>
          <a:bodyPr wrap="square" lIns="0" tIns="0" rIns="0" bIns="0" rtlCol="0" anchor="ctr">
            <a:normAutofit/>
          </a:bodyPr>
          <a:lstStyle/>
          <a:p>
            <a:pPr algn="l" indent="0" marL="0">
              <a:buNone/>
            </a:pPr>
            <a:r>
              <a:rPr lang="en-US" sz="950" dirty="0">
                <a:solidFill>
                  <a:srgbClr val="D6DFEA"/>
                </a:solidFill>
                <a:latin typeface="Aptos" pitchFamily="34" charset="0"/>
                <a:ea typeface="Aptos" pitchFamily="34" charset="-122"/>
                <a:cs typeface="Aptos" pitchFamily="34" charset="-120"/>
              </a:rPr>
              <a:t>0.20 × Safety risk</a:t>
            </a:r>
            <a:endParaRPr lang="en-US" sz="950" dirty="0"/>
          </a:p>
        </p:txBody>
      </p:sp>
      <p:sp>
        <p:nvSpPr>
          <p:cNvPr id="46" name="Shape 44"/>
          <p:cNvSpPr/>
          <p:nvPr/>
        </p:nvSpPr>
        <p:spPr>
          <a:xfrm>
            <a:off x="8924544" y="4370832"/>
            <a:ext cx="109728" cy="109728"/>
          </a:xfrm>
          <a:prstGeom prst="ellipse">
            <a:avLst/>
          </a:prstGeom>
          <a:solidFill>
            <a:srgbClr val="2DD4BF"/>
          </a:solidFill>
          <a:ln w="6350">
            <a:solidFill>
              <a:srgbClr val="2DD4BF"/>
            </a:solidFill>
            <a:prstDash val="solid"/>
          </a:ln>
        </p:spPr>
      </p:sp>
      <p:sp>
        <p:nvSpPr>
          <p:cNvPr id="47" name="Text 45"/>
          <p:cNvSpPr txBox="1"/>
          <p:nvPr/>
        </p:nvSpPr>
        <p:spPr>
          <a:xfrm>
            <a:off x="9125712" y="4315968"/>
            <a:ext cx="2039112" cy="256032"/>
          </a:xfrm>
          <a:prstGeom prst="rect">
            <a:avLst/>
          </a:prstGeom>
          <a:noFill/>
          <a:ln/>
        </p:spPr>
        <p:txBody>
          <a:bodyPr wrap="square" lIns="0" tIns="0" rIns="0" bIns="0" rtlCol="0" anchor="ctr">
            <a:normAutofit/>
          </a:bodyPr>
          <a:lstStyle/>
          <a:p>
            <a:pPr algn="l" indent="0" marL="0">
              <a:buNone/>
            </a:pPr>
            <a:r>
              <a:rPr lang="en-US" sz="950" dirty="0">
                <a:solidFill>
                  <a:srgbClr val="D6DFEA"/>
                </a:solidFill>
                <a:latin typeface="Aptos" pitchFamily="34" charset="0"/>
                <a:ea typeface="Aptos" pitchFamily="34" charset="-122"/>
                <a:cs typeface="Aptos" pitchFamily="34" charset="-120"/>
              </a:rPr>
              <a:t>0.10 × Evidence confidence</a:t>
            </a:r>
            <a:endParaRPr lang="en-US" sz="950" dirty="0"/>
          </a:p>
        </p:txBody>
      </p:sp>
      <p:sp>
        <p:nvSpPr>
          <p:cNvPr id="48" name="Shape 46"/>
          <p:cNvSpPr/>
          <p:nvPr/>
        </p:nvSpPr>
        <p:spPr>
          <a:xfrm>
            <a:off x="8924544" y="4791456"/>
            <a:ext cx="109728" cy="109728"/>
          </a:xfrm>
          <a:prstGeom prst="ellipse">
            <a:avLst/>
          </a:prstGeom>
          <a:solidFill>
            <a:srgbClr val="D5FF74"/>
          </a:solidFill>
          <a:ln w="6350">
            <a:solidFill>
              <a:srgbClr val="D5FF74"/>
            </a:solidFill>
            <a:prstDash val="solid"/>
          </a:ln>
        </p:spPr>
      </p:sp>
      <p:sp>
        <p:nvSpPr>
          <p:cNvPr id="49" name="Text 47"/>
          <p:cNvSpPr txBox="1"/>
          <p:nvPr/>
        </p:nvSpPr>
        <p:spPr>
          <a:xfrm>
            <a:off x="9125712" y="4736592"/>
            <a:ext cx="2039112" cy="256032"/>
          </a:xfrm>
          <a:prstGeom prst="rect">
            <a:avLst/>
          </a:prstGeom>
          <a:noFill/>
          <a:ln/>
        </p:spPr>
        <p:txBody>
          <a:bodyPr wrap="square" lIns="0" tIns="0" rIns="0" bIns="0" rtlCol="0" anchor="ctr">
            <a:normAutofit/>
          </a:bodyPr>
          <a:lstStyle/>
          <a:p>
            <a:pPr algn="l" indent="0" marL="0">
              <a:buNone/>
            </a:pPr>
            <a:r>
              <a:rPr lang="en-US" sz="950" dirty="0">
                <a:solidFill>
                  <a:srgbClr val="D6DFEA"/>
                </a:solidFill>
                <a:latin typeface="Aptos" pitchFamily="34" charset="0"/>
                <a:ea typeface="Aptos" pitchFamily="34" charset="-122"/>
                <a:cs typeface="Aptos" pitchFamily="34" charset="-120"/>
              </a:rPr>
              <a:t>0.10 × Freshness</a:t>
            </a:r>
            <a:endParaRPr lang="en-US" sz="950" dirty="0"/>
          </a:p>
        </p:txBody>
      </p:sp>
      <p:sp>
        <p:nvSpPr>
          <p:cNvPr id="50" name="Shape 48"/>
          <p:cNvSpPr/>
          <p:nvPr/>
        </p:nvSpPr>
        <p:spPr>
          <a:xfrm>
            <a:off x="8887968" y="5349240"/>
            <a:ext cx="2331720" cy="411480"/>
          </a:xfrm>
          <a:prstGeom prst="roundRect">
            <a:avLst>
              <a:gd name="adj" fmla="val 17778"/>
            </a:avLst>
          </a:prstGeom>
          <a:solidFill>
            <a:srgbClr val="26384D"/>
          </a:solidFill>
          <a:ln w="12700">
            <a:solidFill>
              <a:srgbClr val="26384D">
                <a:alpha val="0"/>
              </a:srgbClr>
            </a:solidFill>
            <a:prstDash val="solid"/>
          </a:ln>
        </p:spPr>
      </p:sp>
      <p:sp>
        <p:nvSpPr>
          <p:cNvPr id="51" name="Text 49"/>
          <p:cNvSpPr txBox="1"/>
          <p:nvPr/>
        </p:nvSpPr>
        <p:spPr>
          <a:xfrm>
            <a:off x="8988552" y="5440680"/>
            <a:ext cx="2121408" cy="182880"/>
          </a:xfrm>
          <a:prstGeom prst="rect">
            <a:avLst/>
          </a:prstGeom>
          <a:noFill/>
          <a:ln/>
        </p:spPr>
        <p:txBody>
          <a:bodyPr wrap="square" lIns="0" tIns="0" rIns="0" bIns="0" rtlCol="0" anchor="ctr">
            <a:normAutofit/>
          </a:bodyPr>
          <a:lstStyle/>
          <a:p>
            <a:pPr algn="ctr" indent="0" marL="0">
              <a:buNone/>
            </a:pPr>
            <a:r>
              <a:rPr lang="en-US" sz="800" dirty="0">
                <a:solidFill>
                  <a:srgbClr val="91A0B5"/>
                </a:solidFill>
                <a:latin typeface="Aptos" pitchFamily="34" charset="0"/>
                <a:ea typeface="Aptos" pitchFamily="34" charset="-122"/>
                <a:cs typeface="Aptos" pitchFamily="34" charset="-120"/>
              </a:rPr>
              <a:t>Configurable prototype weights</a:t>
            </a:r>
            <a:endParaRPr lang="en-US" sz="800" dirty="0"/>
          </a:p>
        </p:txBody>
      </p:sp>
      <p:sp>
        <p:nvSpPr>
          <p:cNvPr id="52" name="Shape 50"/>
          <p:cNvSpPr/>
          <p:nvPr/>
        </p:nvSpPr>
        <p:spPr>
          <a:xfrm>
            <a:off x="566928" y="6510528"/>
            <a:ext cx="11064240" cy="0"/>
          </a:xfrm>
          <a:prstGeom prst="line">
            <a:avLst/>
          </a:prstGeom>
          <a:noFill/>
          <a:ln w="8890">
            <a:solidFill>
              <a:srgbClr val="243248"/>
            </a:solidFill>
            <a:prstDash val="solid"/>
            <a:headEnd type="none"/>
            <a:tailEnd type="none"/>
          </a:ln>
        </p:spPr>
      </p:sp>
      <p:sp>
        <p:nvSpPr>
          <p:cNvPr id="53" name="Text 51"/>
          <p:cNvSpPr txBox="1"/>
          <p:nvPr/>
        </p:nvSpPr>
        <p:spPr>
          <a:xfrm>
            <a:off x="585216" y="6556248"/>
            <a:ext cx="5120640" cy="137160"/>
          </a:xfrm>
          <a:prstGeom prst="rect">
            <a:avLst/>
          </a:prstGeom>
          <a:noFill/>
          <a:ln/>
        </p:spPr>
        <p:txBody>
          <a:bodyPr wrap="square" lIns="0" tIns="0" rIns="0" bIns="0" rtlCol="0" anchor="ctr">
            <a:normAutofit/>
          </a:bodyPr>
          <a:lstStyle/>
          <a:p>
            <a:pPr algn="l" indent="0" marL="0">
              <a:buNone/>
            </a:pPr>
            <a:r>
              <a:rPr lang="en-US" sz="700" b="1" spc="50" kern="0" dirty="0">
                <a:solidFill>
                  <a:srgbClr val="6E8097"/>
                </a:solidFill>
                <a:latin typeface="Aptos" pitchFamily="34" charset="0"/>
                <a:ea typeface="Aptos" pitchFamily="34" charset="-122"/>
                <a:cs typeface="Aptos" pitchFamily="34" charset="-120"/>
              </a:rPr>
              <a:t>CIVICFIX AI  •  CONCEPT / PROTOTYPE PITCH</a:t>
            </a:r>
            <a:endParaRPr lang="en-US" sz="700" dirty="0"/>
          </a:p>
        </p:txBody>
      </p:sp>
      <p:sp>
        <p:nvSpPr>
          <p:cNvPr id="54" name="Text 52"/>
          <p:cNvSpPr txBox="1"/>
          <p:nvPr/>
        </p:nvSpPr>
        <p:spPr>
          <a:xfrm>
            <a:off x="11064240" y="6547104"/>
            <a:ext cx="502920" cy="146304"/>
          </a:xfrm>
          <a:prstGeom prst="rect">
            <a:avLst/>
          </a:prstGeom>
          <a:noFill/>
          <a:ln/>
        </p:spPr>
        <p:txBody>
          <a:bodyPr wrap="square" lIns="0" tIns="0" rIns="0" bIns="0" rtlCol="0" anchor="ctr">
            <a:normAutofit/>
          </a:bodyPr>
          <a:lstStyle/>
          <a:p>
            <a:pPr algn="r" indent="0" marL="0">
              <a:buNone/>
            </a:pPr>
            <a:r>
              <a:rPr lang="en-US" sz="800" b="1" dirty="0">
                <a:solidFill>
                  <a:srgbClr val="6E8097"/>
                </a:solidFill>
                <a:latin typeface="Aptos" pitchFamily="34" charset="0"/>
                <a:ea typeface="Aptos" pitchFamily="34" charset="-122"/>
                <a:cs typeface="Aptos" pitchFamily="34" charset="-120"/>
              </a:rPr>
              <a:t>05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5F7FA"/>
          </a:solidFill>
          <a:ln w="12700">
            <a:solidFill>
              <a:srgbClr val="F5F7FA">
                <a:alpha val="0"/>
              </a:srgbClr>
            </a:solidFill>
            <a:prstDash val="solid"/>
          </a:ln>
        </p:spPr>
      </p:sp>
      <p:sp>
        <p:nvSpPr>
          <p:cNvPr id="3" name="Shape 1"/>
          <p:cNvSpPr/>
          <p:nvPr/>
        </p:nvSpPr>
        <p:spPr>
          <a:xfrm>
            <a:off x="566928" y="384048"/>
            <a:ext cx="1417320" cy="274320"/>
          </a:xfrm>
          <a:prstGeom prst="roundRect">
            <a:avLst>
              <a:gd name="adj" fmla="val 36667"/>
            </a:avLst>
          </a:prstGeom>
          <a:solidFill>
            <a:srgbClr val="FFFFFF"/>
          </a:solidFill>
          <a:ln w="12700">
            <a:solidFill>
              <a:srgbClr val="DCE3EA"/>
            </a:solidFill>
            <a:prstDash val="solid"/>
          </a:ln>
        </p:spPr>
      </p:sp>
      <p:sp>
        <p:nvSpPr>
          <p:cNvPr id="4" name="Shape 2"/>
          <p:cNvSpPr/>
          <p:nvPr/>
        </p:nvSpPr>
        <p:spPr>
          <a:xfrm>
            <a:off x="658368" y="480060"/>
            <a:ext cx="82296" cy="82296"/>
          </a:xfrm>
          <a:prstGeom prst="ellipse">
            <a:avLst/>
          </a:prstGeom>
          <a:solidFill>
            <a:srgbClr val="2DD4BF"/>
          </a:solidFill>
          <a:ln w="12700">
            <a:solidFill>
              <a:srgbClr val="2DD4BF"/>
            </a:solidFill>
            <a:prstDash val="solid"/>
          </a:ln>
        </p:spPr>
      </p:sp>
      <p:sp>
        <p:nvSpPr>
          <p:cNvPr id="5" name="Text 3"/>
          <p:cNvSpPr txBox="1"/>
          <p:nvPr/>
        </p:nvSpPr>
        <p:spPr>
          <a:xfrm>
            <a:off x="795528" y="402336"/>
            <a:ext cx="1133856" cy="219456"/>
          </a:xfrm>
          <a:prstGeom prst="rect">
            <a:avLst/>
          </a:prstGeom>
          <a:noFill/>
          <a:ln/>
        </p:spPr>
        <p:txBody>
          <a:bodyPr wrap="square" lIns="0" tIns="0" rIns="0" bIns="0" rtlCol="0" anchor="ctr">
            <a:normAutofit/>
          </a:bodyPr>
          <a:lstStyle/>
          <a:p>
            <a:pPr algn="l" indent="0" marL="0">
              <a:buNone/>
            </a:pPr>
            <a:r>
              <a:rPr lang="en-US" sz="850" b="1" spc="50" kern="0" dirty="0">
                <a:solidFill>
                  <a:srgbClr val="526176"/>
                </a:solidFill>
                <a:latin typeface="Aptos" pitchFamily="34" charset="0"/>
                <a:ea typeface="Aptos" pitchFamily="34" charset="-122"/>
                <a:cs typeface="Aptos" pitchFamily="34" charset="-120"/>
              </a:rPr>
              <a:t>CIVICFIX AI  /  05</a:t>
            </a:r>
            <a:endParaRPr lang="en-US" sz="850" dirty="0"/>
          </a:p>
        </p:txBody>
      </p:sp>
      <p:sp>
        <p:nvSpPr>
          <p:cNvPr id="6" name="Text 4"/>
          <p:cNvSpPr txBox="1"/>
          <p:nvPr/>
        </p:nvSpPr>
        <p:spPr>
          <a:xfrm>
            <a:off x="566928" y="804672"/>
            <a:ext cx="10972800" cy="475488"/>
          </a:xfrm>
          <a:prstGeom prst="rect">
            <a:avLst/>
          </a:prstGeom>
          <a:noFill/>
          <a:ln/>
        </p:spPr>
        <p:txBody>
          <a:bodyPr wrap="square" lIns="0" tIns="0" rIns="0" bIns="0" rtlCol="0" anchor="ctr">
            <a:normAutofit/>
          </a:bodyPr>
          <a:lstStyle/>
          <a:p>
            <a:pPr algn="l" indent="0" marL="0">
              <a:buNone/>
            </a:pPr>
            <a:r>
              <a:rPr lang="en-US" sz="2700" b="1" dirty="0">
                <a:solidFill>
                  <a:srgbClr val="132033"/>
                </a:solidFill>
                <a:latin typeface="Aptos Display" pitchFamily="34" charset="0"/>
                <a:ea typeface="Aptos Display" pitchFamily="34" charset="-122"/>
                <a:cs typeface="Aptos Display" pitchFamily="34" charset="-120"/>
              </a:rPr>
              <a:t>Twenty reports. One canonical issue.</a:t>
            </a:r>
            <a:endParaRPr lang="en-US" sz="2700" dirty="0"/>
          </a:p>
        </p:txBody>
      </p:sp>
      <p:sp>
        <p:nvSpPr>
          <p:cNvPr id="7" name="Text 5"/>
          <p:cNvSpPr txBox="1"/>
          <p:nvPr/>
        </p:nvSpPr>
        <p:spPr>
          <a:xfrm>
            <a:off x="585216" y="1335024"/>
            <a:ext cx="10881360" cy="347472"/>
          </a:xfrm>
          <a:prstGeom prst="rect">
            <a:avLst/>
          </a:prstGeom>
          <a:noFill/>
          <a:ln/>
        </p:spPr>
        <p:txBody>
          <a:bodyPr wrap="square" lIns="0" tIns="0" rIns="0" bIns="0" rtlCol="0" anchor="ctr">
            <a:normAutofit/>
          </a:bodyPr>
          <a:lstStyle/>
          <a:p>
            <a:pPr algn="l" indent="0" marL="0">
              <a:buNone/>
            </a:pPr>
            <a:r>
              <a:rPr lang="en-US" sz="1200" dirty="0">
                <a:solidFill>
                  <a:srgbClr val="526176"/>
                </a:solidFill>
                <a:latin typeface="Aptos" pitchFamily="34" charset="0"/>
                <a:ea typeface="Aptos" pitchFamily="34" charset="-122"/>
                <a:cs typeface="Aptos" pitchFamily="34" charset="-120"/>
              </a:rPr>
              <a:t>Duplicate detection reduces noise while preserving supporting observations.</a:t>
            </a:r>
            <a:endParaRPr lang="en-US" sz="1200" dirty="0"/>
          </a:p>
        </p:txBody>
      </p:sp>
      <p:sp>
        <p:nvSpPr>
          <p:cNvPr id="8" name="Shape 6"/>
          <p:cNvSpPr/>
          <p:nvPr/>
        </p:nvSpPr>
        <p:spPr>
          <a:xfrm>
            <a:off x="640080" y="1901952"/>
            <a:ext cx="2514600" cy="704088"/>
          </a:xfrm>
          <a:prstGeom prst="roundRect">
            <a:avLst>
              <a:gd name="adj" fmla="val 19481"/>
            </a:avLst>
          </a:prstGeom>
          <a:solidFill>
            <a:srgbClr val="FFFFFF"/>
          </a:solidFill>
          <a:ln w="12700">
            <a:solidFill>
              <a:srgbClr val="DCE3EA"/>
            </a:solidFill>
            <a:prstDash val="solid"/>
          </a:ln>
        </p:spPr>
      </p:sp>
      <p:sp>
        <p:nvSpPr>
          <p:cNvPr id="9" name="Shape 7"/>
          <p:cNvSpPr/>
          <p:nvPr/>
        </p:nvSpPr>
        <p:spPr>
          <a:xfrm>
            <a:off x="804672" y="2084832"/>
            <a:ext cx="310896" cy="310896"/>
          </a:xfrm>
          <a:prstGeom prst="ellipse">
            <a:avLst/>
          </a:prstGeom>
          <a:solidFill>
            <a:srgbClr val="7DD3FC"/>
          </a:solidFill>
          <a:ln w="12700">
            <a:solidFill>
              <a:srgbClr val="7DD3FC"/>
            </a:solidFill>
            <a:prstDash val="solid"/>
          </a:ln>
        </p:spPr>
      </p:sp>
      <p:sp>
        <p:nvSpPr>
          <p:cNvPr id="10" name="Text 8"/>
          <p:cNvSpPr txBox="1"/>
          <p:nvPr/>
        </p:nvSpPr>
        <p:spPr>
          <a:xfrm>
            <a:off x="1216152" y="2020824"/>
            <a:ext cx="1691640" cy="164592"/>
          </a:xfrm>
          <a:prstGeom prst="rect">
            <a:avLst/>
          </a:prstGeom>
          <a:noFill/>
          <a:ln/>
        </p:spPr>
        <p:txBody>
          <a:bodyPr wrap="square" lIns="0" tIns="0" rIns="0" bIns="0" rtlCol="0" anchor="ctr">
            <a:normAutofit/>
          </a:bodyPr>
          <a:lstStyle/>
          <a:p>
            <a:pPr algn="l" indent="0" marL="0">
              <a:buNone/>
            </a:pPr>
            <a:r>
              <a:rPr lang="en-US" sz="900" b="1" dirty="0">
                <a:solidFill>
                  <a:srgbClr val="132033"/>
                </a:solidFill>
                <a:latin typeface="Aptos" pitchFamily="34" charset="0"/>
                <a:ea typeface="Aptos" pitchFamily="34" charset="-122"/>
                <a:cs typeface="Aptos" pitchFamily="34" charset="-120"/>
              </a:rPr>
              <a:t>Report R-183</a:t>
            </a:r>
            <a:endParaRPr lang="en-US" sz="900" dirty="0"/>
          </a:p>
        </p:txBody>
      </p:sp>
      <p:sp>
        <p:nvSpPr>
          <p:cNvPr id="11" name="Text 9"/>
          <p:cNvSpPr txBox="1"/>
          <p:nvPr/>
        </p:nvSpPr>
        <p:spPr>
          <a:xfrm>
            <a:off x="1216152" y="2221992"/>
            <a:ext cx="1755648" cy="201168"/>
          </a:xfrm>
          <a:prstGeom prst="rect">
            <a:avLst/>
          </a:prstGeom>
          <a:noFill/>
          <a:ln/>
        </p:spPr>
        <p:txBody>
          <a:bodyPr wrap="square" lIns="0" tIns="0" rIns="0" bIns="0" rtlCol="0" anchor="ctr">
            <a:normAutofit/>
          </a:bodyPr>
          <a:lstStyle/>
          <a:p>
            <a:pPr algn="l" indent="0" marL="0">
              <a:buNone/>
            </a:pPr>
            <a:r>
              <a:rPr lang="en-US" sz="850" dirty="0">
                <a:solidFill>
                  <a:srgbClr val="526176"/>
                </a:solidFill>
                <a:latin typeface="Aptos" pitchFamily="34" charset="0"/>
                <a:ea typeface="Aptos" pitchFamily="34" charset="-122"/>
                <a:cs typeface="Aptos" pitchFamily="34" charset="-120"/>
              </a:rPr>
              <a:t>“Pothole near main gate”</a:t>
            </a:r>
            <a:endParaRPr lang="en-US" sz="850" dirty="0"/>
          </a:p>
        </p:txBody>
      </p:sp>
      <p:sp>
        <p:nvSpPr>
          <p:cNvPr id="12" name="Shape 10"/>
          <p:cNvSpPr/>
          <p:nvPr/>
        </p:nvSpPr>
        <p:spPr>
          <a:xfrm>
            <a:off x="640080" y="2743200"/>
            <a:ext cx="2514600" cy="704088"/>
          </a:xfrm>
          <a:prstGeom prst="roundRect">
            <a:avLst>
              <a:gd name="adj" fmla="val 19481"/>
            </a:avLst>
          </a:prstGeom>
          <a:solidFill>
            <a:srgbClr val="FFFFFF"/>
          </a:solidFill>
          <a:ln w="12700">
            <a:solidFill>
              <a:srgbClr val="DCE3EA"/>
            </a:solidFill>
            <a:prstDash val="solid"/>
          </a:ln>
        </p:spPr>
      </p:sp>
      <p:sp>
        <p:nvSpPr>
          <p:cNvPr id="13" name="Shape 11"/>
          <p:cNvSpPr/>
          <p:nvPr/>
        </p:nvSpPr>
        <p:spPr>
          <a:xfrm>
            <a:off x="804672" y="2926080"/>
            <a:ext cx="310896" cy="310896"/>
          </a:xfrm>
          <a:prstGeom prst="ellipse">
            <a:avLst/>
          </a:prstGeom>
          <a:solidFill>
            <a:srgbClr val="2DD4BF"/>
          </a:solidFill>
          <a:ln w="12700">
            <a:solidFill>
              <a:srgbClr val="2DD4BF"/>
            </a:solidFill>
            <a:prstDash val="solid"/>
          </a:ln>
        </p:spPr>
      </p:sp>
      <p:sp>
        <p:nvSpPr>
          <p:cNvPr id="14" name="Text 12"/>
          <p:cNvSpPr txBox="1"/>
          <p:nvPr/>
        </p:nvSpPr>
        <p:spPr>
          <a:xfrm>
            <a:off x="1216152" y="2862072"/>
            <a:ext cx="1691640" cy="164592"/>
          </a:xfrm>
          <a:prstGeom prst="rect">
            <a:avLst/>
          </a:prstGeom>
          <a:noFill/>
          <a:ln/>
        </p:spPr>
        <p:txBody>
          <a:bodyPr wrap="square" lIns="0" tIns="0" rIns="0" bIns="0" rtlCol="0" anchor="ctr">
            <a:normAutofit/>
          </a:bodyPr>
          <a:lstStyle/>
          <a:p>
            <a:pPr algn="l" indent="0" marL="0">
              <a:buNone/>
            </a:pPr>
            <a:r>
              <a:rPr lang="en-US" sz="900" b="1" dirty="0">
                <a:solidFill>
                  <a:srgbClr val="132033"/>
                </a:solidFill>
                <a:latin typeface="Aptos" pitchFamily="34" charset="0"/>
                <a:ea typeface="Aptos" pitchFamily="34" charset="-122"/>
                <a:cs typeface="Aptos" pitchFamily="34" charset="-120"/>
              </a:rPr>
              <a:t>Report R-201</a:t>
            </a:r>
            <a:endParaRPr lang="en-US" sz="900" dirty="0"/>
          </a:p>
        </p:txBody>
      </p:sp>
      <p:sp>
        <p:nvSpPr>
          <p:cNvPr id="15" name="Text 13"/>
          <p:cNvSpPr txBox="1"/>
          <p:nvPr/>
        </p:nvSpPr>
        <p:spPr>
          <a:xfrm>
            <a:off x="1216152" y="3063240"/>
            <a:ext cx="1755648" cy="201168"/>
          </a:xfrm>
          <a:prstGeom prst="rect">
            <a:avLst/>
          </a:prstGeom>
          <a:noFill/>
          <a:ln/>
        </p:spPr>
        <p:txBody>
          <a:bodyPr wrap="square" lIns="0" tIns="0" rIns="0" bIns="0" rtlCol="0" anchor="ctr">
            <a:normAutofit/>
          </a:bodyPr>
          <a:lstStyle/>
          <a:p>
            <a:pPr algn="l" indent="0" marL="0">
              <a:buNone/>
            </a:pPr>
            <a:r>
              <a:rPr lang="en-US" sz="850" dirty="0">
                <a:solidFill>
                  <a:srgbClr val="526176"/>
                </a:solidFill>
                <a:latin typeface="Aptos" pitchFamily="34" charset="0"/>
                <a:ea typeface="Aptos" pitchFamily="34" charset="-122"/>
                <a:cs typeface="Aptos" pitchFamily="34" charset="-120"/>
              </a:rPr>
              <a:t>“Road has a big hole”</a:t>
            </a:r>
            <a:endParaRPr lang="en-US" sz="850" dirty="0"/>
          </a:p>
        </p:txBody>
      </p:sp>
      <p:sp>
        <p:nvSpPr>
          <p:cNvPr id="16" name="Shape 14"/>
          <p:cNvSpPr/>
          <p:nvPr/>
        </p:nvSpPr>
        <p:spPr>
          <a:xfrm>
            <a:off x="640080" y="3584448"/>
            <a:ext cx="2514600" cy="704088"/>
          </a:xfrm>
          <a:prstGeom prst="roundRect">
            <a:avLst>
              <a:gd name="adj" fmla="val 19481"/>
            </a:avLst>
          </a:prstGeom>
          <a:solidFill>
            <a:srgbClr val="FFFFFF"/>
          </a:solidFill>
          <a:ln w="12700">
            <a:solidFill>
              <a:srgbClr val="DCE3EA"/>
            </a:solidFill>
            <a:prstDash val="solid"/>
          </a:ln>
        </p:spPr>
      </p:sp>
      <p:sp>
        <p:nvSpPr>
          <p:cNvPr id="17" name="Shape 15"/>
          <p:cNvSpPr/>
          <p:nvPr/>
        </p:nvSpPr>
        <p:spPr>
          <a:xfrm>
            <a:off x="804672" y="3767328"/>
            <a:ext cx="310896" cy="310896"/>
          </a:xfrm>
          <a:prstGeom prst="ellipse">
            <a:avLst/>
          </a:prstGeom>
          <a:solidFill>
            <a:srgbClr val="FFC66D"/>
          </a:solidFill>
          <a:ln w="12700">
            <a:solidFill>
              <a:srgbClr val="FFC66D"/>
            </a:solidFill>
            <a:prstDash val="solid"/>
          </a:ln>
        </p:spPr>
      </p:sp>
      <p:sp>
        <p:nvSpPr>
          <p:cNvPr id="18" name="Text 16"/>
          <p:cNvSpPr txBox="1"/>
          <p:nvPr/>
        </p:nvSpPr>
        <p:spPr>
          <a:xfrm>
            <a:off x="1216152" y="3703320"/>
            <a:ext cx="1691640" cy="164592"/>
          </a:xfrm>
          <a:prstGeom prst="rect">
            <a:avLst/>
          </a:prstGeom>
          <a:noFill/>
          <a:ln/>
        </p:spPr>
        <p:txBody>
          <a:bodyPr wrap="square" lIns="0" tIns="0" rIns="0" bIns="0" rtlCol="0" anchor="ctr">
            <a:normAutofit/>
          </a:bodyPr>
          <a:lstStyle/>
          <a:p>
            <a:pPr algn="l" indent="0" marL="0">
              <a:buNone/>
            </a:pPr>
            <a:r>
              <a:rPr lang="en-US" sz="900" b="1" dirty="0">
                <a:solidFill>
                  <a:srgbClr val="132033"/>
                </a:solidFill>
                <a:latin typeface="Aptos" pitchFamily="34" charset="0"/>
                <a:ea typeface="Aptos" pitchFamily="34" charset="-122"/>
                <a:cs typeface="Aptos" pitchFamily="34" charset="-120"/>
              </a:rPr>
              <a:t>Report R-244</a:t>
            </a:r>
            <a:endParaRPr lang="en-US" sz="900" dirty="0"/>
          </a:p>
        </p:txBody>
      </p:sp>
      <p:sp>
        <p:nvSpPr>
          <p:cNvPr id="19" name="Text 17"/>
          <p:cNvSpPr txBox="1"/>
          <p:nvPr/>
        </p:nvSpPr>
        <p:spPr>
          <a:xfrm>
            <a:off x="1216152" y="3904488"/>
            <a:ext cx="1755648" cy="201168"/>
          </a:xfrm>
          <a:prstGeom prst="rect">
            <a:avLst/>
          </a:prstGeom>
          <a:noFill/>
          <a:ln/>
        </p:spPr>
        <p:txBody>
          <a:bodyPr wrap="square" lIns="0" tIns="0" rIns="0" bIns="0" rtlCol="0" anchor="ctr">
            <a:normAutofit/>
          </a:bodyPr>
          <a:lstStyle/>
          <a:p>
            <a:pPr algn="l" indent="0" marL="0">
              <a:buNone/>
            </a:pPr>
            <a:r>
              <a:rPr lang="en-US" sz="850" dirty="0">
                <a:solidFill>
                  <a:srgbClr val="526176"/>
                </a:solidFill>
                <a:latin typeface="Aptos" pitchFamily="34" charset="0"/>
                <a:ea typeface="Aptos" pitchFamily="34" charset="-122"/>
                <a:cs typeface="Aptos" pitchFamily="34" charset="-120"/>
              </a:rPr>
              <a:t>“Dangerous road damage”</a:t>
            </a:r>
            <a:endParaRPr lang="en-US" sz="850" dirty="0"/>
          </a:p>
        </p:txBody>
      </p:sp>
      <p:sp>
        <p:nvSpPr>
          <p:cNvPr id="20" name="Shape 18"/>
          <p:cNvSpPr/>
          <p:nvPr/>
        </p:nvSpPr>
        <p:spPr>
          <a:xfrm>
            <a:off x="640080" y="4425696"/>
            <a:ext cx="2514600" cy="704088"/>
          </a:xfrm>
          <a:prstGeom prst="roundRect">
            <a:avLst>
              <a:gd name="adj" fmla="val 19481"/>
            </a:avLst>
          </a:prstGeom>
          <a:solidFill>
            <a:srgbClr val="FFFFFF"/>
          </a:solidFill>
          <a:ln w="12700">
            <a:solidFill>
              <a:srgbClr val="DCE3EA"/>
            </a:solidFill>
            <a:prstDash val="solid"/>
          </a:ln>
        </p:spPr>
      </p:sp>
      <p:sp>
        <p:nvSpPr>
          <p:cNvPr id="21" name="Shape 19"/>
          <p:cNvSpPr/>
          <p:nvPr/>
        </p:nvSpPr>
        <p:spPr>
          <a:xfrm>
            <a:off x="804672" y="4608576"/>
            <a:ext cx="310896" cy="310896"/>
          </a:xfrm>
          <a:prstGeom prst="ellipse">
            <a:avLst/>
          </a:prstGeom>
          <a:solidFill>
            <a:srgbClr val="FB7185"/>
          </a:solidFill>
          <a:ln w="12700">
            <a:solidFill>
              <a:srgbClr val="FB7185"/>
            </a:solidFill>
            <a:prstDash val="solid"/>
          </a:ln>
        </p:spPr>
      </p:sp>
      <p:sp>
        <p:nvSpPr>
          <p:cNvPr id="22" name="Text 20"/>
          <p:cNvSpPr txBox="1"/>
          <p:nvPr/>
        </p:nvSpPr>
        <p:spPr>
          <a:xfrm>
            <a:off x="1216152" y="4544568"/>
            <a:ext cx="1691640" cy="164592"/>
          </a:xfrm>
          <a:prstGeom prst="rect">
            <a:avLst/>
          </a:prstGeom>
          <a:noFill/>
          <a:ln/>
        </p:spPr>
        <p:txBody>
          <a:bodyPr wrap="square" lIns="0" tIns="0" rIns="0" bIns="0" rtlCol="0" anchor="ctr">
            <a:normAutofit/>
          </a:bodyPr>
          <a:lstStyle/>
          <a:p>
            <a:pPr algn="l" indent="0" marL="0">
              <a:buNone/>
            </a:pPr>
            <a:r>
              <a:rPr lang="en-US" sz="900" b="1" dirty="0">
                <a:solidFill>
                  <a:srgbClr val="132033"/>
                </a:solidFill>
                <a:latin typeface="Aptos" pitchFamily="34" charset="0"/>
                <a:ea typeface="Aptos" pitchFamily="34" charset="-122"/>
                <a:cs typeface="Aptos" pitchFamily="34" charset="-120"/>
              </a:rPr>
              <a:t>Report R-250</a:t>
            </a:r>
            <a:endParaRPr lang="en-US" sz="900" dirty="0"/>
          </a:p>
        </p:txBody>
      </p:sp>
      <p:sp>
        <p:nvSpPr>
          <p:cNvPr id="23" name="Text 21"/>
          <p:cNvSpPr txBox="1"/>
          <p:nvPr/>
        </p:nvSpPr>
        <p:spPr>
          <a:xfrm>
            <a:off x="1216152" y="4745736"/>
            <a:ext cx="1755648" cy="201168"/>
          </a:xfrm>
          <a:prstGeom prst="rect">
            <a:avLst/>
          </a:prstGeom>
          <a:noFill/>
          <a:ln/>
        </p:spPr>
        <p:txBody>
          <a:bodyPr wrap="square" lIns="0" tIns="0" rIns="0" bIns="0" rtlCol="0" anchor="ctr">
            <a:normAutofit/>
          </a:bodyPr>
          <a:lstStyle/>
          <a:p>
            <a:pPr algn="l" indent="0" marL="0">
              <a:buNone/>
            </a:pPr>
            <a:r>
              <a:rPr lang="en-US" sz="850" dirty="0">
                <a:solidFill>
                  <a:srgbClr val="526176"/>
                </a:solidFill>
                <a:latin typeface="Aptos" pitchFamily="34" charset="0"/>
                <a:ea typeface="Aptos" pitchFamily="34" charset="-122"/>
                <a:cs typeface="Aptos" pitchFamily="34" charset="-120"/>
              </a:rPr>
              <a:t>Photo + location evidence</a:t>
            </a:r>
            <a:endParaRPr lang="en-US" sz="850" dirty="0"/>
          </a:p>
        </p:txBody>
      </p:sp>
      <p:sp>
        <p:nvSpPr>
          <p:cNvPr id="24" name="Shape 22"/>
          <p:cNvSpPr/>
          <p:nvPr/>
        </p:nvSpPr>
        <p:spPr>
          <a:xfrm>
            <a:off x="3246120" y="2258568"/>
            <a:ext cx="640080" cy="804672"/>
          </a:xfrm>
          <a:prstGeom prst="line">
            <a:avLst/>
          </a:prstGeom>
          <a:noFill/>
          <a:ln w="19050">
            <a:solidFill>
              <a:srgbClr val="2DD4BF"/>
            </a:solidFill>
            <a:prstDash val="solid"/>
            <a:headEnd type="none"/>
            <a:tailEnd type="none"/>
          </a:ln>
        </p:spPr>
      </p:sp>
      <p:sp>
        <p:nvSpPr>
          <p:cNvPr id="25" name="Shape 23"/>
          <p:cNvSpPr/>
          <p:nvPr/>
        </p:nvSpPr>
        <p:spPr>
          <a:xfrm>
            <a:off x="3246120" y="3099816"/>
            <a:ext cx="640080" cy="173736"/>
          </a:xfrm>
          <a:prstGeom prst="line">
            <a:avLst/>
          </a:prstGeom>
          <a:noFill/>
          <a:ln w="19050">
            <a:solidFill>
              <a:srgbClr val="2DD4BF"/>
            </a:solidFill>
            <a:prstDash val="solid"/>
            <a:headEnd type="none"/>
            <a:tailEnd type="none"/>
          </a:ln>
        </p:spPr>
      </p:sp>
      <p:sp>
        <p:nvSpPr>
          <p:cNvPr id="26" name="Shape 24"/>
          <p:cNvSpPr/>
          <p:nvPr/>
        </p:nvSpPr>
        <p:spPr>
          <a:xfrm>
            <a:off x="3246120" y="3941064"/>
            <a:ext cx="640080" cy="-448056"/>
          </a:xfrm>
          <a:prstGeom prst="line">
            <a:avLst/>
          </a:prstGeom>
          <a:noFill/>
          <a:ln w="19050">
            <a:solidFill>
              <a:srgbClr val="2DD4BF"/>
            </a:solidFill>
            <a:prstDash val="solid"/>
            <a:headEnd type="none"/>
            <a:tailEnd type="none"/>
          </a:ln>
        </p:spPr>
      </p:sp>
      <p:sp>
        <p:nvSpPr>
          <p:cNvPr id="27" name="Shape 25"/>
          <p:cNvSpPr/>
          <p:nvPr/>
        </p:nvSpPr>
        <p:spPr>
          <a:xfrm>
            <a:off x="3246120" y="4782312"/>
            <a:ext cx="640080" cy="-1097280"/>
          </a:xfrm>
          <a:prstGeom prst="line">
            <a:avLst/>
          </a:prstGeom>
          <a:noFill/>
          <a:ln w="19050">
            <a:solidFill>
              <a:srgbClr val="2DD4BF"/>
            </a:solidFill>
            <a:prstDash val="solid"/>
            <a:headEnd type="none"/>
            <a:tailEnd type="none"/>
          </a:ln>
        </p:spPr>
      </p:sp>
      <p:sp>
        <p:nvSpPr>
          <p:cNvPr id="28" name="Shape 26"/>
          <p:cNvSpPr/>
          <p:nvPr/>
        </p:nvSpPr>
        <p:spPr>
          <a:xfrm>
            <a:off x="3712464" y="3127248"/>
            <a:ext cx="475488" cy="475488"/>
          </a:xfrm>
          <a:prstGeom prst="ellipse">
            <a:avLst/>
          </a:prstGeom>
          <a:solidFill>
            <a:srgbClr val="2DD4BF"/>
          </a:solidFill>
          <a:ln w="12700">
            <a:solidFill>
              <a:srgbClr val="2DD4BF"/>
            </a:solidFill>
            <a:prstDash val="solid"/>
          </a:ln>
        </p:spPr>
      </p:sp>
      <p:sp>
        <p:nvSpPr>
          <p:cNvPr id="29" name="Text 27"/>
          <p:cNvSpPr txBox="1"/>
          <p:nvPr/>
        </p:nvSpPr>
        <p:spPr>
          <a:xfrm>
            <a:off x="3712464" y="3273552"/>
            <a:ext cx="475488" cy="164592"/>
          </a:xfrm>
          <a:prstGeom prst="rect">
            <a:avLst/>
          </a:prstGeom>
          <a:noFill/>
          <a:ln/>
        </p:spPr>
        <p:txBody>
          <a:bodyPr wrap="square" lIns="0" tIns="0" rIns="0" bIns="0" rtlCol="0" anchor="ctr">
            <a:normAutofit/>
          </a:bodyPr>
          <a:lstStyle/>
          <a:p>
            <a:pPr algn="ctr" indent="0" marL="0">
              <a:buNone/>
            </a:pPr>
            <a:r>
              <a:rPr lang="en-US" sz="1000" b="1" dirty="0">
                <a:solidFill>
                  <a:srgbClr val="0B1220"/>
                </a:solidFill>
                <a:latin typeface="Aptos" pitchFamily="34" charset="0"/>
                <a:ea typeface="Aptos" pitchFamily="34" charset="-122"/>
                <a:cs typeface="Aptos" pitchFamily="34" charset="-120"/>
              </a:rPr>
              <a:t>AI</a:t>
            </a:r>
            <a:endParaRPr lang="en-US" sz="1000" dirty="0"/>
          </a:p>
        </p:txBody>
      </p:sp>
      <p:sp>
        <p:nvSpPr>
          <p:cNvPr id="30" name="Shape 28"/>
          <p:cNvSpPr/>
          <p:nvPr/>
        </p:nvSpPr>
        <p:spPr>
          <a:xfrm>
            <a:off x="4187952" y="3364992"/>
            <a:ext cx="612648" cy="0"/>
          </a:xfrm>
          <a:prstGeom prst="line">
            <a:avLst/>
          </a:prstGeom>
          <a:noFill/>
          <a:ln w="25400">
            <a:solidFill>
              <a:srgbClr val="2DD4BF"/>
            </a:solidFill>
            <a:prstDash val="solid"/>
            <a:headEnd type="none"/>
            <a:tailEnd type="none"/>
          </a:ln>
        </p:spPr>
      </p:sp>
      <p:sp>
        <p:nvSpPr>
          <p:cNvPr id="31" name="Shape 29"/>
          <p:cNvSpPr/>
          <p:nvPr/>
        </p:nvSpPr>
        <p:spPr>
          <a:xfrm>
            <a:off x="4809744" y="2121408"/>
            <a:ext cx="2971800" cy="2560320"/>
          </a:xfrm>
          <a:prstGeom prst="roundRect">
            <a:avLst>
              <a:gd name="adj" fmla="val 5357"/>
            </a:avLst>
          </a:prstGeom>
          <a:solidFill>
            <a:srgbClr val="FFFFFF"/>
          </a:solidFill>
          <a:ln w="12700">
            <a:solidFill>
              <a:srgbClr val="DCE3EA"/>
            </a:solidFill>
            <a:prstDash val="solid"/>
          </a:ln>
        </p:spPr>
      </p:sp>
      <p:sp>
        <p:nvSpPr>
          <p:cNvPr id="32" name="Shape 30"/>
          <p:cNvSpPr/>
          <p:nvPr/>
        </p:nvSpPr>
        <p:spPr>
          <a:xfrm>
            <a:off x="5093208" y="2377440"/>
            <a:ext cx="1371600" cy="274320"/>
          </a:xfrm>
          <a:prstGeom prst="roundRect">
            <a:avLst>
              <a:gd name="adj" fmla="val 40000"/>
            </a:avLst>
          </a:prstGeom>
          <a:solidFill>
            <a:srgbClr val="DDFBF5"/>
          </a:solidFill>
          <a:ln w="12700">
            <a:solidFill>
              <a:srgbClr val="DDFBF5">
                <a:alpha val="0"/>
              </a:srgbClr>
            </a:solidFill>
            <a:prstDash val="solid"/>
          </a:ln>
        </p:spPr>
      </p:sp>
      <p:sp>
        <p:nvSpPr>
          <p:cNvPr id="33" name="Text 31"/>
          <p:cNvSpPr txBox="1"/>
          <p:nvPr/>
        </p:nvSpPr>
        <p:spPr>
          <a:xfrm>
            <a:off x="5166360" y="2395728"/>
            <a:ext cx="1225296" cy="228600"/>
          </a:xfrm>
          <a:prstGeom prst="rect">
            <a:avLst/>
          </a:prstGeom>
          <a:noFill/>
          <a:ln/>
        </p:spPr>
        <p:txBody>
          <a:bodyPr wrap="square" lIns="0" tIns="0" rIns="0" bIns="0" rtlCol="0" anchor="ctr">
            <a:normAutofit/>
          </a:bodyPr>
          <a:lstStyle/>
          <a:p>
            <a:pPr algn="ctr" indent="0" marL="0">
              <a:buNone/>
            </a:pPr>
            <a:r>
              <a:rPr lang="en-US" sz="850" b="1" dirty="0">
                <a:solidFill>
                  <a:srgbClr val="0F766E"/>
                </a:solidFill>
                <a:latin typeface="Aptos" pitchFamily="34" charset="0"/>
                <a:ea typeface="Aptos" pitchFamily="34" charset="-122"/>
                <a:cs typeface="Aptos" pitchFamily="34" charset="-120"/>
              </a:rPr>
              <a:t>CANONICAL ISSUE</a:t>
            </a:r>
            <a:endParaRPr lang="en-US" sz="850" dirty="0"/>
          </a:p>
        </p:txBody>
      </p:sp>
      <p:sp>
        <p:nvSpPr>
          <p:cNvPr id="34" name="Text 32"/>
          <p:cNvSpPr txBox="1"/>
          <p:nvPr/>
        </p:nvSpPr>
        <p:spPr>
          <a:xfrm>
            <a:off x="5102352" y="2834640"/>
            <a:ext cx="2103120" cy="411480"/>
          </a:xfrm>
          <a:prstGeom prst="rect">
            <a:avLst/>
          </a:prstGeom>
          <a:noFill/>
          <a:ln/>
        </p:spPr>
        <p:txBody>
          <a:bodyPr wrap="square" lIns="0" tIns="0" rIns="0" bIns="0" rtlCol="0" anchor="ctr">
            <a:normAutofit/>
          </a:bodyPr>
          <a:lstStyle/>
          <a:p>
            <a:pPr algn="l" indent="0" marL="0">
              <a:buNone/>
            </a:pPr>
            <a:r>
              <a:rPr lang="en-US" sz="2600" b="1" dirty="0">
                <a:solidFill>
                  <a:srgbClr val="132033"/>
                </a:solidFill>
                <a:latin typeface="Aptos Display" pitchFamily="34" charset="0"/>
                <a:ea typeface="Aptos Display" pitchFamily="34" charset="-122"/>
                <a:cs typeface="Aptos Display" pitchFamily="34" charset="-120"/>
              </a:rPr>
              <a:t>CF-1024</a:t>
            </a:r>
            <a:endParaRPr lang="en-US" sz="2600" dirty="0"/>
          </a:p>
        </p:txBody>
      </p:sp>
      <p:sp>
        <p:nvSpPr>
          <p:cNvPr id="35" name="Text 33"/>
          <p:cNvSpPr txBox="1"/>
          <p:nvPr/>
        </p:nvSpPr>
        <p:spPr>
          <a:xfrm>
            <a:off x="5102352" y="3310128"/>
            <a:ext cx="2331720" cy="228600"/>
          </a:xfrm>
          <a:prstGeom prst="rect">
            <a:avLst/>
          </a:prstGeom>
          <a:noFill/>
          <a:ln/>
        </p:spPr>
        <p:txBody>
          <a:bodyPr wrap="square" lIns="0" tIns="0" rIns="0" bIns="0" rtlCol="0" anchor="ctr">
            <a:normAutofit/>
          </a:bodyPr>
          <a:lstStyle/>
          <a:p>
            <a:pPr algn="l" indent="0" marL="0">
              <a:buNone/>
            </a:pPr>
            <a:r>
              <a:rPr lang="en-US" sz="1300" b="1" dirty="0">
                <a:solidFill>
                  <a:srgbClr val="132033"/>
                </a:solidFill>
                <a:latin typeface="Aptos" pitchFamily="34" charset="0"/>
                <a:ea typeface="Aptos" pitchFamily="34" charset="-122"/>
                <a:cs typeface="Aptos" pitchFamily="34" charset="-120"/>
              </a:rPr>
              <a:t>Pothole — Main Gate</a:t>
            </a:r>
            <a:endParaRPr lang="en-US" sz="1300" dirty="0"/>
          </a:p>
        </p:txBody>
      </p:sp>
      <p:sp>
        <p:nvSpPr>
          <p:cNvPr id="36" name="Text 34"/>
          <p:cNvSpPr txBox="1"/>
          <p:nvPr/>
        </p:nvSpPr>
        <p:spPr>
          <a:xfrm>
            <a:off x="5102352" y="3703320"/>
            <a:ext cx="2423160" cy="219456"/>
          </a:xfrm>
          <a:prstGeom prst="rect">
            <a:avLst/>
          </a:prstGeom>
          <a:noFill/>
          <a:ln/>
        </p:spPr>
        <p:txBody>
          <a:bodyPr wrap="square" lIns="0" tIns="0" rIns="0" bIns="0" rtlCol="0" anchor="ctr">
            <a:normAutofit/>
          </a:bodyPr>
          <a:lstStyle/>
          <a:p>
            <a:pPr algn="l" indent="0" marL="0">
              <a:buNone/>
            </a:pPr>
            <a:r>
              <a:rPr lang="en-US" sz="950" dirty="0">
                <a:solidFill>
                  <a:srgbClr val="526176"/>
                </a:solidFill>
                <a:latin typeface="Aptos" pitchFamily="34" charset="0"/>
                <a:ea typeface="Aptos" pitchFamily="34" charset="-122"/>
                <a:cs typeface="Aptos" pitchFamily="34" charset="-120"/>
              </a:rPr>
              <a:t>23 observations • 1 issue cluster</a:t>
            </a:r>
            <a:endParaRPr lang="en-US" sz="950" dirty="0"/>
          </a:p>
        </p:txBody>
      </p:sp>
      <p:sp>
        <p:nvSpPr>
          <p:cNvPr id="37" name="Shape 35"/>
          <p:cNvSpPr/>
          <p:nvPr/>
        </p:nvSpPr>
        <p:spPr>
          <a:xfrm>
            <a:off x="5102352" y="4096512"/>
            <a:ext cx="1572768" cy="274320"/>
          </a:xfrm>
          <a:prstGeom prst="roundRect">
            <a:avLst>
              <a:gd name="adj" fmla="val 40000"/>
            </a:avLst>
          </a:prstGeom>
          <a:solidFill>
            <a:srgbClr val="FFE4E9"/>
          </a:solidFill>
          <a:ln w="12700">
            <a:solidFill>
              <a:srgbClr val="FFE4E9">
                <a:alpha val="0"/>
              </a:srgbClr>
            </a:solidFill>
            <a:prstDash val="solid"/>
          </a:ln>
        </p:spPr>
      </p:sp>
      <p:sp>
        <p:nvSpPr>
          <p:cNvPr id="38" name="Text 36"/>
          <p:cNvSpPr txBox="1"/>
          <p:nvPr/>
        </p:nvSpPr>
        <p:spPr>
          <a:xfrm>
            <a:off x="5175504" y="4114800"/>
            <a:ext cx="1426464" cy="228600"/>
          </a:xfrm>
          <a:prstGeom prst="rect">
            <a:avLst/>
          </a:prstGeom>
          <a:noFill/>
          <a:ln/>
        </p:spPr>
        <p:txBody>
          <a:bodyPr wrap="square" lIns="0" tIns="0" rIns="0" bIns="0" rtlCol="0" anchor="ctr">
            <a:normAutofit/>
          </a:bodyPr>
          <a:lstStyle/>
          <a:p>
            <a:pPr algn="ctr" indent="0" marL="0">
              <a:buNone/>
            </a:pPr>
            <a:r>
              <a:rPr lang="en-US" sz="850" b="1" dirty="0">
                <a:solidFill>
                  <a:srgbClr val="9F1239"/>
                </a:solidFill>
                <a:latin typeface="Aptos" pitchFamily="34" charset="0"/>
                <a:ea typeface="Aptos" pitchFamily="34" charset="-122"/>
                <a:cs typeface="Aptos" pitchFamily="34" charset="-120"/>
              </a:rPr>
              <a:t>HIGH PRIORITY · 89</a:t>
            </a:r>
            <a:endParaRPr lang="en-US" sz="850" dirty="0"/>
          </a:p>
        </p:txBody>
      </p:sp>
      <p:sp>
        <p:nvSpPr>
          <p:cNvPr id="39" name="Shape 37"/>
          <p:cNvSpPr/>
          <p:nvPr/>
        </p:nvSpPr>
        <p:spPr>
          <a:xfrm>
            <a:off x="8156448" y="1874520"/>
            <a:ext cx="3355848" cy="4169664"/>
          </a:xfrm>
          <a:prstGeom prst="roundRect">
            <a:avLst>
              <a:gd name="adj" fmla="val 4087"/>
            </a:avLst>
          </a:prstGeom>
          <a:solidFill>
            <a:srgbClr val="111C2E"/>
          </a:solidFill>
          <a:ln w="12700">
            <a:solidFill>
              <a:srgbClr val="17263A"/>
            </a:solidFill>
            <a:prstDash val="solid"/>
          </a:ln>
        </p:spPr>
      </p:sp>
      <p:sp>
        <p:nvSpPr>
          <p:cNvPr id="40" name="Text 38"/>
          <p:cNvSpPr txBox="1"/>
          <p:nvPr/>
        </p:nvSpPr>
        <p:spPr>
          <a:xfrm>
            <a:off x="8430768" y="2185416"/>
            <a:ext cx="2743200" cy="228600"/>
          </a:xfrm>
          <a:prstGeom prst="rect">
            <a:avLst/>
          </a:prstGeom>
          <a:noFill/>
          <a:ln/>
        </p:spPr>
        <p:txBody>
          <a:bodyPr wrap="square" lIns="0" tIns="0" rIns="0" bIns="0" rtlCol="0" anchor="ctr">
            <a:normAutofit/>
          </a:bodyPr>
          <a:lstStyle/>
          <a:p>
            <a:pPr algn="l" indent="0" marL="0">
              <a:buNone/>
            </a:pPr>
            <a:r>
              <a:rPr lang="en-US" sz="1000" b="1" spc="80" kern="0" dirty="0">
                <a:solidFill>
                  <a:srgbClr val="2DD4BF"/>
                </a:solidFill>
                <a:latin typeface="Aptos" pitchFamily="34" charset="0"/>
                <a:ea typeface="Aptos" pitchFamily="34" charset="-122"/>
                <a:cs typeface="Aptos" pitchFamily="34" charset="-120"/>
              </a:rPr>
              <a:t>WHY CLUSTERING MATTERS</a:t>
            </a:r>
            <a:endParaRPr lang="en-US" sz="1000" dirty="0"/>
          </a:p>
        </p:txBody>
      </p:sp>
      <p:sp>
        <p:nvSpPr>
          <p:cNvPr id="41" name="Shape 39"/>
          <p:cNvSpPr/>
          <p:nvPr/>
        </p:nvSpPr>
        <p:spPr>
          <a:xfrm>
            <a:off x="8430768" y="2706624"/>
            <a:ext cx="347472" cy="347472"/>
          </a:xfrm>
          <a:prstGeom prst="ellipse">
            <a:avLst/>
          </a:prstGeom>
          <a:solidFill>
            <a:srgbClr val="17263A"/>
          </a:solidFill>
          <a:ln w="12700">
            <a:solidFill>
              <a:srgbClr val="17263A"/>
            </a:solidFill>
            <a:prstDash val="solid"/>
          </a:ln>
        </p:spPr>
      </p:sp>
      <p:sp>
        <p:nvSpPr>
          <p:cNvPr id="42" name="Text 40"/>
          <p:cNvSpPr txBox="1"/>
          <p:nvPr/>
        </p:nvSpPr>
        <p:spPr>
          <a:xfrm>
            <a:off x="8430768" y="2798064"/>
            <a:ext cx="347472" cy="146304"/>
          </a:xfrm>
          <a:prstGeom prst="rect">
            <a:avLst/>
          </a:prstGeom>
          <a:noFill/>
          <a:ln/>
        </p:spPr>
        <p:txBody>
          <a:bodyPr wrap="square" lIns="0" tIns="0" rIns="0" bIns="0" rtlCol="0" anchor="ctr">
            <a:normAutofit/>
          </a:bodyPr>
          <a:lstStyle/>
          <a:p>
            <a:pPr algn="ctr" indent="0" marL="0">
              <a:buNone/>
            </a:pPr>
            <a:r>
              <a:rPr lang="en-US" sz="850" b="1" dirty="0">
                <a:solidFill>
                  <a:srgbClr val="D5FF74"/>
                </a:solidFill>
                <a:latin typeface="Aptos" pitchFamily="34" charset="0"/>
                <a:ea typeface="Aptos" pitchFamily="34" charset="-122"/>
                <a:cs typeface="Aptos" pitchFamily="34" charset="-120"/>
              </a:rPr>
              <a:t>01</a:t>
            </a:r>
            <a:endParaRPr lang="en-US" sz="850" dirty="0"/>
          </a:p>
        </p:txBody>
      </p:sp>
      <p:sp>
        <p:nvSpPr>
          <p:cNvPr id="43" name="Text 41"/>
          <p:cNvSpPr txBox="1"/>
          <p:nvPr/>
        </p:nvSpPr>
        <p:spPr>
          <a:xfrm>
            <a:off x="8942832" y="2743200"/>
            <a:ext cx="2148840" cy="219456"/>
          </a:xfrm>
          <a:prstGeom prst="rect">
            <a:avLst/>
          </a:prstGeom>
          <a:noFill/>
          <a:ln/>
        </p:spPr>
        <p:txBody>
          <a:bodyPr wrap="square" lIns="0" tIns="0" rIns="0" bIns="0" rtlCol="0" anchor="ctr">
            <a:normAutofit/>
          </a:bodyPr>
          <a:lstStyle/>
          <a:p>
            <a:pPr algn="l" indent="0" marL="0">
              <a:buNone/>
            </a:pPr>
            <a:r>
              <a:rPr lang="en-US" sz="1100" b="1" dirty="0">
                <a:solidFill>
                  <a:srgbClr val="FFFFFF"/>
                </a:solidFill>
                <a:latin typeface="Aptos" pitchFamily="34" charset="0"/>
                <a:ea typeface="Aptos" pitchFamily="34" charset="-122"/>
                <a:cs typeface="Aptos" pitchFamily="34" charset="-120"/>
              </a:rPr>
              <a:t>Less duplicate noise</a:t>
            </a:r>
            <a:endParaRPr lang="en-US" sz="1100" dirty="0"/>
          </a:p>
        </p:txBody>
      </p:sp>
      <p:sp>
        <p:nvSpPr>
          <p:cNvPr id="44" name="Shape 42"/>
          <p:cNvSpPr/>
          <p:nvPr/>
        </p:nvSpPr>
        <p:spPr>
          <a:xfrm>
            <a:off x="8430768" y="3374136"/>
            <a:ext cx="347472" cy="347472"/>
          </a:xfrm>
          <a:prstGeom prst="ellipse">
            <a:avLst/>
          </a:prstGeom>
          <a:solidFill>
            <a:srgbClr val="17263A"/>
          </a:solidFill>
          <a:ln w="12700">
            <a:solidFill>
              <a:srgbClr val="17263A"/>
            </a:solidFill>
            <a:prstDash val="solid"/>
          </a:ln>
        </p:spPr>
      </p:sp>
      <p:sp>
        <p:nvSpPr>
          <p:cNvPr id="45" name="Text 43"/>
          <p:cNvSpPr txBox="1"/>
          <p:nvPr/>
        </p:nvSpPr>
        <p:spPr>
          <a:xfrm>
            <a:off x="8430768" y="3465576"/>
            <a:ext cx="347472" cy="146304"/>
          </a:xfrm>
          <a:prstGeom prst="rect">
            <a:avLst/>
          </a:prstGeom>
          <a:noFill/>
          <a:ln/>
        </p:spPr>
        <p:txBody>
          <a:bodyPr wrap="square" lIns="0" tIns="0" rIns="0" bIns="0" rtlCol="0" anchor="ctr">
            <a:normAutofit/>
          </a:bodyPr>
          <a:lstStyle/>
          <a:p>
            <a:pPr algn="ctr" indent="0" marL="0">
              <a:buNone/>
            </a:pPr>
            <a:r>
              <a:rPr lang="en-US" sz="850" b="1" dirty="0">
                <a:solidFill>
                  <a:srgbClr val="D5FF74"/>
                </a:solidFill>
                <a:latin typeface="Aptos" pitchFamily="34" charset="0"/>
                <a:ea typeface="Aptos" pitchFamily="34" charset="-122"/>
                <a:cs typeface="Aptos" pitchFamily="34" charset="-120"/>
              </a:rPr>
              <a:t>02</a:t>
            </a:r>
            <a:endParaRPr lang="en-US" sz="850" dirty="0"/>
          </a:p>
        </p:txBody>
      </p:sp>
      <p:sp>
        <p:nvSpPr>
          <p:cNvPr id="46" name="Text 44"/>
          <p:cNvSpPr txBox="1"/>
          <p:nvPr/>
        </p:nvSpPr>
        <p:spPr>
          <a:xfrm>
            <a:off x="8942832" y="3410712"/>
            <a:ext cx="2148840" cy="219456"/>
          </a:xfrm>
          <a:prstGeom prst="rect">
            <a:avLst/>
          </a:prstGeom>
          <a:noFill/>
          <a:ln/>
        </p:spPr>
        <p:txBody>
          <a:bodyPr wrap="square" lIns="0" tIns="0" rIns="0" bIns="0" rtlCol="0" anchor="ctr">
            <a:normAutofit/>
          </a:bodyPr>
          <a:lstStyle/>
          <a:p>
            <a:pPr algn="l" indent="0" marL="0">
              <a:buNone/>
            </a:pPr>
            <a:r>
              <a:rPr lang="en-US" sz="1100" b="1" dirty="0">
                <a:solidFill>
                  <a:srgbClr val="FFFFFF"/>
                </a:solidFill>
                <a:latin typeface="Aptos" pitchFamily="34" charset="0"/>
                <a:ea typeface="Aptos" pitchFamily="34" charset="-122"/>
                <a:cs typeface="Aptos" pitchFamily="34" charset="-120"/>
              </a:rPr>
              <a:t>Stronger combined evidence</a:t>
            </a:r>
            <a:endParaRPr lang="en-US" sz="1100" dirty="0"/>
          </a:p>
        </p:txBody>
      </p:sp>
      <p:sp>
        <p:nvSpPr>
          <p:cNvPr id="47" name="Shape 45"/>
          <p:cNvSpPr/>
          <p:nvPr/>
        </p:nvSpPr>
        <p:spPr>
          <a:xfrm>
            <a:off x="8430768" y="4041648"/>
            <a:ext cx="347472" cy="347472"/>
          </a:xfrm>
          <a:prstGeom prst="ellipse">
            <a:avLst/>
          </a:prstGeom>
          <a:solidFill>
            <a:srgbClr val="17263A"/>
          </a:solidFill>
          <a:ln w="12700">
            <a:solidFill>
              <a:srgbClr val="17263A"/>
            </a:solidFill>
            <a:prstDash val="solid"/>
          </a:ln>
        </p:spPr>
      </p:sp>
      <p:sp>
        <p:nvSpPr>
          <p:cNvPr id="48" name="Text 46"/>
          <p:cNvSpPr txBox="1"/>
          <p:nvPr/>
        </p:nvSpPr>
        <p:spPr>
          <a:xfrm>
            <a:off x="8430768" y="4133088"/>
            <a:ext cx="347472" cy="146304"/>
          </a:xfrm>
          <a:prstGeom prst="rect">
            <a:avLst/>
          </a:prstGeom>
          <a:noFill/>
          <a:ln/>
        </p:spPr>
        <p:txBody>
          <a:bodyPr wrap="square" lIns="0" tIns="0" rIns="0" bIns="0" rtlCol="0" anchor="ctr">
            <a:normAutofit/>
          </a:bodyPr>
          <a:lstStyle/>
          <a:p>
            <a:pPr algn="ctr" indent="0" marL="0">
              <a:buNone/>
            </a:pPr>
            <a:r>
              <a:rPr lang="en-US" sz="850" b="1" dirty="0">
                <a:solidFill>
                  <a:srgbClr val="D5FF74"/>
                </a:solidFill>
                <a:latin typeface="Aptos" pitchFamily="34" charset="0"/>
                <a:ea typeface="Aptos" pitchFamily="34" charset="-122"/>
                <a:cs typeface="Aptos" pitchFamily="34" charset="-120"/>
              </a:rPr>
              <a:t>03</a:t>
            </a:r>
            <a:endParaRPr lang="en-US" sz="850" dirty="0"/>
          </a:p>
        </p:txBody>
      </p:sp>
      <p:sp>
        <p:nvSpPr>
          <p:cNvPr id="49" name="Text 47"/>
          <p:cNvSpPr txBox="1"/>
          <p:nvPr/>
        </p:nvSpPr>
        <p:spPr>
          <a:xfrm>
            <a:off x="8942832" y="4078224"/>
            <a:ext cx="2148840" cy="219456"/>
          </a:xfrm>
          <a:prstGeom prst="rect">
            <a:avLst/>
          </a:prstGeom>
          <a:noFill/>
          <a:ln/>
        </p:spPr>
        <p:txBody>
          <a:bodyPr wrap="square" lIns="0" tIns="0" rIns="0" bIns="0" rtlCol="0" anchor="ctr">
            <a:normAutofit/>
          </a:bodyPr>
          <a:lstStyle/>
          <a:p>
            <a:pPr algn="l" indent="0" marL="0">
              <a:buNone/>
            </a:pPr>
            <a:r>
              <a:rPr lang="en-US" sz="1100" b="1" dirty="0">
                <a:solidFill>
                  <a:srgbClr val="FFFFFF"/>
                </a:solidFill>
                <a:latin typeface="Aptos" pitchFamily="34" charset="0"/>
                <a:ea typeface="Aptos" pitchFamily="34" charset="-122"/>
                <a:cs typeface="Aptos" pitchFamily="34" charset="-120"/>
              </a:rPr>
              <a:t>One stable issue ID</a:t>
            </a:r>
            <a:endParaRPr lang="en-US" sz="1100" dirty="0"/>
          </a:p>
        </p:txBody>
      </p:sp>
      <p:sp>
        <p:nvSpPr>
          <p:cNvPr id="50" name="Shape 48"/>
          <p:cNvSpPr/>
          <p:nvPr/>
        </p:nvSpPr>
        <p:spPr>
          <a:xfrm>
            <a:off x="8430768" y="4709160"/>
            <a:ext cx="347472" cy="347472"/>
          </a:xfrm>
          <a:prstGeom prst="ellipse">
            <a:avLst/>
          </a:prstGeom>
          <a:solidFill>
            <a:srgbClr val="17263A"/>
          </a:solidFill>
          <a:ln w="12700">
            <a:solidFill>
              <a:srgbClr val="17263A"/>
            </a:solidFill>
            <a:prstDash val="solid"/>
          </a:ln>
        </p:spPr>
      </p:sp>
      <p:sp>
        <p:nvSpPr>
          <p:cNvPr id="51" name="Text 49"/>
          <p:cNvSpPr txBox="1"/>
          <p:nvPr/>
        </p:nvSpPr>
        <p:spPr>
          <a:xfrm>
            <a:off x="8430768" y="4800600"/>
            <a:ext cx="347472" cy="146304"/>
          </a:xfrm>
          <a:prstGeom prst="rect">
            <a:avLst/>
          </a:prstGeom>
          <a:noFill/>
          <a:ln/>
        </p:spPr>
        <p:txBody>
          <a:bodyPr wrap="square" lIns="0" tIns="0" rIns="0" bIns="0" rtlCol="0" anchor="ctr">
            <a:normAutofit/>
          </a:bodyPr>
          <a:lstStyle/>
          <a:p>
            <a:pPr algn="ctr" indent="0" marL="0">
              <a:buNone/>
            </a:pPr>
            <a:r>
              <a:rPr lang="en-US" sz="850" b="1" dirty="0">
                <a:solidFill>
                  <a:srgbClr val="D5FF74"/>
                </a:solidFill>
                <a:latin typeface="Aptos" pitchFamily="34" charset="0"/>
                <a:ea typeface="Aptos" pitchFamily="34" charset="-122"/>
                <a:cs typeface="Aptos" pitchFamily="34" charset="-120"/>
              </a:rPr>
              <a:t>04</a:t>
            </a:r>
            <a:endParaRPr lang="en-US" sz="850" dirty="0"/>
          </a:p>
        </p:txBody>
      </p:sp>
      <p:sp>
        <p:nvSpPr>
          <p:cNvPr id="52" name="Text 50"/>
          <p:cNvSpPr txBox="1"/>
          <p:nvPr/>
        </p:nvSpPr>
        <p:spPr>
          <a:xfrm>
            <a:off x="8942832" y="4745736"/>
            <a:ext cx="2148840" cy="219456"/>
          </a:xfrm>
          <a:prstGeom prst="rect">
            <a:avLst/>
          </a:prstGeom>
          <a:noFill/>
          <a:ln/>
        </p:spPr>
        <p:txBody>
          <a:bodyPr wrap="square" lIns="0" tIns="0" rIns="0" bIns="0" rtlCol="0" anchor="ctr">
            <a:normAutofit/>
          </a:bodyPr>
          <a:lstStyle/>
          <a:p>
            <a:pPr algn="l" indent="0" marL="0">
              <a:buNone/>
            </a:pPr>
            <a:r>
              <a:rPr lang="en-US" sz="1100" b="1" dirty="0">
                <a:solidFill>
                  <a:srgbClr val="FFFFFF"/>
                </a:solidFill>
                <a:latin typeface="Aptos" pitchFamily="34" charset="0"/>
                <a:ea typeface="Aptos" pitchFamily="34" charset="-122"/>
                <a:cs typeface="Aptos" pitchFamily="34" charset="-120"/>
              </a:rPr>
              <a:t>Shared progress timeline</a:t>
            </a:r>
            <a:endParaRPr lang="en-US" sz="1100" dirty="0"/>
          </a:p>
        </p:txBody>
      </p:sp>
      <p:sp>
        <p:nvSpPr>
          <p:cNvPr id="53" name="Text 51"/>
          <p:cNvSpPr txBox="1"/>
          <p:nvPr/>
        </p:nvSpPr>
        <p:spPr>
          <a:xfrm>
            <a:off x="8430768" y="5468112"/>
            <a:ext cx="2697480" cy="411480"/>
          </a:xfrm>
          <a:prstGeom prst="rect">
            <a:avLst/>
          </a:prstGeom>
          <a:noFill/>
          <a:ln/>
        </p:spPr>
        <p:txBody>
          <a:bodyPr wrap="square" lIns="0" tIns="0" rIns="0" bIns="0" rtlCol="0" anchor="ctr">
            <a:normAutofit/>
          </a:bodyPr>
          <a:lstStyle/>
          <a:p>
            <a:pPr algn="l" indent="0" marL="0">
              <a:buNone/>
            </a:pPr>
            <a:r>
              <a:rPr lang="en-US" sz="850" dirty="0">
                <a:solidFill>
                  <a:srgbClr val="A8B8CB"/>
                </a:solidFill>
                <a:latin typeface="Aptos" pitchFamily="34" charset="0"/>
                <a:ea typeface="Aptos" pitchFamily="34" charset="-122"/>
                <a:cs typeface="Aptos" pitchFamily="34" charset="-120"/>
              </a:rPr>
              <a:t>Matching should use semantics + compatible location/category, with conservative merge thresholds.</a:t>
            </a:r>
            <a:endParaRPr lang="en-US" sz="850" dirty="0"/>
          </a:p>
        </p:txBody>
      </p:sp>
      <p:sp>
        <p:nvSpPr>
          <p:cNvPr id="54" name="Shape 52"/>
          <p:cNvSpPr/>
          <p:nvPr/>
        </p:nvSpPr>
        <p:spPr>
          <a:xfrm>
            <a:off x="566928" y="6510528"/>
            <a:ext cx="11064240" cy="0"/>
          </a:xfrm>
          <a:prstGeom prst="line">
            <a:avLst/>
          </a:prstGeom>
          <a:noFill/>
          <a:ln w="8890">
            <a:solidFill>
              <a:srgbClr val="DCE3EA"/>
            </a:solidFill>
            <a:prstDash val="solid"/>
            <a:headEnd type="none"/>
            <a:tailEnd type="none"/>
          </a:ln>
        </p:spPr>
      </p:sp>
      <p:sp>
        <p:nvSpPr>
          <p:cNvPr id="55" name="Text 53"/>
          <p:cNvSpPr txBox="1"/>
          <p:nvPr/>
        </p:nvSpPr>
        <p:spPr>
          <a:xfrm>
            <a:off x="585216" y="6556248"/>
            <a:ext cx="5120640" cy="137160"/>
          </a:xfrm>
          <a:prstGeom prst="rect">
            <a:avLst/>
          </a:prstGeom>
          <a:noFill/>
          <a:ln/>
        </p:spPr>
        <p:txBody>
          <a:bodyPr wrap="square" lIns="0" tIns="0" rIns="0" bIns="0" rtlCol="0" anchor="ctr">
            <a:normAutofit/>
          </a:bodyPr>
          <a:lstStyle/>
          <a:p>
            <a:pPr algn="l" indent="0" marL="0">
              <a:buNone/>
            </a:pPr>
            <a:r>
              <a:rPr lang="en-US" sz="700" b="1" spc="50" kern="0" dirty="0">
                <a:solidFill>
                  <a:srgbClr val="7C8A9A"/>
                </a:solidFill>
                <a:latin typeface="Aptos" pitchFamily="34" charset="0"/>
                <a:ea typeface="Aptos" pitchFamily="34" charset="-122"/>
                <a:cs typeface="Aptos" pitchFamily="34" charset="-120"/>
              </a:rPr>
              <a:t>CIVICFIX AI  •  CONCEPT / PROTOTYPE PITCH</a:t>
            </a:r>
            <a:endParaRPr lang="en-US" sz="700" dirty="0"/>
          </a:p>
        </p:txBody>
      </p:sp>
      <p:sp>
        <p:nvSpPr>
          <p:cNvPr id="56" name="Text 54"/>
          <p:cNvSpPr txBox="1"/>
          <p:nvPr/>
        </p:nvSpPr>
        <p:spPr>
          <a:xfrm>
            <a:off x="11064240" y="6547104"/>
            <a:ext cx="502920" cy="146304"/>
          </a:xfrm>
          <a:prstGeom prst="rect">
            <a:avLst/>
          </a:prstGeom>
          <a:noFill/>
          <a:ln/>
        </p:spPr>
        <p:txBody>
          <a:bodyPr wrap="square" lIns="0" tIns="0" rIns="0" bIns="0" rtlCol="0" anchor="ctr">
            <a:normAutofit/>
          </a:bodyPr>
          <a:lstStyle/>
          <a:p>
            <a:pPr algn="r" indent="0" marL="0">
              <a:buNone/>
            </a:pPr>
            <a:r>
              <a:rPr lang="en-US" sz="800" b="1" dirty="0">
                <a:solidFill>
                  <a:srgbClr val="7C8A9A"/>
                </a:solidFill>
                <a:latin typeface="Aptos" pitchFamily="34" charset="0"/>
                <a:ea typeface="Aptos" pitchFamily="34" charset="-122"/>
                <a:cs typeface="Aptos" pitchFamily="34" charset="-120"/>
              </a:rPr>
              <a:t>06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220"/>
          </a:solidFill>
          <a:ln w="12700">
            <a:solidFill>
              <a:srgbClr val="0B1220">
                <a:alpha val="0"/>
              </a:srgbClr>
            </a:solidFill>
            <a:prstDash val="solid"/>
          </a:ln>
        </p:spPr>
      </p:sp>
      <p:sp>
        <p:nvSpPr>
          <p:cNvPr id="3" name="Shape 1"/>
          <p:cNvSpPr/>
          <p:nvPr/>
        </p:nvSpPr>
        <p:spPr>
          <a:xfrm>
            <a:off x="566928" y="384048"/>
            <a:ext cx="1417320" cy="274320"/>
          </a:xfrm>
          <a:prstGeom prst="roundRect">
            <a:avLst>
              <a:gd name="adj" fmla="val 36667"/>
            </a:avLst>
          </a:prstGeom>
          <a:solidFill>
            <a:srgbClr val="17263A"/>
          </a:solidFill>
          <a:ln w="12700">
            <a:solidFill>
              <a:srgbClr val="17263A">
                <a:alpha val="0"/>
              </a:srgbClr>
            </a:solidFill>
            <a:prstDash val="solid"/>
          </a:ln>
        </p:spPr>
      </p:sp>
      <p:sp>
        <p:nvSpPr>
          <p:cNvPr id="4" name="Shape 2"/>
          <p:cNvSpPr/>
          <p:nvPr/>
        </p:nvSpPr>
        <p:spPr>
          <a:xfrm>
            <a:off x="658368" y="480060"/>
            <a:ext cx="82296" cy="82296"/>
          </a:xfrm>
          <a:prstGeom prst="ellipse">
            <a:avLst/>
          </a:prstGeom>
          <a:solidFill>
            <a:srgbClr val="2DD4BF"/>
          </a:solidFill>
          <a:ln w="12700">
            <a:solidFill>
              <a:srgbClr val="2DD4BF"/>
            </a:solidFill>
            <a:prstDash val="solid"/>
          </a:ln>
        </p:spPr>
      </p:sp>
      <p:sp>
        <p:nvSpPr>
          <p:cNvPr id="5" name="Text 3"/>
          <p:cNvSpPr txBox="1"/>
          <p:nvPr/>
        </p:nvSpPr>
        <p:spPr>
          <a:xfrm>
            <a:off x="795528" y="402336"/>
            <a:ext cx="1133856" cy="219456"/>
          </a:xfrm>
          <a:prstGeom prst="rect">
            <a:avLst/>
          </a:prstGeom>
          <a:noFill/>
          <a:ln/>
        </p:spPr>
        <p:txBody>
          <a:bodyPr wrap="square" lIns="0" tIns="0" rIns="0" bIns="0" rtlCol="0" anchor="ctr">
            <a:normAutofit/>
          </a:bodyPr>
          <a:lstStyle/>
          <a:p>
            <a:pPr algn="l" indent="0" marL="0">
              <a:buNone/>
            </a:pPr>
            <a:r>
              <a:rPr lang="en-US" sz="850" b="1" spc="50" kern="0" dirty="0">
                <a:solidFill>
                  <a:srgbClr val="D9E3EF"/>
                </a:solidFill>
                <a:latin typeface="Aptos" pitchFamily="34" charset="0"/>
                <a:ea typeface="Aptos" pitchFamily="34" charset="-122"/>
                <a:cs typeface="Aptos" pitchFamily="34" charset="-120"/>
              </a:rPr>
              <a:t>CIVICFIX AI  /  06</a:t>
            </a:r>
            <a:endParaRPr lang="en-US" sz="850" dirty="0"/>
          </a:p>
        </p:txBody>
      </p:sp>
      <p:sp>
        <p:nvSpPr>
          <p:cNvPr id="6" name="Text 4"/>
          <p:cNvSpPr txBox="1"/>
          <p:nvPr/>
        </p:nvSpPr>
        <p:spPr>
          <a:xfrm>
            <a:off x="566928" y="804672"/>
            <a:ext cx="10972800" cy="475488"/>
          </a:xfrm>
          <a:prstGeom prst="rect">
            <a:avLst/>
          </a:prstGeom>
          <a:noFill/>
          <a:ln/>
        </p:spPr>
        <p:txBody>
          <a:bodyPr wrap="square" lIns="0" tIns="0" rIns="0" bIns="0" rtlCol="0" anchor="ctr">
            <a:normAutofit/>
          </a:bodyPr>
          <a:lstStyle/>
          <a:p>
            <a:pPr algn="l" indent="0" marL="0">
              <a:buNone/>
            </a:pPr>
            <a:r>
              <a:rPr lang="en-US" sz="2700" b="1" dirty="0">
                <a:solidFill>
                  <a:srgbClr val="FFFFFF"/>
                </a:solidFill>
                <a:latin typeface="Aptos Display" pitchFamily="34" charset="0"/>
                <a:ea typeface="Aptos Display" pitchFamily="34" charset="-122"/>
                <a:cs typeface="Aptos Display" pitchFamily="34" charset="-120"/>
              </a:rPr>
              <a:t>Geographic context, built into the workflow.</a:t>
            </a:r>
            <a:endParaRPr lang="en-US" sz="2700" dirty="0"/>
          </a:p>
        </p:txBody>
      </p:sp>
      <p:sp>
        <p:nvSpPr>
          <p:cNvPr id="7" name="Text 5"/>
          <p:cNvSpPr txBox="1"/>
          <p:nvPr/>
        </p:nvSpPr>
        <p:spPr>
          <a:xfrm>
            <a:off x="585216" y="1335024"/>
            <a:ext cx="10881360" cy="347472"/>
          </a:xfrm>
          <a:prstGeom prst="rect">
            <a:avLst/>
          </a:prstGeom>
          <a:noFill/>
          <a:ln/>
        </p:spPr>
        <p:txBody>
          <a:bodyPr wrap="square" lIns="0" tIns="0" rIns="0" bIns="0" rtlCol="0" anchor="ctr">
            <a:normAutofit/>
          </a:bodyPr>
          <a:lstStyle/>
          <a:p>
            <a:pPr algn="l" indent="0" marL="0">
              <a:buNone/>
            </a:pPr>
            <a:r>
              <a:rPr lang="en-US" sz="1200" dirty="0">
                <a:solidFill>
                  <a:srgbClr val="B8C4D4"/>
                </a:solidFill>
                <a:latin typeface="Aptos" pitchFamily="34" charset="0"/>
                <a:ea typeface="Aptos" pitchFamily="34" charset="-122"/>
                <a:cs typeface="Aptos" pitchFamily="34" charset="-120"/>
              </a:rPr>
              <a:t>Google Maps shows where. Street View adds surrounding context where coverage exists.</a:t>
            </a:r>
            <a:endParaRPr lang="en-US" sz="1200" dirty="0"/>
          </a:p>
        </p:txBody>
      </p:sp>
      <p:sp>
        <p:nvSpPr>
          <p:cNvPr id="8" name="Shape 6"/>
          <p:cNvSpPr/>
          <p:nvPr/>
        </p:nvSpPr>
        <p:spPr>
          <a:xfrm>
            <a:off x="658368" y="1856232"/>
            <a:ext cx="5532120" cy="4160520"/>
          </a:xfrm>
          <a:prstGeom prst="roundRect">
            <a:avLst>
              <a:gd name="adj" fmla="val 3297"/>
            </a:avLst>
          </a:prstGeom>
          <a:solidFill>
            <a:srgbClr val="111C2E"/>
          </a:solidFill>
          <a:ln w="12700">
            <a:solidFill>
              <a:srgbClr val="17263A"/>
            </a:solidFill>
            <a:prstDash val="solid"/>
          </a:ln>
        </p:spPr>
      </p:sp>
      <p:sp>
        <p:nvSpPr>
          <p:cNvPr id="9" name="Text 7"/>
          <p:cNvSpPr txBox="1"/>
          <p:nvPr/>
        </p:nvSpPr>
        <p:spPr>
          <a:xfrm>
            <a:off x="914400" y="2084832"/>
            <a:ext cx="1828800" cy="182880"/>
          </a:xfrm>
          <a:prstGeom prst="rect">
            <a:avLst/>
          </a:prstGeom>
          <a:noFill/>
          <a:ln/>
        </p:spPr>
        <p:txBody>
          <a:bodyPr wrap="square" lIns="0" tIns="0" rIns="0" bIns="0" rtlCol="0" anchor="ctr">
            <a:normAutofit/>
          </a:bodyPr>
          <a:lstStyle/>
          <a:p>
            <a:pPr algn="l" indent="0" marL="0">
              <a:buNone/>
            </a:pPr>
            <a:r>
              <a:rPr lang="en-US" sz="1000" b="1" spc="100" kern="0" dirty="0">
                <a:solidFill>
                  <a:srgbClr val="2DD4BF"/>
                </a:solidFill>
                <a:latin typeface="Aptos" pitchFamily="34" charset="0"/>
                <a:ea typeface="Aptos" pitchFamily="34" charset="-122"/>
                <a:cs typeface="Aptos" pitchFamily="34" charset="-120"/>
              </a:rPr>
              <a:t>CIVIC MAP</a:t>
            </a:r>
            <a:endParaRPr lang="en-US" sz="1000" dirty="0"/>
          </a:p>
        </p:txBody>
      </p:sp>
      <p:sp>
        <p:nvSpPr>
          <p:cNvPr id="10" name="Shape 8"/>
          <p:cNvSpPr/>
          <p:nvPr/>
        </p:nvSpPr>
        <p:spPr>
          <a:xfrm>
            <a:off x="896112" y="2414016"/>
            <a:ext cx="5056632" cy="2798064"/>
          </a:xfrm>
          <a:prstGeom prst="roundRect">
            <a:avLst>
              <a:gd name="adj" fmla="val 3922"/>
            </a:avLst>
          </a:prstGeom>
          <a:solidFill>
            <a:srgbClr val="18263A"/>
          </a:solidFill>
          <a:ln w="12700">
            <a:solidFill>
              <a:srgbClr val="33445A"/>
            </a:solidFill>
            <a:prstDash val="solid"/>
          </a:ln>
        </p:spPr>
      </p:sp>
      <p:sp>
        <p:nvSpPr>
          <p:cNvPr id="11" name="Shape 9"/>
          <p:cNvSpPr/>
          <p:nvPr/>
        </p:nvSpPr>
        <p:spPr>
          <a:xfrm>
            <a:off x="1907438" y="2450592"/>
            <a:ext cx="0" cy="2724912"/>
          </a:xfrm>
          <a:prstGeom prst="line">
            <a:avLst/>
          </a:prstGeom>
          <a:noFill/>
          <a:ln w="10160">
            <a:solidFill>
              <a:srgbClr val="2C3C51"/>
            </a:solidFill>
            <a:prstDash val="solid"/>
            <a:headEnd type="none"/>
            <a:tailEnd type="none"/>
          </a:ln>
        </p:spPr>
      </p:sp>
      <p:sp>
        <p:nvSpPr>
          <p:cNvPr id="12" name="Shape 10"/>
          <p:cNvSpPr/>
          <p:nvPr/>
        </p:nvSpPr>
        <p:spPr>
          <a:xfrm>
            <a:off x="2918765" y="2450592"/>
            <a:ext cx="0" cy="2724912"/>
          </a:xfrm>
          <a:prstGeom prst="line">
            <a:avLst/>
          </a:prstGeom>
          <a:noFill/>
          <a:ln w="10160">
            <a:solidFill>
              <a:srgbClr val="2C3C51"/>
            </a:solidFill>
            <a:prstDash val="solid"/>
            <a:headEnd type="none"/>
            <a:tailEnd type="none"/>
          </a:ln>
        </p:spPr>
      </p:sp>
      <p:sp>
        <p:nvSpPr>
          <p:cNvPr id="13" name="Shape 11"/>
          <p:cNvSpPr/>
          <p:nvPr/>
        </p:nvSpPr>
        <p:spPr>
          <a:xfrm>
            <a:off x="3930091" y="2450592"/>
            <a:ext cx="0" cy="2724912"/>
          </a:xfrm>
          <a:prstGeom prst="line">
            <a:avLst/>
          </a:prstGeom>
          <a:noFill/>
          <a:ln w="10160">
            <a:solidFill>
              <a:srgbClr val="2C3C51"/>
            </a:solidFill>
            <a:prstDash val="solid"/>
            <a:headEnd type="none"/>
            <a:tailEnd type="none"/>
          </a:ln>
        </p:spPr>
      </p:sp>
      <p:sp>
        <p:nvSpPr>
          <p:cNvPr id="14" name="Shape 12"/>
          <p:cNvSpPr/>
          <p:nvPr/>
        </p:nvSpPr>
        <p:spPr>
          <a:xfrm>
            <a:off x="4941418" y="2450592"/>
            <a:ext cx="0" cy="2724912"/>
          </a:xfrm>
          <a:prstGeom prst="line">
            <a:avLst/>
          </a:prstGeom>
          <a:noFill/>
          <a:ln w="10160">
            <a:solidFill>
              <a:srgbClr val="2C3C51"/>
            </a:solidFill>
            <a:prstDash val="solid"/>
            <a:headEnd type="none"/>
            <a:tailEnd type="none"/>
          </a:ln>
        </p:spPr>
      </p:sp>
      <p:sp>
        <p:nvSpPr>
          <p:cNvPr id="15" name="Shape 13"/>
          <p:cNvSpPr/>
          <p:nvPr/>
        </p:nvSpPr>
        <p:spPr>
          <a:xfrm>
            <a:off x="932688" y="3113532"/>
            <a:ext cx="4983480" cy="0"/>
          </a:xfrm>
          <a:prstGeom prst="line">
            <a:avLst/>
          </a:prstGeom>
          <a:noFill/>
          <a:ln w="10160">
            <a:solidFill>
              <a:srgbClr val="2C3C51"/>
            </a:solidFill>
            <a:prstDash val="solid"/>
            <a:headEnd type="none"/>
            <a:tailEnd type="none"/>
          </a:ln>
        </p:spPr>
      </p:sp>
      <p:sp>
        <p:nvSpPr>
          <p:cNvPr id="16" name="Shape 14"/>
          <p:cNvSpPr/>
          <p:nvPr/>
        </p:nvSpPr>
        <p:spPr>
          <a:xfrm>
            <a:off x="932688" y="3813048"/>
            <a:ext cx="4983480" cy="0"/>
          </a:xfrm>
          <a:prstGeom prst="line">
            <a:avLst/>
          </a:prstGeom>
          <a:noFill/>
          <a:ln w="10160">
            <a:solidFill>
              <a:srgbClr val="2C3C51"/>
            </a:solidFill>
            <a:prstDash val="solid"/>
            <a:headEnd type="none"/>
            <a:tailEnd type="none"/>
          </a:ln>
        </p:spPr>
      </p:sp>
      <p:sp>
        <p:nvSpPr>
          <p:cNvPr id="17" name="Shape 15"/>
          <p:cNvSpPr/>
          <p:nvPr/>
        </p:nvSpPr>
        <p:spPr>
          <a:xfrm>
            <a:off x="932688" y="4512564"/>
            <a:ext cx="4983480" cy="0"/>
          </a:xfrm>
          <a:prstGeom prst="line">
            <a:avLst/>
          </a:prstGeom>
          <a:noFill/>
          <a:ln w="10160">
            <a:solidFill>
              <a:srgbClr val="2C3C51"/>
            </a:solidFill>
            <a:prstDash val="solid"/>
            <a:headEnd type="none"/>
            <a:tailEnd type="none"/>
          </a:ln>
        </p:spPr>
      </p:sp>
      <p:sp>
        <p:nvSpPr>
          <p:cNvPr id="18" name="Shape 16"/>
          <p:cNvSpPr/>
          <p:nvPr/>
        </p:nvSpPr>
        <p:spPr>
          <a:xfrm>
            <a:off x="1300643" y="3617184"/>
            <a:ext cx="4247571" cy="279806"/>
          </a:xfrm>
          <a:prstGeom prst="roundRect">
            <a:avLst>
              <a:gd name="adj" fmla="val 6536"/>
            </a:avLst>
          </a:prstGeom>
          <a:solidFill>
            <a:srgbClr val="4A5868"/>
          </a:solidFill>
          <a:ln w="12700">
            <a:solidFill>
              <a:srgbClr val="4A5868">
                <a:alpha val="0"/>
              </a:srgbClr>
            </a:solidFill>
            <a:prstDash val="solid"/>
          </a:ln>
        </p:spPr>
      </p:sp>
      <p:sp>
        <p:nvSpPr>
          <p:cNvPr id="19" name="Shape 17"/>
          <p:cNvSpPr/>
          <p:nvPr/>
        </p:nvSpPr>
        <p:spPr>
          <a:xfrm>
            <a:off x="3070464" y="2581900"/>
            <a:ext cx="455097" cy="2462296"/>
          </a:xfrm>
          <a:prstGeom prst="roundRect">
            <a:avLst>
              <a:gd name="adj" fmla="val 4018"/>
            </a:avLst>
          </a:prstGeom>
          <a:solidFill>
            <a:srgbClr val="4A5868"/>
          </a:solidFill>
          <a:ln w="12700">
            <a:solidFill>
              <a:srgbClr val="4A5868">
                <a:alpha val="0"/>
              </a:srgbClr>
            </a:solidFill>
            <a:prstDash val="solid"/>
          </a:ln>
        </p:spPr>
      </p:sp>
      <p:sp>
        <p:nvSpPr>
          <p:cNvPr id="20" name="Shape 18"/>
          <p:cNvSpPr/>
          <p:nvPr/>
        </p:nvSpPr>
        <p:spPr>
          <a:xfrm>
            <a:off x="1755739" y="4316700"/>
            <a:ext cx="3387943" cy="125913"/>
          </a:xfrm>
          <a:prstGeom prst="roundRect">
            <a:avLst>
              <a:gd name="adj" fmla="val 14524"/>
            </a:avLst>
          </a:prstGeom>
          <a:solidFill>
            <a:srgbClr val="4A5868"/>
          </a:solidFill>
          <a:ln w="12700">
            <a:solidFill>
              <a:srgbClr val="4A5868">
                <a:alpha val="0"/>
              </a:srgbClr>
            </a:solidFill>
            <a:prstDash val="solid"/>
          </a:ln>
        </p:spPr>
      </p:sp>
      <p:sp>
        <p:nvSpPr>
          <p:cNvPr id="21" name="Shape 19"/>
          <p:cNvSpPr/>
          <p:nvPr/>
        </p:nvSpPr>
        <p:spPr>
          <a:xfrm>
            <a:off x="1300643" y="2693822"/>
            <a:ext cx="1112459" cy="615574"/>
          </a:xfrm>
          <a:prstGeom prst="roundRect">
            <a:avLst>
              <a:gd name="adj" fmla="val 5942"/>
            </a:avLst>
          </a:prstGeom>
          <a:solidFill>
            <a:srgbClr val="24483D"/>
          </a:solidFill>
          <a:ln w="12700">
            <a:solidFill>
              <a:srgbClr val="24483D">
                <a:alpha val="0"/>
              </a:srgbClr>
            </a:solidFill>
            <a:prstDash val="solid"/>
          </a:ln>
        </p:spPr>
      </p:sp>
      <p:sp>
        <p:nvSpPr>
          <p:cNvPr id="22" name="Shape 20"/>
          <p:cNvSpPr/>
          <p:nvPr/>
        </p:nvSpPr>
        <p:spPr>
          <a:xfrm>
            <a:off x="4081790" y="2749784"/>
            <a:ext cx="1264158" cy="615574"/>
          </a:xfrm>
          <a:prstGeom prst="roundRect">
            <a:avLst>
              <a:gd name="adj" fmla="val 5942"/>
            </a:avLst>
          </a:prstGeom>
          <a:solidFill>
            <a:srgbClr val="24483D"/>
          </a:solidFill>
          <a:ln w="12700">
            <a:solidFill>
              <a:srgbClr val="24483D">
                <a:alpha val="0"/>
              </a:srgbClr>
            </a:solidFill>
            <a:prstDash val="solid"/>
          </a:ln>
        </p:spPr>
      </p:sp>
      <p:sp>
        <p:nvSpPr>
          <p:cNvPr id="23" name="Shape 21"/>
          <p:cNvSpPr/>
          <p:nvPr/>
        </p:nvSpPr>
        <p:spPr>
          <a:xfrm>
            <a:off x="3980658" y="4624487"/>
            <a:ext cx="1415857" cy="363748"/>
          </a:xfrm>
          <a:prstGeom prst="roundRect">
            <a:avLst>
              <a:gd name="adj" fmla="val 10055"/>
            </a:avLst>
          </a:prstGeom>
          <a:solidFill>
            <a:srgbClr val="24483D"/>
          </a:solidFill>
          <a:ln w="12700">
            <a:solidFill>
              <a:srgbClr val="24483D">
                <a:alpha val="0"/>
              </a:srgbClr>
            </a:solidFill>
            <a:prstDash val="solid"/>
          </a:ln>
        </p:spPr>
      </p:sp>
      <p:sp>
        <p:nvSpPr>
          <p:cNvPr id="24" name="Shape 22"/>
          <p:cNvSpPr/>
          <p:nvPr/>
        </p:nvSpPr>
        <p:spPr>
          <a:xfrm>
            <a:off x="2312518" y="3712464"/>
            <a:ext cx="201168" cy="201168"/>
          </a:xfrm>
          <a:prstGeom prst="ellipse">
            <a:avLst/>
          </a:prstGeom>
          <a:solidFill>
            <a:srgbClr val="FB7185"/>
          </a:solidFill>
          <a:ln w="15240">
            <a:solidFill>
              <a:srgbClr val="FFFFFF"/>
            </a:solidFill>
            <a:prstDash val="solid"/>
          </a:ln>
        </p:spPr>
      </p:sp>
      <p:sp>
        <p:nvSpPr>
          <p:cNvPr id="25" name="Shape 23"/>
          <p:cNvSpPr/>
          <p:nvPr/>
        </p:nvSpPr>
        <p:spPr>
          <a:xfrm>
            <a:off x="2379574" y="3779520"/>
            <a:ext cx="67056" cy="67056"/>
          </a:xfrm>
          <a:prstGeom prst="ellipse">
            <a:avLst/>
          </a:prstGeom>
          <a:solidFill>
            <a:srgbClr val="FFFFFF"/>
          </a:solidFill>
          <a:ln w="5080">
            <a:solidFill>
              <a:srgbClr val="FFFFFF"/>
            </a:solidFill>
            <a:prstDash val="solid"/>
          </a:ln>
        </p:spPr>
      </p:sp>
      <p:sp>
        <p:nvSpPr>
          <p:cNvPr id="26" name="Shape 24"/>
          <p:cNvSpPr/>
          <p:nvPr/>
        </p:nvSpPr>
        <p:spPr>
          <a:xfrm>
            <a:off x="3585820" y="3273918"/>
            <a:ext cx="182880" cy="182880"/>
          </a:xfrm>
          <a:prstGeom prst="ellipse">
            <a:avLst/>
          </a:prstGeom>
          <a:solidFill>
            <a:srgbClr val="FFC66D"/>
          </a:solidFill>
          <a:ln w="15240">
            <a:solidFill>
              <a:srgbClr val="FFFFFF"/>
            </a:solidFill>
            <a:prstDash val="solid"/>
          </a:ln>
        </p:spPr>
      </p:sp>
      <p:sp>
        <p:nvSpPr>
          <p:cNvPr id="27" name="Shape 25"/>
          <p:cNvSpPr/>
          <p:nvPr/>
        </p:nvSpPr>
        <p:spPr>
          <a:xfrm>
            <a:off x="3646780" y="3334878"/>
            <a:ext cx="60960" cy="60960"/>
          </a:xfrm>
          <a:prstGeom prst="ellipse">
            <a:avLst/>
          </a:prstGeom>
          <a:solidFill>
            <a:srgbClr val="FFFFFF"/>
          </a:solidFill>
          <a:ln w="5080">
            <a:solidFill>
              <a:srgbClr val="FFFFFF"/>
            </a:solidFill>
            <a:prstDash val="solid"/>
          </a:ln>
        </p:spPr>
      </p:sp>
      <p:sp>
        <p:nvSpPr>
          <p:cNvPr id="28" name="Shape 26"/>
          <p:cNvSpPr/>
          <p:nvPr/>
        </p:nvSpPr>
        <p:spPr>
          <a:xfrm>
            <a:off x="4546580" y="3945453"/>
            <a:ext cx="182880" cy="182880"/>
          </a:xfrm>
          <a:prstGeom prst="ellipse">
            <a:avLst/>
          </a:prstGeom>
          <a:solidFill>
            <a:srgbClr val="34D399"/>
          </a:solidFill>
          <a:ln w="15240">
            <a:solidFill>
              <a:srgbClr val="FFFFFF"/>
            </a:solidFill>
            <a:prstDash val="solid"/>
          </a:ln>
        </p:spPr>
      </p:sp>
      <p:sp>
        <p:nvSpPr>
          <p:cNvPr id="29" name="Shape 27"/>
          <p:cNvSpPr/>
          <p:nvPr/>
        </p:nvSpPr>
        <p:spPr>
          <a:xfrm>
            <a:off x="4607540" y="4006413"/>
            <a:ext cx="60960" cy="60960"/>
          </a:xfrm>
          <a:prstGeom prst="ellipse">
            <a:avLst/>
          </a:prstGeom>
          <a:solidFill>
            <a:srgbClr val="FFFFFF"/>
          </a:solidFill>
          <a:ln w="5080">
            <a:solidFill>
              <a:srgbClr val="FFFFFF"/>
            </a:solidFill>
            <a:prstDash val="solid"/>
          </a:ln>
        </p:spPr>
      </p:sp>
      <p:sp>
        <p:nvSpPr>
          <p:cNvPr id="30" name="Shape 28"/>
          <p:cNvSpPr/>
          <p:nvPr/>
        </p:nvSpPr>
        <p:spPr>
          <a:xfrm>
            <a:off x="2326234" y="4565599"/>
            <a:ext cx="173736" cy="173736"/>
          </a:xfrm>
          <a:prstGeom prst="ellipse">
            <a:avLst/>
          </a:prstGeom>
          <a:solidFill>
            <a:srgbClr val="FB7185"/>
          </a:solidFill>
          <a:ln w="15240">
            <a:solidFill>
              <a:srgbClr val="FFFFFF"/>
            </a:solidFill>
            <a:prstDash val="solid"/>
          </a:ln>
        </p:spPr>
      </p:sp>
      <p:sp>
        <p:nvSpPr>
          <p:cNvPr id="31" name="Shape 29"/>
          <p:cNvSpPr/>
          <p:nvPr/>
        </p:nvSpPr>
        <p:spPr>
          <a:xfrm>
            <a:off x="2384146" y="4623511"/>
            <a:ext cx="57912" cy="57912"/>
          </a:xfrm>
          <a:prstGeom prst="ellipse">
            <a:avLst/>
          </a:prstGeom>
          <a:solidFill>
            <a:srgbClr val="FFFFFF"/>
          </a:solidFill>
          <a:ln w="5080">
            <a:solidFill>
              <a:srgbClr val="FFFFFF"/>
            </a:solidFill>
            <a:prstDash val="solid"/>
          </a:ln>
        </p:spPr>
      </p:sp>
      <p:sp>
        <p:nvSpPr>
          <p:cNvPr id="32" name="Shape 30"/>
          <p:cNvSpPr/>
          <p:nvPr/>
        </p:nvSpPr>
        <p:spPr>
          <a:xfrm>
            <a:off x="1133856" y="3886200"/>
            <a:ext cx="1920240" cy="795528"/>
          </a:xfrm>
          <a:prstGeom prst="roundRect">
            <a:avLst>
              <a:gd name="adj" fmla="val 13793"/>
            </a:avLst>
          </a:prstGeom>
          <a:solidFill>
            <a:srgbClr val="F5F7FA"/>
          </a:solidFill>
          <a:ln w="12700">
            <a:solidFill>
              <a:srgbClr val="F5F7FA">
                <a:alpha val="0"/>
              </a:srgbClr>
            </a:solidFill>
            <a:prstDash val="solid"/>
          </a:ln>
        </p:spPr>
      </p:sp>
      <p:sp>
        <p:nvSpPr>
          <p:cNvPr id="33" name="Text 31"/>
          <p:cNvSpPr txBox="1"/>
          <p:nvPr/>
        </p:nvSpPr>
        <p:spPr>
          <a:xfrm>
            <a:off x="1307592" y="4041648"/>
            <a:ext cx="1600200" cy="164592"/>
          </a:xfrm>
          <a:prstGeom prst="rect">
            <a:avLst/>
          </a:prstGeom>
          <a:noFill/>
          <a:ln/>
        </p:spPr>
        <p:txBody>
          <a:bodyPr wrap="square" lIns="0" tIns="0" rIns="0" bIns="0" rtlCol="0" anchor="ctr">
            <a:normAutofit/>
          </a:bodyPr>
          <a:lstStyle/>
          <a:p>
            <a:pPr algn="l" indent="0" marL="0">
              <a:buNone/>
            </a:pPr>
            <a:r>
              <a:rPr lang="en-US" sz="800" b="1" dirty="0">
                <a:solidFill>
                  <a:srgbClr val="132033"/>
                </a:solidFill>
                <a:latin typeface="Aptos" pitchFamily="34" charset="0"/>
                <a:ea typeface="Aptos" pitchFamily="34" charset="-122"/>
                <a:cs typeface="Aptos" pitchFamily="34" charset="-120"/>
              </a:rPr>
              <a:t>CF-1024 · ROAD DAMAGE</a:t>
            </a:r>
            <a:endParaRPr lang="en-US" sz="800" dirty="0"/>
          </a:p>
        </p:txBody>
      </p:sp>
      <p:sp>
        <p:nvSpPr>
          <p:cNvPr id="34" name="Text 32"/>
          <p:cNvSpPr txBox="1"/>
          <p:nvPr/>
        </p:nvSpPr>
        <p:spPr>
          <a:xfrm>
            <a:off x="1307592" y="4279392"/>
            <a:ext cx="1600200" cy="164592"/>
          </a:xfrm>
          <a:prstGeom prst="rect">
            <a:avLst/>
          </a:prstGeom>
          <a:noFill/>
          <a:ln/>
        </p:spPr>
        <p:txBody>
          <a:bodyPr wrap="square" lIns="0" tIns="0" rIns="0" bIns="0" rtlCol="0" anchor="ctr">
            <a:normAutofit/>
          </a:bodyPr>
          <a:lstStyle/>
          <a:p>
            <a:pPr algn="l" indent="0" marL="0">
              <a:buNone/>
            </a:pPr>
            <a:r>
              <a:rPr lang="en-US" sz="850" b="1" dirty="0">
                <a:solidFill>
                  <a:srgbClr val="9F1239"/>
                </a:solidFill>
                <a:latin typeface="Aptos" pitchFamily="34" charset="0"/>
                <a:ea typeface="Aptos" pitchFamily="34" charset="-122"/>
                <a:cs typeface="Aptos" pitchFamily="34" charset="-120"/>
              </a:rPr>
              <a:t>Priority 89  •  OPEN</a:t>
            </a:r>
            <a:endParaRPr lang="en-US" sz="850" dirty="0"/>
          </a:p>
        </p:txBody>
      </p:sp>
      <p:sp>
        <p:nvSpPr>
          <p:cNvPr id="35" name="Text 33"/>
          <p:cNvSpPr txBox="1"/>
          <p:nvPr/>
        </p:nvSpPr>
        <p:spPr>
          <a:xfrm>
            <a:off x="914400" y="5422392"/>
            <a:ext cx="4892040" cy="201168"/>
          </a:xfrm>
          <a:prstGeom prst="rect">
            <a:avLst/>
          </a:prstGeom>
          <a:noFill/>
          <a:ln/>
        </p:spPr>
        <p:txBody>
          <a:bodyPr wrap="square" lIns="0" tIns="0" rIns="0" bIns="0" rtlCol="0" anchor="ctr">
            <a:normAutofit/>
          </a:bodyPr>
          <a:lstStyle/>
          <a:p>
            <a:pPr algn="l" indent="0" marL="0">
              <a:buNone/>
            </a:pPr>
            <a:r>
              <a:rPr lang="en-US" sz="1000" dirty="0">
                <a:solidFill>
                  <a:srgbClr val="AAB8CA"/>
                </a:solidFill>
                <a:latin typeface="Aptos" pitchFamily="34" charset="0"/>
                <a:ea typeface="Aptos" pitchFamily="34" charset="-122"/>
                <a:cs typeface="Aptos" pitchFamily="34" charset="-120"/>
              </a:rPr>
              <a:t>Issue markers • filters • canonical IDs</a:t>
            </a:r>
            <a:endParaRPr lang="en-US" sz="1000" dirty="0"/>
          </a:p>
        </p:txBody>
      </p:sp>
      <p:sp>
        <p:nvSpPr>
          <p:cNvPr id="36" name="Shape 34"/>
          <p:cNvSpPr/>
          <p:nvPr/>
        </p:nvSpPr>
        <p:spPr>
          <a:xfrm>
            <a:off x="6446520" y="1856232"/>
            <a:ext cx="5074920" cy="4160520"/>
          </a:xfrm>
          <a:prstGeom prst="roundRect">
            <a:avLst>
              <a:gd name="adj" fmla="val 3297"/>
            </a:avLst>
          </a:prstGeom>
          <a:solidFill>
            <a:srgbClr val="111C2E"/>
          </a:solidFill>
          <a:ln w="12700">
            <a:solidFill>
              <a:srgbClr val="17263A"/>
            </a:solidFill>
            <a:prstDash val="solid"/>
          </a:ln>
        </p:spPr>
      </p:sp>
      <p:sp>
        <p:nvSpPr>
          <p:cNvPr id="37" name="Text 35"/>
          <p:cNvSpPr txBox="1"/>
          <p:nvPr/>
        </p:nvSpPr>
        <p:spPr>
          <a:xfrm>
            <a:off x="6702552" y="2084832"/>
            <a:ext cx="1828800" cy="182880"/>
          </a:xfrm>
          <a:prstGeom prst="rect">
            <a:avLst/>
          </a:prstGeom>
          <a:noFill/>
          <a:ln/>
        </p:spPr>
        <p:txBody>
          <a:bodyPr wrap="square" lIns="0" tIns="0" rIns="0" bIns="0" rtlCol="0" anchor="ctr">
            <a:normAutofit/>
          </a:bodyPr>
          <a:lstStyle/>
          <a:p>
            <a:pPr algn="l" indent="0" marL="0">
              <a:buNone/>
            </a:pPr>
            <a:r>
              <a:rPr lang="en-US" sz="1000" b="1" spc="100" kern="0" dirty="0">
                <a:solidFill>
                  <a:srgbClr val="2DD4BF"/>
                </a:solidFill>
                <a:latin typeface="Aptos" pitchFamily="34" charset="0"/>
                <a:ea typeface="Aptos" pitchFamily="34" charset="-122"/>
                <a:cs typeface="Aptos" pitchFamily="34" charset="-120"/>
              </a:rPr>
              <a:t>STREET VIEW</a:t>
            </a:r>
            <a:endParaRPr lang="en-US" sz="1000" dirty="0"/>
          </a:p>
        </p:txBody>
      </p:sp>
      <p:sp>
        <p:nvSpPr>
          <p:cNvPr id="38" name="Shape 36"/>
          <p:cNvSpPr/>
          <p:nvPr/>
        </p:nvSpPr>
        <p:spPr>
          <a:xfrm>
            <a:off x="6684264" y="2414016"/>
            <a:ext cx="4590288" cy="2798064"/>
          </a:xfrm>
          <a:prstGeom prst="roundRect">
            <a:avLst>
              <a:gd name="adj" fmla="val 3922"/>
            </a:avLst>
          </a:prstGeom>
          <a:solidFill>
            <a:srgbClr val="24364A"/>
          </a:solidFill>
          <a:ln w="12700">
            <a:solidFill>
              <a:srgbClr val="3A4E63"/>
            </a:solidFill>
            <a:prstDash val="solid"/>
          </a:ln>
        </p:spPr>
      </p:sp>
      <p:sp>
        <p:nvSpPr>
          <p:cNvPr id="39" name="Shape 37"/>
          <p:cNvSpPr/>
          <p:nvPr/>
        </p:nvSpPr>
        <p:spPr>
          <a:xfrm>
            <a:off x="6693408" y="2423160"/>
            <a:ext cx="4572000" cy="1203168"/>
          </a:xfrm>
          <a:prstGeom prst="roundRect">
            <a:avLst>
              <a:gd name="adj" fmla="val 7600"/>
            </a:avLst>
          </a:prstGeom>
          <a:solidFill>
            <a:srgbClr val="819FAC"/>
          </a:solidFill>
          <a:ln w="12700">
            <a:solidFill>
              <a:srgbClr val="819FAC">
                <a:alpha val="0"/>
              </a:srgbClr>
            </a:solidFill>
            <a:prstDash val="solid"/>
          </a:ln>
        </p:spPr>
      </p:sp>
      <p:sp>
        <p:nvSpPr>
          <p:cNvPr id="40" name="Shape 38"/>
          <p:cNvSpPr/>
          <p:nvPr/>
        </p:nvSpPr>
        <p:spPr>
          <a:xfrm>
            <a:off x="6867876" y="2889687"/>
            <a:ext cx="734446" cy="923361"/>
          </a:xfrm>
          <a:prstGeom prst="roundRect">
            <a:avLst>
              <a:gd name="adj" fmla="val 1245"/>
            </a:avLst>
          </a:prstGeom>
          <a:solidFill>
            <a:srgbClr val="758697"/>
          </a:solidFill>
          <a:ln w="12700">
            <a:solidFill>
              <a:srgbClr val="758697">
                <a:alpha val="0"/>
              </a:srgbClr>
            </a:solidFill>
            <a:prstDash val="solid"/>
          </a:ln>
        </p:spPr>
      </p:sp>
      <p:sp>
        <p:nvSpPr>
          <p:cNvPr id="41" name="Shape 39"/>
          <p:cNvSpPr/>
          <p:nvPr/>
        </p:nvSpPr>
        <p:spPr>
          <a:xfrm>
            <a:off x="7005584" y="3057571"/>
            <a:ext cx="114757" cy="111923"/>
          </a:xfrm>
          <a:prstGeom prst="roundRect">
            <a:avLst>
              <a:gd name="adj" fmla="val 8170"/>
            </a:avLst>
          </a:prstGeom>
          <a:solidFill>
            <a:srgbClr val="D5E2E8"/>
          </a:solidFill>
          <a:ln w="12700">
            <a:solidFill>
              <a:srgbClr val="D5E2E8">
                <a:alpha val="0"/>
              </a:srgbClr>
            </a:solidFill>
            <a:prstDash val="solid"/>
          </a:ln>
        </p:spPr>
      </p:sp>
      <p:sp>
        <p:nvSpPr>
          <p:cNvPr id="42" name="Shape 40"/>
          <p:cNvSpPr/>
          <p:nvPr/>
        </p:nvSpPr>
        <p:spPr>
          <a:xfrm>
            <a:off x="7326904" y="3057571"/>
            <a:ext cx="114757" cy="111923"/>
          </a:xfrm>
          <a:prstGeom prst="roundRect">
            <a:avLst>
              <a:gd name="adj" fmla="val 8170"/>
            </a:avLst>
          </a:prstGeom>
          <a:solidFill>
            <a:srgbClr val="D5E2E8"/>
          </a:solidFill>
          <a:ln w="12700">
            <a:solidFill>
              <a:srgbClr val="D5E2E8">
                <a:alpha val="0"/>
              </a:srgbClr>
            </a:solidFill>
            <a:prstDash val="solid"/>
          </a:ln>
        </p:spPr>
      </p:sp>
      <p:sp>
        <p:nvSpPr>
          <p:cNvPr id="43" name="Shape 41"/>
          <p:cNvSpPr/>
          <p:nvPr/>
        </p:nvSpPr>
        <p:spPr>
          <a:xfrm>
            <a:off x="7005584" y="3421319"/>
            <a:ext cx="114757" cy="111923"/>
          </a:xfrm>
          <a:prstGeom prst="roundRect">
            <a:avLst>
              <a:gd name="adj" fmla="val 8170"/>
            </a:avLst>
          </a:prstGeom>
          <a:solidFill>
            <a:srgbClr val="D5E2E8"/>
          </a:solidFill>
          <a:ln w="12700">
            <a:solidFill>
              <a:srgbClr val="D5E2E8">
                <a:alpha val="0"/>
              </a:srgbClr>
            </a:solidFill>
            <a:prstDash val="solid"/>
          </a:ln>
        </p:spPr>
      </p:sp>
      <p:sp>
        <p:nvSpPr>
          <p:cNvPr id="44" name="Shape 42"/>
          <p:cNvSpPr/>
          <p:nvPr/>
        </p:nvSpPr>
        <p:spPr>
          <a:xfrm>
            <a:off x="7326904" y="3421319"/>
            <a:ext cx="114757" cy="111923"/>
          </a:xfrm>
          <a:prstGeom prst="roundRect">
            <a:avLst>
              <a:gd name="adj" fmla="val 8170"/>
            </a:avLst>
          </a:prstGeom>
          <a:solidFill>
            <a:srgbClr val="D5E2E8"/>
          </a:solidFill>
          <a:ln w="12700">
            <a:solidFill>
              <a:srgbClr val="D5E2E8">
                <a:alpha val="0"/>
              </a:srgbClr>
            </a:solidFill>
            <a:prstDash val="solid"/>
          </a:ln>
        </p:spPr>
      </p:sp>
      <p:sp>
        <p:nvSpPr>
          <p:cNvPr id="45" name="Shape 43"/>
          <p:cNvSpPr/>
          <p:nvPr/>
        </p:nvSpPr>
        <p:spPr>
          <a:xfrm>
            <a:off x="7602322" y="2637861"/>
            <a:ext cx="780349" cy="1175187"/>
          </a:xfrm>
          <a:prstGeom prst="roundRect">
            <a:avLst>
              <a:gd name="adj" fmla="val 1172"/>
            </a:avLst>
          </a:prstGeom>
          <a:solidFill>
            <a:srgbClr val="A8B5C0"/>
          </a:solidFill>
          <a:ln w="12700">
            <a:solidFill>
              <a:srgbClr val="A8B5C0">
                <a:alpha val="0"/>
              </a:srgbClr>
            </a:solidFill>
            <a:prstDash val="solid"/>
          </a:ln>
        </p:spPr>
      </p:sp>
      <p:sp>
        <p:nvSpPr>
          <p:cNvPr id="46" name="Shape 44"/>
          <p:cNvSpPr/>
          <p:nvPr/>
        </p:nvSpPr>
        <p:spPr>
          <a:xfrm>
            <a:off x="7740030" y="2805745"/>
            <a:ext cx="114757" cy="111923"/>
          </a:xfrm>
          <a:prstGeom prst="roundRect">
            <a:avLst>
              <a:gd name="adj" fmla="val 8170"/>
            </a:avLst>
          </a:prstGeom>
          <a:solidFill>
            <a:srgbClr val="D5E2E8"/>
          </a:solidFill>
          <a:ln w="12700">
            <a:solidFill>
              <a:srgbClr val="D5E2E8">
                <a:alpha val="0"/>
              </a:srgbClr>
            </a:solidFill>
            <a:prstDash val="solid"/>
          </a:ln>
        </p:spPr>
      </p:sp>
      <p:sp>
        <p:nvSpPr>
          <p:cNvPr id="47" name="Shape 45"/>
          <p:cNvSpPr/>
          <p:nvPr/>
        </p:nvSpPr>
        <p:spPr>
          <a:xfrm>
            <a:off x="8061350" y="2805745"/>
            <a:ext cx="114757" cy="111923"/>
          </a:xfrm>
          <a:prstGeom prst="roundRect">
            <a:avLst>
              <a:gd name="adj" fmla="val 8170"/>
            </a:avLst>
          </a:prstGeom>
          <a:solidFill>
            <a:srgbClr val="D5E2E8"/>
          </a:solidFill>
          <a:ln w="12700">
            <a:solidFill>
              <a:srgbClr val="D5E2E8">
                <a:alpha val="0"/>
              </a:srgbClr>
            </a:solidFill>
            <a:prstDash val="solid"/>
          </a:ln>
        </p:spPr>
      </p:sp>
      <p:sp>
        <p:nvSpPr>
          <p:cNvPr id="48" name="Shape 46"/>
          <p:cNvSpPr/>
          <p:nvPr/>
        </p:nvSpPr>
        <p:spPr>
          <a:xfrm>
            <a:off x="7740030" y="3169493"/>
            <a:ext cx="114757" cy="111923"/>
          </a:xfrm>
          <a:prstGeom prst="roundRect">
            <a:avLst>
              <a:gd name="adj" fmla="val 8170"/>
            </a:avLst>
          </a:prstGeom>
          <a:solidFill>
            <a:srgbClr val="D5E2E8"/>
          </a:solidFill>
          <a:ln w="12700">
            <a:solidFill>
              <a:srgbClr val="D5E2E8">
                <a:alpha val="0"/>
              </a:srgbClr>
            </a:solidFill>
            <a:prstDash val="solid"/>
          </a:ln>
        </p:spPr>
      </p:sp>
      <p:sp>
        <p:nvSpPr>
          <p:cNvPr id="49" name="Shape 47"/>
          <p:cNvSpPr/>
          <p:nvPr/>
        </p:nvSpPr>
        <p:spPr>
          <a:xfrm>
            <a:off x="8061350" y="3169493"/>
            <a:ext cx="114757" cy="111923"/>
          </a:xfrm>
          <a:prstGeom prst="roundRect">
            <a:avLst>
              <a:gd name="adj" fmla="val 8170"/>
            </a:avLst>
          </a:prstGeom>
          <a:solidFill>
            <a:srgbClr val="D5E2E8"/>
          </a:solidFill>
          <a:ln w="12700">
            <a:solidFill>
              <a:srgbClr val="D5E2E8">
                <a:alpha val="0"/>
              </a:srgbClr>
            </a:solidFill>
            <a:prstDash val="solid"/>
          </a:ln>
        </p:spPr>
      </p:sp>
      <p:sp>
        <p:nvSpPr>
          <p:cNvPr id="50" name="Shape 48"/>
          <p:cNvSpPr/>
          <p:nvPr/>
        </p:nvSpPr>
        <p:spPr>
          <a:xfrm>
            <a:off x="8474476" y="3029590"/>
            <a:ext cx="642640" cy="783458"/>
          </a:xfrm>
          <a:prstGeom prst="roundRect">
            <a:avLst>
              <a:gd name="adj" fmla="val 1423"/>
            </a:avLst>
          </a:prstGeom>
          <a:solidFill>
            <a:srgbClr val="6D8092"/>
          </a:solidFill>
          <a:ln w="12700">
            <a:solidFill>
              <a:srgbClr val="6D8092">
                <a:alpha val="0"/>
              </a:srgbClr>
            </a:solidFill>
            <a:prstDash val="solid"/>
          </a:ln>
        </p:spPr>
      </p:sp>
      <p:sp>
        <p:nvSpPr>
          <p:cNvPr id="51" name="Shape 49"/>
          <p:cNvSpPr/>
          <p:nvPr/>
        </p:nvSpPr>
        <p:spPr>
          <a:xfrm>
            <a:off x="8612185" y="3197474"/>
            <a:ext cx="114757" cy="111923"/>
          </a:xfrm>
          <a:prstGeom prst="roundRect">
            <a:avLst>
              <a:gd name="adj" fmla="val 8170"/>
            </a:avLst>
          </a:prstGeom>
          <a:solidFill>
            <a:srgbClr val="D5E2E8"/>
          </a:solidFill>
          <a:ln w="12700">
            <a:solidFill>
              <a:srgbClr val="D5E2E8">
                <a:alpha val="0"/>
              </a:srgbClr>
            </a:solidFill>
            <a:prstDash val="solid"/>
          </a:ln>
        </p:spPr>
      </p:sp>
      <p:sp>
        <p:nvSpPr>
          <p:cNvPr id="52" name="Shape 50"/>
          <p:cNvSpPr/>
          <p:nvPr/>
        </p:nvSpPr>
        <p:spPr>
          <a:xfrm>
            <a:off x="8933505" y="3197474"/>
            <a:ext cx="114757" cy="111923"/>
          </a:xfrm>
          <a:prstGeom prst="roundRect">
            <a:avLst>
              <a:gd name="adj" fmla="val 8170"/>
            </a:avLst>
          </a:prstGeom>
          <a:solidFill>
            <a:srgbClr val="D5E2E8"/>
          </a:solidFill>
          <a:ln w="12700">
            <a:solidFill>
              <a:srgbClr val="D5E2E8">
                <a:alpha val="0"/>
              </a:srgbClr>
            </a:solidFill>
            <a:prstDash val="solid"/>
          </a:ln>
        </p:spPr>
      </p:sp>
      <p:sp>
        <p:nvSpPr>
          <p:cNvPr id="53" name="Shape 51"/>
          <p:cNvSpPr/>
          <p:nvPr/>
        </p:nvSpPr>
        <p:spPr>
          <a:xfrm>
            <a:off x="8612185" y="3561222"/>
            <a:ext cx="114757" cy="111923"/>
          </a:xfrm>
          <a:prstGeom prst="roundRect">
            <a:avLst>
              <a:gd name="adj" fmla="val 8170"/>
            </a:avLst>
          </a:prstGeom>
          <a:solidFill>
            <a:srgbClr val="D5E2E8"/>
          </a:solidFill>
          <a:ln w="12700">
            <a:solidFill>
              <a:srgbClr val="D5E2E8">
                <a:alpha val="0"/>
              </a:srgbClr>
            </a:solidFill>
            <a:prstDash val="solid"/>
          </a:ln>
        </p:spPr>
      </p:sp>
      <p:sp>
        <p:nvSpPr>
          <p:cNvPr id="54" name="Shape 52"/>
          <p:cNvSpPr/>
          <p:nvPr/>
        </p:nvSpPr>
        <p:spPr>
          <a:xfrm>
            <a:off x="8933505" y="3561222"/>
            <a:ext cx="114757" cy="111923"/>
          </a:xfrm>
          <a:prstGeom prst="roundRect">
            <a:avLst>
              <a:gd name="adj" fmla="val 8170"/>
            </a:avLst>
          </a:prstGeom>
          <a:solidFill>
            <a:srgbClr val="D5E2E8"/>
          </a:solidFill>
          <a:ln w="12700">
            <a:solidFill>
              <a:srgbClr val="D5E2E8">
                <a:alpha val="0"/>
              </a:srgbClr>
            </a:solidFill>
            <a:prstDash val="solid"/>
          </a:ln>
        </p:spPr>
      </p:sp>
      <p:sp>
        <p:nvSpPr>
          <p:cNvPr id="55" name="Shape 53"/>
          <p:cNvSpPr/>
          <p:nvPr/>
        </p:nvSpPr>
        <p:spPr>
          <a:xfrm>
            <a:off x="9254825" y="2749784"/>
            <a:ext cx="826252" cy="1063264"/>
          </a:xfrm>
          <a:prstGeom prst="roundRect">
            <a:avLst>
              <a:gd name="adj" fmla="val 1107"/>
            </a:avLst>
          </a:prstGeom>
          <a:solidFill>
            <a:srgbClr val="A5B3BF"/>
          </a:solidFill>
          <a:ln w="12700">
            <a:solidFill>
              <a:srgbClr val="A5B3BF">
                <a:alpha val="0"/>
              </a:srgbClr>
            </a:solidFill>
            <a:prstDash val="solid"/>
          </a:ln>
        </p:spPr>
      </p:sp>
      <p:sp>
        <p:nvSpPr>
          <p:cNvPr id="56" name="Shape 54"/>
          <p:cNvSpPr/>
          <p:nvPr/>
        </p:nvSpPr>
        <p:spPr>
          <a:xfrm>
            <a:off x="9392534" y="2917668"/>
            <a:ext cx="114757" cy="111923"/>
          </a:xfrm>
          <a:prstGeom prst="roundRect">
            <a:avLst>
              <a:gd name="adj" fmla="val 8170"/>
            </a:avLst>
          </a:prstGeom>
          <a:solidFill>
            <a:srgbClr val="D5E2E8"/>
          </a:solidFill>
          <a:ln w="12700">
            <a:solidFill>
              <a:srgbClr val="D5E2E8">
                <a:alpha val="0"/>
              </a:srgbClr>
            </a:solidFill>
            <a:prstDash val="solid"/>
          </a:ln>
        </p:spPr>
      </p:sp>
      <p:sp>
        <p:nvSpPr>
          <p:cNvPr id="57" name="Shape 55"/>
          <p:cNvSpPr/>
          <p:nvPr/>
        </p:nvSpPr>
        <p:spPr>
          <a:xfrm>
            <a:off x="9713854" y="2917668"/>
            <a:ext cx="114757" cy="111923"/>
          </a:xfrm>
          <a:prstGeom prst="roundRect">
            <a:avLst>
              <a:gd name="adj" fmla="val 8170"/>
            </a:avLst>
          </a:prstGeom>
          <a:solidFill>
            <a:srgbClr val="D5E2E8"/>
          </a:solidFill>
          <a:ln w="12700">
            <a:solidFill>
              <a:srgbClr val="D5E2E8">
                <a:alpha val="0"/>
              </a:srgbClr>
            </a:solidFill>
            <a:prstDash val="solid"/>
          </a:ln>
        </p:spPr>
      </p:sp>
      <p:sp>
        <p:nvSpPr>
          <p:cNvPr id="58" name="Shape 56"/>
          <p:cNvSpPr/>
          <p:nvPr/>
        </p:nvSpPr>
        <p:spPr>
          <a:xfrm>
            <a:off x="9392534" y="3281416"/>
            <a:ext cx="114757" cy="111923"/>
          </a:xfrm>
          <a:prstGeom prst="roundRect">
            <a:avLst>
              <a:gd name="adj" fmla="val 8170"/>
            </a:avLst>
          </a:prstGeom>
          <a:solidFill>
            <a:srgbClr val="D5E2E8"/>
          </a:solidFill>
          <a:ln w="12700">
            <a:solidFill>
              <a:srgbClr val="D5E2E8">
                <a:alpha val="0"/>
              </a:srgbClr>
            </a:solidFill>
            <a:prstDash val="solid"/>
          </a:ln>
        </p:spPr>
      </p:sp>
      <p:sp>
        <p:nvSpPr>
          <p:cNvPr id="59" name="Shape 57"/>
          <p:cNvSpPr/>
          <p:nvPr/>
        </p:nvSpPr>
        <p:spPr>
          <a:xfrm>
            <a:off x="9713854" y="3281416"/>
            <a:ext cx="114757" cy="111923"/>
          </a:xfrm>
          <a:prstGeom prst="roundRect">
            <a:avLst>
              <a:gd name="adj" fmla="val 8170"/>
            </a:avLst>
          </a:prstGeom>
          <a:solidFill>
            <a:srgbClr val="D5E2E8"/>
          </a:solidFill>
          <a:ln w="12700">
            <a:solidFill>
              <a:srgbClr val="D5E2E8">
                <a:alpha val="0"/>
              </a:srgbClr>
            </a:solidFill>
            <a:prstDash val="solid"/>
          </a:ln>
        </p:spPr>
      </p:sp>
      <p:sp>
        <p:nvSpPr>
          <p:cNvPr id="60" name="Shape 58"/>
          <p:cNvSpPr/>
          <p:nvPr/>
        </p:nvSpPr>
        <p:spPr>
          <a:xfrm>
            <a:off x="10218786" y="2889687"/>
            <a:ext cx="826252" cy="923361"/>
          </a:xfrm>
          <a:prstGeom prst="roundRect">
            <a:avLst>
              <a:gd name="adj" fmla="val 1107"/>
            </a:avLst>
          </a:prstGeom>
          <a:solidFill>
            <a:srgbClr val="718395"/>
          </a:solidFill>
          <a:ln w="12700">
            <a:solidFill>
              <a:srgbClr val="718395">
                <a:alpha val="0"/>
              </a:srgbClr>
            </a:solidFill>
            <a:prstDash val="solid"/>
          </a:ln>
        </p:spPr>
      </p:sp>
      <p:sp>
        <p:nvSpPr>
          <p:cNvPr id="61" name="Shape 59"/>
          <p:cNvSpPr/>
          <p:nvPr/>
        </p:nvSpPr>
        <p:spPr>
          <a:xfrm>
            <a:off x="10356494" y="3057571"/>
            <a:ext cx="114757" cy="111923"/>
          </a:xfrm>
          <a:prstGeom prst="roundRect">
            <a:avLst>
              <a:gd name="adj" fmla="val 8170"/>
            </a:avLst>
          </a:prstGeom>
          <a:solidFill>
            <a:srgbClr val="D5E2E8"/>
          </a:solidFill>
          <a:ln w="12700">
            <a:solidFill>
              <a:srgbClr val="D5E2E8">
                <a:alpha val="0"/>
              </a:srgbClr>
            </a:solidFill>
            <a:prstDash val="solid"/>
          </a:ln>
        </p:spPr>
      </p:sp>
      <p:sp>
        <p:nvSpPr>
          <p:cNvPr id="62" name="Shape 60"/>
          <p:cNvSpPr/>
          <p:nvPr/>
        </p:nvSpPr>
        <p:spPr>
          <a:xfrm>
            <a:off x="10677815" y="3057571"/>
            <a:ext cx="114757" cy="111923"/>
          </a:xfrm>
          <a:prstGeom prst="roundRect">
            <a:avLst>
              <a:gd name="adj" fmla="val 8170"/>
            </a:avLst>
          </a:prstGeom>
          <a:solidFill>
            <a:srgbClr val="D5E2E8"/>
          </a:solidFill>
          <a:ln w="12700">
            <a:solidFill>
              <a:srgbClr val="D5E2E8">
                <a:alpha val="0"/>
              </a:srgbClr>
            </a:solidFill>
            <a:prstDash val="solid"/>
          </a:ln>
        </p:spPr>
      </p:sp>
      <p:sp>
        <p:nvSpPr>
          <p:cNvPr id="63" name="Shape 61"/>
          <p:cNvSpPr/>
          <p:nvPr/>
        </p:nvSpPr>
        <p:spPr>
          <a:xfrm>
            <a:off x="10356494" y="3421319"/>
            <a:ext cx="114757" cy="111923"/>
          </a:xfrm>
          <a:prstGeom prst="roundRect">
            <a:avLst>
              <a:gd name="adj" fmla="val 8170"/>
            </a:avLst>
          </a:prstGeom>
          <a:solidFill>
            <a:srgbClr val="D5E2E8"/>
          </a:solidFill>
          <a:ln w="12700">
            <a:solidFill>
              <a:srgbClr val="D5E2E8">
                <a:alpha val="0"/>
              </a:srgbClr>
            </a:solidFill>
            <a:prstDash val="solid"/>
          </a:ln>
        </p:spPr>
      </p:sp>
      <p:sp>
        <p:nvSpPr>
          <p:cNvPr id="64" name="Shape 62"/>
          <p:cNvSpPr/>
          <p:nvPr/>
        </p:nvSpPr>
        <p:spPr>
          <a:xfrm>
            <a:off x="10677815" y="3421319"/>
            <a:ext cx="114757" cy="111923"/>
          </a:xfrm>
          <a:prstGeom prst="roundRect">
            <a:avLst>
              <a:gd name="adj" fmla="val 8170"/>
            </a:avLst>
          </a:prstGeom>
          <a:solidFill>
            <a:srgbClr val="D5E2E8"/>
          </a:solidFill>
          <a:ln w="12700">
            <a:solidFill>
              <a:srgbClr val="D5E2E8">
                <a:alpha val="0"/>
              </a:srgbClr>
            </a:solidFill>
            <a:prstDash val="solid"/>
          </a:ln>
        </p:spPr>
      </p:sp>
      <p:sp>
        <p:nvSpPr>
          <p:cNvPr id="65" name="Shape 63"/>
          <p:cNvSpPr/>
          <p:nvPr/>
        </p:nvSpPr>
        <p:spPr>
          <a:xfrm>
            <a:off x="6693408" y="3785067"/>
            <a:ext cx="4572000" cy="1399032"/>
          </a:xfrm>
          <a:prstGeom prst="roundRect">
            <a:avLst>
              <a:gd name="adj" fmla="val 654"/>
            </a:avLst>
          </a:prstGeom>
          <a:solidFill>
            <a:srgbClr val="4A5565"/>
          </a:solidFill>
          <a:ln w="12700">
            <a:solidFill>
              <a:srgbClr val="4A5565">
                <a:alpha val="0"/>
              </a:srgbClr>
            </a:solidFill>
            <a:prstDash val="solid"/>
          </a:ln>
        </p:spPr>
      </p:sp>
      <p:sp>
        <p:nvSpPr>
          <p:cNvPr id="66" name="Shape 64"/>
          <p:cNvSpPr/>
          <p:nvPr/>
        </p:nvSpPr>
        <p:spPr>
          <a:xfrm>
            <a:off x="7097390" y="4512564"/>
            <a:ext cx="550835" cy="61557"/>
          </a:xfrm>
          <a:prstGeom prst="roundRect">
            <a:avLst>
              <a:gd name="adj" fmla="val 14855"/>
            </a:avLst>
          </a:prstGeom>
          <a:solidFill>
            <a:srgbClr val="E5EAF0"/>
          </a:solidFill>
          <a:ln w="12700">
            <a:solidFill>
              <a:srgbClr val="E5EAF0">
                <a:alpha val="0"/>
              </a:srgbClr>
            </a:solidFill>
            <a:prstDash val="solid"/>
          </a:ln>
        </p:spPr>
      </p:sp>
      <p:sp>
        <p:nvSpPr>
          <p:cNvPr id="67" name="Shape 65"/>
          <p:cNvSpPr/>
          <p:nvPr/>
        </p:nvSpPr>
        <p:spPr>
          <a:xfrm>
            <a:off x="8199059" y="4512564"/>
            <a:ext cx="550835" cy="61557"/>
          </a:xfrm>
          <a:prstGeom prst="roundRect">
            <a:avLst>
              <a:gd name="adj" fmla="val 14855"/>
            </a:avLst>
          </a:prstGeom>
          <a:solidFill>
            <a:srgbClr val="E5EAF0"/>
          </a:solidFill>
          <a:ln w="12700">
            <a:solidFill>
              <a:srgbClr val="E5EAF0">
                <a:alpha val="0"/>
              </a:srgbClr>
            </a:solidFill>
            <a:prstDash val="solid"/>
          </a:ln>
        </p:spPr>
      </p:sp>
      <p:sp>
        <p:nvSpPr>
          <p:cNvPr id="68" name="Shape 66"/>
          <p:cNvSpPr/>
          <p:nvPr/>
        </p:nvSpPr>
        <p:spPr>
          <a:xfrm>
            <a:off x="9300728" y="4512564"/>
            <a:ext cx="550835" cy="61557"/>
          </a:xfrm>
          <a:prstGeom prst="roundRect">
            <a:avLst>
              <a:gd name="adj" fmla="val 14855"/>
            </a:avLst>
          </a:prstGeom>
          <a:solidFill>
            <a:srgbClr val="E5EAF0"/>
          </a:solidFill>
          <a:ln w="12700">
            <a:solidFill>
              <a:srgbClr val="E5EAF0">
                <a:alpha val="0"/>
              </a:srgbClr>
            </a:solidFill>
            <a:prstDash val="solid"/>
          </a:ln>
        </p:spPr>
      </p:sp>
      <p:sp>
        <p:nvSpPr>
          <p:cNvPr id="69" name="Shape 67"/>
          <p:cNvSpPr/>
          <p:nvPr/>
        </p:nvSpPr>
        <p:spPr>
          <a:xfrm>
            <a:off x="10402397" y="4512564"/>
            <a:ext cx="550835" cy="61557"/>
          </a:xfrm>
          <a:prstGeom prst="roundRect">
            <a:avLst>
              <a:gd name="adj" fmla="val 14855"/>
            </a:avLst>
          </a:prstGeom>
          <a:solidFill>
            <a:srgbClr val="E5EAF0"/>
          </a:solidFill>
          <a:ln w="12700">
            <a:solidFill>
              <a:srgbClr val="E5EAF0">
                <a:alpha val="0"/>
              </a:srgbClr>
            </a:solidFill>
            <a:prstDash val="solid"/>
          </a:ln>
        </p:spPr>
      </p:sp>
      <p:sp>
        <p:nvSpPr>
          <p:cNvPr id="70" name="Shape 68"/>
          <p:cNvSpPr/>
          <p:nvPr/>
        </p:nvSpPr>
        <p:spPr>
          <a:xfrm>
            <a:off x="6693408" y="3729106"/>
            <a:ext cx="4572000" cy="139903"/>
          </a:xfrm>
          <a:prstGeom prst="roundRect">
            <a:avLst>
              <a:gd name="adj" fmla="val 6536"/>
            </a:avLst>
          </a:prstGeom>
          <a:solidFill>
            <a:srgbClr val="B6C4CF"/>
          </a:solidFill>
          <a:ln w="12700">
            <a:solidFill>
              <a:srgbClr val="B6C4CF">
                <a:alpha val="0"/>
              </a:srgbClr>
            </a:solidFill>
            <a:prstDash val="solid"/>
          </a:ln>
        </p:spPr>
      </p:sp>
      <p:sp>
        <p:nvSpPr>
          <p:cNvPr id="71" name="Shape 69"/>
          <p:cNvSpPr/>
          <p:nvPr/>
        </p:nvSpPr>
        <p:spPr>
          <a:xfrm>
            <a:off x="10448300" y="2889687"/>
            <a:ext cx="0" cy="1231148"/>
          </a:xfrm>
          <a:prstGeom prst="line">
            <a:avLst/>
          </a:prstGeom>
          <a:noFill/>
          <a:ln w="20320">
            <a:solidFill>
              <a:srgbClr val="2C3D4E"/>
            </a:solidFill>
            <a:prstDash val="solid"/>
            <a:headEnd type="none"/>
            <a:tailEnd type="none"/>
          </a:ln>
        </p:spPr>
      </p:sp>
      <p:sp>
        <p:nvSpPr>
          <p:cNvPr id="72" name="Shape 70"/>
          <p:cNvSpPr/>
          <p:nvPr/>
        </p:nvSpPr>
        <p:spPr>
          <a:xfrm>
            <a:off x="10448300" y="2945648"/>
            <a:ext cx="367223" cy="0"/>
          </a:xfrm>
          <a:prstGeom prst="line">
            <a:avLst/>
          </a:prstGeom>
          <a:noFill/>
          <a:ln w="20320">
            <a:solidFill>
              <a:srgbClr val="2C3D4E"/>
            </a:solidFill>
            <a:prstDash val="solid"/>
            <a:headEnd type="none"/>
            <a:tailEnd type="none"/>
          </a:ln>
        </p:spPr>
      </p:sp>
      <p:sp>
        <p:nvSpPr>
          <p:cNvPr id="73" name="Shape 71"/>
          <p:cNvSpPr/>
          <p:nvPr/>
        </p:nvSpPr>
        <p:spPr>
          <a:xfrm>
            <a:off x="10677815" y="2889687"/>
            <a:ext cx="206563" cy="206563"/>
          </a:xfrm>
          <a:prstGeom prst="ellipse">
            <a:avLst/>
          </a:prstGeom>
          <a:solidFill>
            <a:srgbClr val="FFC66D"/>
          </a:solidFill>
          <a:ln w="6350">
            <a:solidFill>
              <a:srgbClr val="FDE68A"/>
            </a:solidFill>
            <a:prstDash val="solid"/>
          </a:ln>
        </p:spPr>
      </p:sp>
      <p:sp>
        <p:nvSpPr>
          <p:cNvPr id="74" name="Shape 72"/>
          <p:cNvSpPr/>
          <p:nvPr/>
        </p:nvSpPr>
        <p:spPr>
          <a:xfrm>
            <a:off x="6967728" y="4736592"/>
            <a:ext cx="1700784" cy="274320"/>
          </a:xfrm>
          <a:prstGeom prst="roundRect">
            <a:avLst>
              <a:gd name="adj" fmla="val 40000"/>
            </a:avLst>
          </a:prstGeom>
          <a:solidFill>
            <a:srgbClr val="17263A"/>
          </a:solidFill>
          <a:ln w="12700">
            <a:solidFill>
              <a:srgbClr val="17263A">
                <a:alpha val="0"/>
              </a:srgbClr>
            </a:solidFill>
            <a:prstDash val="solid"/>
          </a:ln>
        </p:spPr>
      </p:sp>
      <p:sp>
        <p:nvSpPr>
          <p:cNvPr id="75" name="Text 73"/>
          <p:cNvSpPr txBox="1"/>
          <p:nvPr/>
        </p:nvSpPr>
        <p:spPr>
          <a:xfrm>
            <a:off x="7040880" y="4754880"/>
            <a:ext cx="1554480" cy="228600"/>
          </a:xfrm>
          <a:prstGeom prst="rect">
            <a:avLst/>
          </a:prstGeom>
          <a:noFill/>
          <a:ln/>
        </p:spPr>
        <p:txBody>
          <a:bodyPr wrap="square" lIns="0" tIns="0" rIns="0" bIns="0" rtlCol="0" anchor="ctr">
            <a:normAutofit/>
          </a:bodyPr>
          <a:lstStyle/>
          <a:p>
            <a:pPr algn="ctr" indent="0" marL="0">
              <a:buNone/>
            </a:pPr>
            <a:r>
              <a:rPr lang="en-US" sz="850" b="1" dirty="0">
                <a:solidFill>
                  <a:srgbClr val="7DD3FC"/>
                </a:solidFill>
                <a:latin typeface="Aptos" pitchFamily="34" charset="0"/>
                <a:ea typeface="Aptos" pitchFamily="34" charset="-122"/>
                <a:cs typeface="Aptos" pitchFamily="34" charset="-120"/>
              </a:rPr>
              <a:t>COVERAGE-DEPENDENT</a:t>
            </a:r>
            <a:endParaRPr lang="en-US" sz="850" dirty="0"/>
          </a:p>
        </p:txBody>
      </p:sp>
      <p:sp>
        <p:nvSpPr>
          <p:cNvPr id="76" name="Text 74"/>
          <p:cNvSpPr txBox="1"/>
          <p:nvPr/>
        </p:nvSpPr>
        <p:spPr>
          <a:xfrm>
            <a:off x="6702552" y="5422392"/>
            <a:ext cx="4434840" cy="201168"/>
          </a:xfrm>
          <a:prstGeom prst="rect">
            <a:avLst/>
          </a:prstGeom>
          <a:noFill/>
          <a:ln/>
        </p:spPr>
        <p:txBody>
          <a:bodyPr wrap="square" lIns="0" tIns="0" rIns="0" bIns="0" rtlCol="0" anchor="ctr">
            <a:normAutofit/>
          </a:bodyPr>
          <a:lstStyle/>
          <a:p>
            <a:pPr algn="l" indent="0" marL="0">
              <a:buNone/>
            </a:pPr>
            <a:r>
              <a:rPr lang="en-US" sz="1000" dirty="0">
                <a:solidFill>
                  <a:srgbClr val="AAB8CA"/>
                </a:solidFill>
                <a:latin typeface="Aptos" pitchFamily="34" charset="0"/>
                <a:ea typeface="Aptos" pitchFamily="34" charset="-122"/>
                <a:cs typeface="Aptos" pitchFamily="34" charset="-120"/>
              </a:rPr>
              <a:t>Open panorama near the issue coordinate</a:t>
            </a:r>
            <a:endParaRPr lang="en-US" sz="1000" dirty="0"/>
          </a:p>
        </p:txBody>
      </p:sp>
      <p:sp>
        <p:nvSpPr>
          <p:cNvPr id="77" name="Shape 75"/>
          <p:cNvSpPr/>
          <p:nvPr/>
        </p:nvSpPr>
        <p:spPr>
          <a:xfrm>
            <a:off x="566928" y="6510528"/>
            <a:ext cx="11064240" cy="0"/>
          </a:xfrm>
          <a:prstGeom prst="line">
            <a:avLst/>
          </a:prstGeom>
          <a:noFill/>
          <a:ln w="8890">
            <a:solidFill>
              <a:srgbClr val="243248"/>
            </a:solidFill>
            <a:prstDash val="solid"/>
            <a:headEnd type="none"/>
            <a:tailEnd type="none"/>
          </a:ln>
        </p:spPr>
      </p:sp>
      <p:sp>
        <p:nvSpPr>
          <p:cNvPr id="78" name="Text 76"/>
          <p:cNvSpPr txBox="1"/>
          <p:nvPr/>
        </p:nvSpPr>
        <p:spPr>
          <a:xfrm>
            <a:off x="585216" y="6556248"/>
            <a:ext cx="5120640" cy="137160"/>
          </a:xfrm>
          <a:prstGeom prst="rect">
            <a:avLst/>
          </a:prstGeom>
          <a:noFill/>
          <a:ln/>
        </p:spPr>
        <p:txBody>
          <a:bodyPr wrap="square" lIns="0" tIns="0" rIns="0" bIns="0" rtlCol="0" anchor="ctr">
            <a:normAutofit/>
          </a:bodyPr>
          <a:lstStyle/>
          <a:p>
            <a:pPr algn="l" indent="0" marL="0">
              <a:buNone/>
            </a:pPr>
            <a:r>
              <a:rPr lang="en-US" sz="700" b="1" spc="50" kern="0" dirty="0">
                <a:solidFill>
                  <a:srgbClr val="6E8097"/>
                </a:solidFill>
                <a:latin typeface="Aptos" pitchFamily="34" charset="0"/>
                <a:ea typeface="Aptos" pitchFamily="34" charset="-122"/>
                <a:cs typeface="Aptos" pitchFamily="34" charset="-120"/>
              </a:rPr>
              <a:t>CIVICFIX AI  •  CONCEPT / PROTOTYPE PITCH</a:t>
            </a:r>
            <a:endParaRPr lang="en-US" sz="700" dirty="0"/>
          </a:p>
        </p:txBody>
      </p:sp>
      <p:sp>
        <p:nvSpPr>
          <p:cNvPr id="79" name="Text 77"/>
          <p:cNvSpPr txBox="1"/>
          <p:nvPr/>
        </p:nvSpPr>
        <p:spPr>
          <a:xfrm>
            <a:off x="11064240" y="6547104"/>
            <a:ext cx="502920" cy="146304"/>
          </a:xfrm>
          <a:prstGeom prst="rect">
            <a:avLst/>
          </a:prstGeom>
          <a:noFill/>
          <a:ln/>
        </p:spPr>
        <p:txBody>
          <a:bodyPr wrap="square" lIns="0" tIns="0" rIns="0" bIns="0" rtlCol="0" anchor="ctr">
            <a:normAutofit/>
          </a:bodyPr>
          <a:lstStyle/>
          <a:p>
            <a:pPr algn="r" indent="0" marL="0">
              <a:buNone/>
            </a:pPr>
            <a:r>
              <a:rPr lang="en-US" sz="800" b="1" dirty="0">
                <a:solidFill>
                  <a:srgbClr val="6E8097"/>
                </a:solidFill>
                <a:latin typeface="Aptos" pitchFamily="34" charset="0"/>
                <a:ea typeface="Aptos" pitchFamily="34" charset="-122"/>
                <a:cs typeface="Aptos" pitchFamily="34" charset="-120"/>
              </a:rPr>
              <a:t>07</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5F7FA"/>
          </a:solidFill>
          <a:ln w="12700">
            <a:solidFill>
              <a:srgbClr val="F5F7FA">
                <a:alpha val="0"/>
              </a:srgbClr>
            </a:solidFill>
            <a:prstDash val="solid"/>
          </a:ln>
        </p:spPr>
      </p:sp>
      <p:sp>
        <p:nvSpPr>
          <p:cNvPr id="3" name="Shape 1"/>
          <p:cNvSpPr/>
          <p:nvPr/>
        </p:nvSpPr>
        <p:spPr>
          <a:xfrm>
            <a:off x="566928" y="384048"/>
            <a:ext cx="1417320" cy="274320"/>
          </a:xfrm>
          <a:prstGeom prst="roundRect">
            <a:avLst>
              <a:gd name="adj" fmla="val 36667"/>
            </a:avLst>
          </a:prstGeom>
          <a:solidFill>
            <a:srgbClr val="FFFFFF"/>
          </a:solidFill>
          <a:ln w="12700">
            <a:solidFill>
              <a:srgbClr val="DCE3EA"/>
            </a:solidFill>
            <a:prstDash val="solid"/>
          </a:ln>
        </p:spPr>
      </p:sp>
      <p:sp>
        <p:nvSpPr>
          <p:cNvPr id="4" name="Shape 2"/>
          <p:cNvSpPr/>
          <p:nvPr/>
        </p:nvSpPr>
        <p:spPr>
          <a:xfrm>
            <a:off x="658368" y="480060"/>
            <a:ext cx="82296" cy="82296"/>
          </a:xfrm>
          <a:prstGeom prst="ellipse">
            <a:avLst/>
          </a:prstGeom>
          <a:solidFill>
            <a:srgbClr val="2DD4BF"/>
          </a:solidFill>
          <a:ln w="12700">
            <a:solidFill>
              <a:srgbClr val="2DD4BF"/>
            </a:solidFill>
            <a:prstDash val="solid"/>
          </a:ln>
        </p:spPr>
      </p:sp>
      <p:sp>
        <p:nvSpPr>
          <p:cNvPr id="5" name="Text 3"/>
          <p:cNvSpPr txBox="1"/>
          <p:nvPr/>
        </p:nvSpPr>
        <p:spPr>
          <a:xfrm>
            <a:off x="795528" y="402336"/>
            <a:ext cx="1133856" cy="219456"/>
          </a:xfrm>
          <a:prstGeom prst="rect">
            <a:avLst/>
          </a:prstGeom>
          <a:noFill/>
          <a:ln/>
        </p:spPr>
        <p:txBody>
          <a:bodyPr wrap="square" lIns="0" tIns="0" rIns="0" bIns="0" rtlCol="0" anchor="ctr">
            <a:normAutofit/>
          </a:bodyPr>
          <a:lstStyle/>
          <a:p>
            <a:pPr algn="l" indent="0" marL="0">
              <a:buNone/>
            </a:pPr>
            <a:r>
              <a:rPr lang="en-US" sz="850" b="1" spc="50" kern="0" dirty="0">
                <a:solidFill>
                  <a:srgbClr val="526176"/>
                </a:solidFill>
                <a:latin typeface="Aptos" pitchFamily="34" charset="0"/>
                <a:ea typeface="Aptos" pitchFamily="34" charset="-122"/>
                <a:cs typeface="Aptos" pitchFamily="34" charset="-120"/>
              </a:rPr>
              <a:t>CIVICFIX AI  /  07</a:t>
            </a:r>
            <a:endParaRPr lang="en-US" sz="850" dirty="0"/>
          </a:p>
        </p:txBody>
      </p:sp>
      <p:sp>
        <p:nvSpPr>
          <p:cNvPr id="6" name="Text 4"/>
          <p:cNvSpPr txBox="1"/>
          <p:nvPr/>
        </p:nvSpPr>
        <p:spPr>
          <a:xfrm>
            <a:off x="566928" y="804672"/>
            <a:ext cx="10972800" cy="475488"/>
          </a:xfrm>
          <a:prstGeom prst="rect">
            <a:avLst/>
          </a:prstGeom>
          <a:noFill/>
          <a:ln/>
        </p:spPr>
        <p:txBody>
          <a:bodyPr wrap="square" lIns="0" tIns="0" rIns="0" bIns="0" rtlCol="0" anchor="ctr">
            <a:normAutofit/>
          </a:bodyPr>
          <a:lstStyle/>
          <a:p>
            <a:pPr algn="l" indent="0" marL="0">
              <a:buNone/>
            </a:pPr>
            <a:r>
              <a:rPr lang="en-US" sz="2700" b="1" dirty="0">
                <a:solidFill>
                  <a:srgbClr val="132033"/>
                </a:solidFill>
                <a:latin typeface="Aptos Display" pitchFamily="34" charset="0"/>
                <a:ea typeface="Aptos Display" pitchFamily="34" charset="-122"/>
                <a:cs typeface="Aptos Display" pitchFamily="34" charset="-120"/>
              </a:rPr>
              <a:t>A resolution portal—not a dead-end ticket.</a:t>
            </a:r>
            <a:endParaRPr lang="en-US" sz="2700" dirty="0"/>
          </a:p>
        </p:txBody>
      </p:sp>
      <p:sp>
        <p:nvSpPr>
          <p:cNvPr id="7" name="Text 5"/>
          <p:cNvSpPr txBox="1"/>
          <p:nvPr/>
        </p:nvSpPr>
        <p:spPr>
          <a:xfrm>
            <a:off x="585216" y="1335024"/>
            <a:ext cx="10881360" cy="347472"/>
          </a:xfrm>
          <a:prstGeom prst="rect">
            <a:avLst/>
          </a:prstGeom>
          <a:noFill/>
          <a:ln/>
        </p:spPr>
        <p:txBody>
          <a:bodyPr wrap="square" lIns="0" tIns="0" rIns="0" bIns="0" rtlCol="0" anchor="ctr">
            <a:normAutofit/>
          </a:bodyPr>
          <a:lstStyle/>
          <a:p>
            <a:pPr algn="l" indent="0" marL="0">
              <a:buNone/>
            </a:pPr>
            <a:r>
              <a:rPr lang="en-US" sz="1200" dirty="0">
                <a:solidFill>
                  <a:srgbClr val="526176"/>
                </a:solidFill>
                <a:latin typeface="Aptos" pitchFamily="34" charset="0"/>
                <a:ea typeface="Aptos" pitchFamily="34" charset="-122"/>
                <a:cs typeface="Aptos" pitchFamily="34" charset="-120"/>
              </a:rPr>
              <a:t>Authorities can find the canonical Issue ID and attach a resolution record with evidence.</a:t>
            </a:r>
            <a:endParaRPr lang="en-US" sz="1200" dirty="0"/>
          </a:p>
        </p:txBody>
      </p:sp>
      <p:sp>
        <p:nvSpPr>
          <p:cNvPr id="8" name="Shape 6"/>
          <p:cNvSpPr/>
          <p:nvPr/>
        </p:nvSpPr>
        <p:spPr>
          <a:xfrm>
            <a:off x="640080" y="1847088"/>
            <a:ext cx="5623560" cy="4297680"/>
          </a:xfrm>
          <a:prstGeom prst="roundRect">
            <a:avLst>
              <a:gd name="adj" fmla="val 3191"/>
            </a:avLst>
          </a:prstGeom>
          <a:solidFill>
            <a:srgbClr val="FFFFFF"/>
          </a:solidFill>
          <a:ln w="12700">
            <a:solidFill>
              <a:srgbClr val="DCE3EA"/>
            </a:solidFill>
            <a:prstDash val="solid"/>
          </a:ln>
        </p:spPr>
      </p:sp>
      <p:sp>
        <p:nvSpPr>
          <p:cNvPr id="9" name="Shape 7"/>
          <p:cNvSpPr/>
          <p:nvPr/>
        </p:nvSpPr>
        <p:spPr>
          <a:xfrm>
            <a:off x="868680" y="2084832"/>
            <a:ext cx="5166360" cy="438912"/>
          </a:xfrm>
          <a:prstGeom prst="roundRect">
            <a:avLst>
              <a:gd name="adj" fmla="val 20833"/>
            </a:avLst>
          </a:prstGeom>
          <a:solidFill>
            <a:srgbClr val="0B1220"/>
          </a:solidFill>
          <a:ln w="12700">
            <a:solidFill>
              <a:srgbClr val="0B1220">
                <a:alpha val="0"/>
              </a:srgbClr>
            </a:solidFill>
            <a:prstDash val="solid"/>
          </a:ln>
        </p:spPr>
      </p:sp>
      <p:sp>
        <p:nvSpPr>
          <p:cNvPr id="10" name="Text 8"/>
          <p:cNvSpPr txBox="1"/>
          <p:nvPr/>
        </p:nvSpPr>
        <p:spPr>
          <a:xfrm>
            <a:off x="1060704" y="2194560"/>
            <a:ext cx="2011680" cy="155448"/>
          </a:xfrm>
          <a:prstGeom prst="rect">
            <a:avLst/>
          </a:prstGeom>
          <a:noFill/>
          <a:ln/>
        </p:spPr>
        <p:txBody>
          <a:bodyPr wrap="square" lIns="0" tIns="0" rIns="0" bIns="0" rtlCol="0" anchor="ctr">
            <a:normAutofit/>
          </a:bodyPr>
          <a:lstStyle/>
          <a:p>
            <a:pPr algn="l" indent="0" marL="0">
              <a:buNone/>
            </a:pPr>
            <a:r>
              <a:rPr lang="en-US" sz="900" b="1" spc="100" kern="0" dirty="0">
                <a:solidFill>
                  <a:srgbClr val="2DD4BF"/>
                </a:solidFill>
                <a:latin typeface="Aptos" pitchFamily="34" charset="0"/>
                <a:ea typeface="Aptos" pitchFamily="34" charset="-122"/>
                <a:cs typeface="Aptos" pitchFamily="34" charset="-120"/>
              </a:rPr>
              <a:t>AUTHORITY PORTAL</a:t>
            </a:r>
            <a:endParaRPr lang="en-US" sz="900" dirty="0"/>
          </a:p>
        </p:txBody>
      </p:sp>
      <p:sp>
        <p:nvSpPr>
          <p:cNvPr id="11" name="Text 9"/>
          <p:cNvSpPr txBox="1"/>
          <p:nvPr/>
        </p:nvSpPr>
        <p:spPr>
          <a:xfrm>
            <a:off x="932688" y="2734056"/>
            <a:ext cx="3474720" cy="201168"/>
          </a:xfrm>
          <a:prstGeom prst="rect">
            <a:avLst/>
          </a:prstGeom>
          <a:noFill/>
          <a:ln/>
        </p:spPr>
        <p:txBody>
          <a:bodyPr wrap="square" lIns="0" tIns="0" rIns="0" bIns="0" rtlCol="0" anchor="ctr">
            <a:normAutofit/>
          </a:bodyPr>
          <a:lstStyle/>
          <a:p>
            <a:pPr algn="l" indent="0" marL="0">
              <a:buNone/>
            </a:pPr>
            <a:r>
              <a:rPr lang="en-US" sz="1200" b="1" dirty="0">
                <a:solidFill>
                  <a:srgbClr val="132033"/>
                </a:solidFill>
                <a:latin typeface="Aptos" pitchFamily="34" charset="0"/>
                <a:ea typeface="Aptos" pitchFamily="34" charset="-122"/>
                <a:cs typeface="Aptos" pitchFamily="34" charset="-120"/>
              </a:rPr>
              <a:t>Search by CivicFix Issue ID</a:t>
            </a:r>
            <a:endParaRPr lang="en-US" sz="1200" dirty="0"/>
          </a:p>
        </p:txBody>
      </p:sp>
      <p:sp>
        <p:nvSpPr>
          <p:cNvPr id="12" name="Shape 10"/>
          <p:cNvSpPr/>
          <p:nvPr/>
        </p:nvSpPr>
        <p:spPr>
          <a:xfrm>
            <a:off x="932688" y="3054096"/>
            <a:ext cx="2907792" cy="438912"/>
          </a:xfrm>
          <a:prstGeom prst="roundRect">
            <a:avLst>
              <a:gd name="adj" fmla="val 16667"/>
            </a:avLst>
          </a:prstGeom>
          <a:solidFill>
            <a:srgbClr val="FFFFFF"/>
          </a:solidFill>
          <a:ln w="12700">
            <a:solidFill>
              <a:srgbClr val="DCE3EA"/>
            </a:solidFill>
            <a:prstDash val="solid"/>
          </a:ln>
        </p:spPr>
      </p:sp>
      <p:sp>
        <p:nvSpPr>
          <p:cNvPr id="13" name="Text 11"/>
          <p:cNvSpPr txBox="1"/>
          <p:nvPr/>
        </p:nvSpPr>
        <p:spPr>
          <a:xfrm>
            <a:off x="1097280" y="3163824"/>
            <a:ext cx="1371600" cy="164592"/>
          </a:xfrm>
          <a:prstGeom prst="rect">
            <a:avLst/>
          </a:prstGeom>
          <a:noFill/>
          <a:ln/>
        </p:spPr>
        <p:txBody>
          <a:bodyPr wrap="square" lIns="0" tIns="0" rIns="0" bIns="0" rtlCol="0" anchor="ctr">
            <a:normAutofit/>
          </a:bodyPr>
          <a:lstStyle/>
          <a:p>
            <a:pPr algn="l" indent="0" marL="0">
              <a:buNone/>
            </a:pPr>
            <a:r>
              <a:rPr lang="en-US" sz="1100" b="1" dirty="0">
                <a:solidFill>
                  <a:srgbClr val="132033"/>
                </a:solidFill>
                <a:latin typeface="Aptos" pitchFamily="34" charset="0"/>
                <a:ea typeface="Aptos" pitchFamily="34" charset="-122"/>
                <a:cs typeface="Aptos" pitchFamily="34" charset="-120"/>
              </a:rPr>
              <a:t>CF-1024</a:t>
            </a:r>
            <a:endParaRPr lang="en-US" sz="1100" dirty="0"/>
          </a:p>
        </p:txBody>
      </p:sp>
      <p:sp>
        <p:nvSpPr>
          <p:cNvPr id="14" name="Shape 12"/>
          <p:cNvSpPr/>
          <p:nvPr/>
        </p:nvSpPr>
        <p:spPr>
          <a:xfrm>
            <a:off x="3968496" y="3054096"/>
            <a:ext cx="1371600" cy="438912"/>
          </a:xfrm>
          <a:prstGeom prst="roundRect">
            <a:avLst>
              <a:gd name="adj" fmla="val 16667"/>
            </a:avLst>
          </a:prstGeom>
          <a:solidFill>
            <a:srgbClr val="2DD4BF"/>
          </a:solidFill>
          <a:ln w="12700">
            <a:solidFill>
              <a:srgbClr val="2DD4BF">
                <a:alpha val="0"/>
              </a:srgbClr>
            </a:solidFill>
            <a:prstDash val="solid"/>
          </a:ln>
        </p:spPr>
      </p:sp>
      <p:sp>
        <p:nvSpPr>
          <p:cNvPr id="15" name="Text 13"/>
          <p:cNvSpPr txBox="1"/>
          <p:nvPr/>
        </p:nvSpPr>
        <p:spPr>
          <a:xfrm>
            <a:off x="4096512" y="3172968"/>
            <a:ext cx="1115568" cy="146304"/>
          </a:xfrm>
          <a:prstGeom prst="rect">
            <a:avLst/>
          </a:prstGeom>
          <a:noFill/>
          <a:ln/>
        </p:spPr>
        <p:txBody>
          <a:bodyPr wrap="square" lIns="0" tIns="0" rIns="0" bIns="0" rtlCol="0" anchor="ctr">
            <a:normAutofit/>
          </a:bodyPr>
          <a:lstStyle/>
          <a:p>
            <a:pPr algn="ctr" indent="0" marL="0">
              <a:buNone/>
            </a:pPr>
            <a:r>
              <a:rPr lang="en-US" sz="900" b="1" dirty="0">
                <a:solidFill>
                  <a:srgbClr val="0B1220"/>
                </a:solidFill>
                <a:latin typeface="Aptos" pitchFamily="34" charset="0"/>
                <a:ea typeface="Aptos" pitchFamily="34" charset="-122"/>
                <a:cs typeface="Aptos" pitchFamily="34" charset="-120"/>
              </a:rPr>
              <a:t>Find issue</a:t>
            </a:r>
            <a:endParaRPr lang="en-US" sz="900" dirty="0"/>
          </a:p>
        </p:txBody>
      </p:sp>
      <p:sp>
        <p:nvSpPr>
          <p:cNvPr id="16" name="Shape 14"/>
          <p:cNvSpPr/>
          <p:nvPr/>
        </p:nvSpPr>
        <p:spPr>
          <a:xfrm>
            <a:off x="932688" y="3749040"/>
            <a:ext cx="4828032" cy="0"/>
          </a:xfrm>
          <a:prstGeom prst="line">
            <a:avLst/>
          </a:prstGeom>
          <a:noFill/>
          <a:ln w="10160">
            <a:solidFill>
              <a:srgbClr val="DCE3EA"/>
            </a:solidFill>
            <a:prstDash val="solid"/>
            <a:headEnd type="none"/>
            <a:tailEnd type="none"/>
          </a:ln>
        </p:spPr>
      </p:sp>
      <p:sp>
        <p:nvSpPr>
          <p:cNvPr id="17" name="Text 15"/>
          <p:cNvSpPr txBox="1"/>
          <p:nvPr/>
        </p:nvSpPr>
        <p:spPr>
          <a:xfrm>
            <a:off x="932688" y="3931920"/>
            <a:ext cx="4709160" cy="228600"/>
          </a:xfrm>
          <a:prstGeom prst="rect">
            <a:avLst/>
          </a:prstGeom>
          <a:noFill/>
          <a:ln/>
        </p:spPr>
        <p:txBody>
          <a:bodyPr wrap="square" lIns="0" tIns="0" rIns="0" bIns="0" rtlCol="0" anchor="ctr">
            <a:normAutofit/>
          </a:bodyPr>
          <a:lstStyle/>
          <a:p>
            <a:pPr algn="l" indent="0" marL="0">
              <a:buNone/>
            </a:pPr>
            <a:r>
              <a:rPr lang="en-US" sz="1200" b="1" dirty="0">
                <a:solidFill>
                  <a:srgbClr val="132033"/>
                </a:solidFill>
                <a:latin typeface="Aptos" pitchFamily="34" charset="0"/>
                <a:ea typeface="Aptos" pitchFamily="34" charset="-122"/>
                <a:cs typeface="Aptos" pitchFamily="34" charset="-120"/>
              </a:rPr>
              <a:t>CF-1024  ·  Large pothole near Main Gate</a:t>
            </a:r>
            <a:endParaRPr lang="en-US" sz="1200" dirty="0"/>
          </a:p>
        </p:txBody>
      </p:sp>
      <p:sp>
        <p:nvSpPr>
          <p:cNvPr id="18" name="Shape 16"/>
          <p:cNvSpPr/>
          <p:nvPr/>
        </p:nvSpPr>
        <p:spPr>
          <a:xfrm>
            <a:off x="932688" y="4279392"/>
            <a:ext cx="603504" cy="274320"/>
          </a:xfrm>
          <a:prstGeom prst="roundRect">
            <a:avLst>
              <a:gd name="adj" fmla="val 40000"/>
            </a:avLst>
          </a:prstGeom>
          <a:solidFill>
            <a:srgbClr val="FFE4E9"/>
          </a:solidFill>
          <a:ln w="12700">
            <a:solidFill>
              <a:srgbClr val="FFE4E9">
                <a:alpha val="0"/>
              </a:srgbClr>
            </a:solidFill>
            <a:prstDash val="solid"/>
          </a:ln>
        </p:spPr>
      </p:sp>
      <p:sp>
        <p:nvSpPr>
          <p:cNvPr id="19" name="Text 17"/>
          <p:cNvSpPr txBox="1"/>
          <p:nvPr/>
        </p:nvSpPr>
        <p:spPr>
          <a:xfrm>
            <a:off x="1005840" y="4297680"/>
            <a:ext cx="457200" cy="228600"/>
          </a:xfrm>
          <a:prstGeom prst="rect">
            <a:avLst/>
          </a:prstGeom>
          <a:noFill/>
          <a:ln/>
        </p:spPr>
        <p:txBody>
          <a:bodyPr wrap="square" lIns="0" tIns="0" rIns="0" bIns="0" rtlCol="0" anchor="ctr">
            <a:normAutofit/>
          </a:bodyPr>
          <a:lstStyle/>
          <a:p>
            <a:pPr algn="ctr" indent="0" marL="0">
              <a:buNone/>
            </a:pPr>
            <a:r>
              <a:rPr lang="en-US" sz="850" b="1" dirty="0">
                <a:solidFill>
                  <a:srgbClr val="9F1239"/>
                </a:solidFill>
                <a:latin typeface="Aptos" pitchFamily="34" charset="0"/>
                <a:ea typeface="Aptos" pitchFamily="34" charset="-122"/>
                <a:cs typeface="Aptos" pitchFamily="34" charset="-120"/>
              </a:rPr>
              <a:t>OPEN</a:t>
            </a:r>
            <a:endParaRPr lang="en-US" sz="850" dirty="0"/>
          </a:p>
        </p:txBody>
      </p:sp>
      <p:sp>
        <p:nvSpPr>
          <p:cNvPr id="20" name="Shape 18"/>
          <p:cNvSpPr/>
          <p:nvPr/>
        </p:nvSpPr>
        <p:spPr>
          <a:xfrm>
            <a:off x="1627632" y="4279392"/>
            <a:ext cx="950976" cy="274320"/>
          </a:xfrm>
          <a:prstGeom prst="roundRect">
            <a:avLst>
              <a:gd name="adj" fmla="val 40000"/>
            </a:avLst>
          </a:prstGeom>
          <a:solidFill>
            <a:srgbClr val="FFF2D7"/>
          </a:solidFill>
          <a:ln w="12700">
            <a:solidFill>
              <a:srgbClr val="FFF2D7">
                <a:alpha val="0"/>
              </a:srgbClr>
            </a:solidFill>
            <a:prstDash val="solid"/>
          </a:ln>
        </p:spPr>
      </p:sp>
      <p:sp>
        <p:nvSpPr>
          <p:cNvPr id="21" name="Text 19"/>
          <p:cNvSpPr txBox="1"/>
          <p:nvPr/>
        </p:nvSpPr>
        <p:spPr>
          <a:xfrm>
            <a:off x="1700784" y="4297680"/>
            <a:ext cx="804672" cy="228600"/>
          </a:xfrm>
          <a:prstGeom prst="rect">
            <a:avLst/>
          </a:prstGeom>
          <a:noFill/>
          <a:ln/>
        </p:spPr>
        <p:txBody>
          <a:bodyPr wrap="square" lIns="0" tIns="0" rIns="0" bIns="0" rtlCol="0" anchor="ctr">
            <a:normAutofit/>
          </a:bodyPr>
          <a:lstStyle/>
          <a:p>
            <a:pPr algn="ctr" indent="0" marL="0">
              <a:buNone/>
            </a:pPr>
            <a:r>
              <a:rPr lang="en-US" sz="850" b="1" dirty="0">
                <a:solidFill>
                  <a:srgbClr val="92400E"/>
                </a:solidFill>
                <a:latin typeface="Aptos" pitchFamily="34" charset="0"/>
                <a:ea typeface="Aptos" pitchFamily="34" charset="-122"/>
                <a:cs typeface="Aptos" pitchFamily="34" charset="-120"/>
              </a:rPr>
              <a:t>PRIORITY 89</a:t>
            </a:r>
            <a:endParaRPr lang="en-US" sz="850" dirty="0"/>
          </a:p>
        </p:txBody>
      </p:sp>
      <p:sp>
        <p:nvSpPr>
          <p:cNvPr id="22" name="Text 20"/>
          <p:cNvSpPr txBox="1"/>
          <p:nvPr/>
        </p:nvSpPr>
        <p:spPr>
          <a:xfrm>
            <a:off x="932688" y="4773168"/>
            <a:ext cx="2286000" cy="201168"/>
          </a:xfrm>
          <a:prstGeom prst="rect">
            <a:avLst/>
          </a:prstGeom>
          <a:noFill/>
          <a:ln/>
        </p:spPr>
        <p:txBody>
          <a:bodyPr wrap="square" lIns="0" tIns="0" rIns="0" bIns="0" rtlCol="0" anchor="ctr">
            <a:normAutofit/>
          </a:bodyPr>
          <a:lstStyle/>
          <a:p>
            <a:pPr algn="l" indent="0" marL="0">
              <a:buNone/>
            </a:pPr>
            <a:r>
              <a:rPr lang="en-US" sz="1100" b="1" dirty="0">
                <a:solidFill>
                  <a:srgbClr val="132033"/>
                </a:solidFill>
                <a:latin typeface="Aptos" pitchFamily="34" charset="0"/>
                <a:ea typeface="Aptos" pitchFamily="34" charset="-122"/>
                <a:cs typeface="Aptos" pitchFamily="34" charset="-120"/>
              </a:rPr>
              <a:t>Resolution submission</a:t>
            </a:r>
            <a:endParaRPr lang="en-US" sz="1100" dirty="0"/>
          </a:p>
        </p:txBody>
      </p:sp>
      <p:sp>
        <p:nvSpPr>
          <p:cNvPr id="23" name="Text 21"/>
          <p:cNvSpPr txBox="1"/>
          <p:nvPr/>
        </p:nvSpPr>
        <p:spPr>
          <a:xfrm>
            <a:off x="932688" y="5065776"/>
            <a:ext cx="1463040" cy="155448"/>
          </a:xfrm>
          <a:prstGeom prst="rect">
            <a:avLst/>
          </a:prstGeom>
          <a:noFill/>
          <a:ln/>
        </p:spPr>
        <p:txBody>
          <a:bodyPr wrap="square" lIns="0" tIns="0" rIns="0" bIns="0" rtlCol="0" anchor="ctr">
            <a:normAutofit/>
          </a:bodyPr>
          <a:lstStyle/>
          <a:p>
            <a:pPr algn="l" indent="0" marL="0">
              <a:buNone/>
            </a:pPr>
            <a:r>
              <a:rPr lang="en-US" sz="800" b="1" dirty="0">
                <a:solidFill>
                  <a:srgbClr val="526176"/>
                </a:solidFill>
                <a:latin typeface="Aptos" pitchFamily="34" charset="0"/>
                <a:ea typeface="Aptos" pitchFamily="34" charset="-122"/>
                <a:cs typeface="Aptos" pitchFamily="34" charset="-120"/>
              </a:rPr>
              <a:t>Department</a:t>
            </a:r>
            <a:endParaRPr lang="en-US" sz="800" dirty="0"/>
          </a:p>
        </p:txBody>
      </p:sp>
      <p:sp>
        <p:nvSpPr>
          <p:cNvPr id="24" name="Shape 22"/>
          <p:cNvSpPr/>
          <p:nvPr/>
        </p:nvSpPr>
        <p:spPr>
          <a:xfrm>
            <a:off x="932688" y="5276088"/>
            <a:ext cx="1444752" cy="384048"/>
          </a:xfrm>
          <a:prstGeom prst="roundRect">
            <a:avLst>
              <a:gd name="adj" fmla="val 14286"/>
            </a:avLst>
          </a:prstGeom>
          <a:solidFill>
            <a:srgbClr val="FFFFFF"/>
          </a:solidFill>
          <a:ln w="12700">
            <a:solidFill>
              <a:srgbClr val="DCE3EA"/>
            </a:solidFill>
            <a:prstDash val="solid"/>
          </a:ln>
        </p:spPr>
      </p:sp>
      <p:sp>
        <p:nvSpPr>
          <p:cNvPr id="25" name="Text 23"/>
          <p:cNvSpPr txBox="1"/>
          <p:nvPr/>
        </p:nvSpPr>
        <p:spPr>
          <a:xfrm>
            <a:off x="1024128" y="5376672"/>
            <a:ext cx="1280160" cy="146304"/>
          </a:xfrm>
          <a:prstGeom prst="rect">
            <a:avLst/>
          </a:prstGeom>
          <a:noFill/>
          <a:ln/>
        </p:spPr>
        <p:txBody>
          <a:bodyPr wrap="square" lIns="0" tIns="0" rIns="0" bIns="0" rtlCol="0" anchor="ctr">
            <a:normAutofit/>
          </a:bodyPr>
          <a:lstStyle/>
          <a:p>
            <a:pPr algn="l" indent="0" marL="0">
              <a:buNone/>
            </a:pPr>
            <a:r>
              <a:rPr lang="en-US" sz="850" b="1" dirty="0">
                <a:solidFill>
                  <a:srgbClr val="132033"/>
                </a:solidFill>
                <a:latin typeface="Aptos" pitchFamily="34" charset="0"/>
                <a:ea typeface="Aptos" pitchFamily="34" charset="-122"/>
                <a:cs typeface="Aptos" pitchFamily="34" charset="-120"/>
              </a:rPr>
              <a:t>Road Maintenance</a:t>
            </a:r>
            <a:endParaRPr lang="en-US" sz="850" dirty="0"/>
          </a:p>
        </p:txBody>
      </p:sp>
      <p:sp>
        <p:nvSpPr>
          <p:cNvPr id="26" name="Text 24"/>
          <p:cNvSpPr txBox="1"/>
          <p:nvPr/>
        </p:nvSpPr>
        <p:spPr>
          <a:xfrm>
            <a:off x="2532888" y="5065776"/>
            <a:ext cx="1463040" cy="155448"/>
          </a:xfrm>
          <a:prstGeom prst="rect">
            <a:avLst/>
          </a:prstGeom>
          <a:noFill/>
          <a:ln/>
        </p:spPr>
        <p:txBody>
          <a:bodyPr wrap="square" lIns="0" tIns="0" rIns="0" bIns="0" rtlCol="0" anchor="ctr">
            <a:normAutofit/>
          </a:bodyPr>
          <a:lstStyle/>
          <a:p>
            <a:pPr algn="l" indent="0" marL="0">
              <a:buNone/>
            </a:pPr>
            <a:r>
              <a:rPr lang="en-US" sz="800" b="1" dirty="0">
                <a:solidFill>
                  <a:srgbClr val="526176"/>
                </a:solidFill>
                <a:latin typeface="Aptos" pitchFamily="34" charset="0"/>
                <a:ea typeface="Aptos" pitchFamily="34" charset="-122"/>
                <a:cs typeface="Aptos" pitchFamily="34" charset="-120"/>
              </a:rPr>
              <a:t>Status</a:t>
            </a:r>
            <a:endParaRPr lang="en-US" sz="800" dirty="0"/>
          </a:p>
        </p:txBody>
      </p:sp>
      <p:sp>
        <p:nvSpPr>
          <p:cNvPr id="27" name="Shape 25"/>
          <p:cNvSpPr/>
          <p:nvPr/>
        </p:nvSpPr>
        <p:spPr>
          <a:xfrm>
            <a:off x="2532888" y="5276088"/>
            <a:ext cx="1444752" cy="384048"/>
          </a:xfrm>
          <a:prstGeom prst="roundRect">
            <a:avLst>
              <a:gd name="adj" fmla="val 14286"/>
            </a:avLst>
          </a:prstGeom>
          <a:solidFill>
            <a:srgbClr val="FFFFFF"/>
          </a:solidFill>
          <a:ln w="12700">
            <a:solidFill>
              <a:srgbClr val="DCE3EA"/>
            </a:solidFill>
            <a:prstDash val="solid"/>
          </a:ln>
        </p:spPr>
      </p:sp>
      <p:sp>
        <p:nvSpPr>
          <p:cNvPr id="28" name="Text 26"/>
          <p:cNvSpPr txBox="1"/>
          <p:nvPr/>
        </p:nvSpPr>
        <p:spPr>
          <a:xfrm>
            <a:off x="2624328" y="5376672"/>
            <a:ext cx="1280160" cy="146304"/>
          </a:xfrm>
          <a:prstGeom prst="rect">
            <a:avLst/>
          </a:prstGeom>
          <a:noFill/>
          <a:ln/>
        </p:spPr>
        <p:txBody>
          <a:bodyPr wrap="square" lIns="0" tIns="0" rIns="0" bIns="0" rtlCol="0" anchor="ctr">
            <a:normAutofit/>
          </a:bodyPr>
          <a:lstStyle/>
          <a:p>
            <a:pPr algn="l" indent="0" marL="0">
              <a:buNone/>
            </a:pPr>
            <a:r>
              <a:rPr lang="en-US" sz="850" b="1" dirty="0">
                <a:solidFill>
                  <a:srgbClr val="132033"/>
                </a:solidFill>
                <a:latin typeface="Aptos" pitchFamily="34" charset="0"/>
                <a:ea typeface="Aptos" pitchFamily="34" charset="-122"/>
                <a:cs typeface="Aptos" pitchFamily="34" charset="-120"/>
              </a:rPr>
              <a:t>Resolved</a:t>
            </a:r>
            <a:endParaRPr lang="en-US" sz="850" dirty="0"/>
          </a:p>
        </p:txBody>
      </p:sp>
      <p:sp>
        <p:nvSpPr>
          <p:cNvPr id="29" name="Text 27"/>
          <p:cNvSpPr txBox="1"/>
          <p:nvPr/>
        </p:nvSpPr>
        <p:spPr>
          <a:xfrm>
            <a:off x="4133088" y="5065776"/>
            <a:ext cx="1463040" cy="155448"/>
          </a:xfrm>
          <a:prstGeom prst="rect">
            <a:avLst/>
          </a:prstGeom>
          <a:noFill/>
          <a:ln/>
        </p:spPr>
        <p:txBody>
          <a:bodyPr wrap="square" lIns="0" tIns="0" rIns="0" bIns="0" rtlCol="0" anchor="ctr">
            <a:normAutofit/>
          </a:bodyPr>
          <a:lstStyle/>
          <a:p>
            <a:pPr algn="l" indent="0" marL="0">
              <a:buNone/>
            </a:pPr>
            <a:r>
              <a:rPr lang="en-US" sz="800" b="1" dirty="0">
                <a:solidFill>
                  <a:srgbClr val="526176"/>
                </a:solidFill>
                <a:latin typeface="Aptos" pitchFamily="34" charset="0"/>
                <a:ea typeface="Aptos" pitchFamily="34" charset="-122"/>
                <a:cs typeface="Aptos" pitchFamily="34" charset="-120"/>
              </a:rPr>
              <a:t>Resolution date</a:t>
            </a:r>
            <a:endParaRPr lang="en-US" sz="800" dirty="0"/>
          </a:p>
        </p:txBody>
      </p:sp>
      <p:sp>
        <p:nvSpPr>
          <p:cNvPr id="30" name="Shape 28"/>
          <p:cNvSpPr/>
          <p:nvPr/>
        </p:nvSpPr>
        <p:spPr>
          <a:xfrm>
            <a:off x="4133088" y="5276088"/>
            <a:ext cx="1444752" cy="384048"/>
          </a:xfrm>
          <a:prstGeom prst="roundRect">
            <a:avLst>
              <a:gd name="adj" fmla="val 14286"/>
            </a:avLst>
          </a:prstGeom>
          <a:solidFill>
            <a:srgbClr val="FFFFFF"/>
          </a:solidFill>
          <a:ln w="12700">
            <a:solidFill>
              <a:srgbClr val="DCE3EA"/>
            </a:solidFill>
            <a:prstDash val="solid"/>
          </a:ln>
        </p:spPr>
      </p:sp>
      <p:sp>
        <p:nvSpPr>
          <p:cNvPr id="31" name="Text 29"/>
          <p:cNvSpPr txBox="1"/>
          <p:nvPr/>
        </p:nvSpPr>
        <p:spPr>
          <a:xfrm>
            <a:off x="4224528" y="5376672"/>
            <a:ext cx="1280160" cy="146304"/>
          </a:xfrm>
          <a:prstGeom prst="rect">
            <a:avLst/>
          </a:prstGeom>
          <a:noFill/>
          <a:ln/>
        </p:spPr>
        <p:txBody>
          <a:bodyPr wrap="square" lIns="0" tIns="0" rIns="0" bIns="0" rtlCol="0" anchor="ctr">
            <a:normAutofit/>
          </a:bodyPr>
          <a:lstStyle/>
          <a:p>
            <a:pPr algn="l" indent="0" marL="0">
              <a:buNone/>
            </a:pPr>
            <a:r>
              <a:rPr lang="en-US" sz="850" b="1" dirty="0">
                <a:solidFill>
                  <a:srgbClr val="132033"/>
                </a:solidFill>
                <a:latin typeface="Aptos" pitchFamily="34" charset="0"/>
                <a:ea typeface="Aptos" pitchFamily="34" charset="-122"/>
                <a:cs typeface="Aptos" pitchFamily="34" charset="-120"/>
              </a:rPr>
              <a:t>24 Oct 2026</a:t>
            </a:r>
            <a:endParaRPr lang="en-US" sz="850" dirty="0"/>
          </a:p>
        </p:txBody>
      </p:sp>
      <p:sp>
        <p:nvSpPr>
          <p:cNvPr id="32" name="Text 30"/>
          <p:cNvSpPr txBox="1"/>
          <p:nvPr/>
        </p:nvSpPr>
        <p:spPr>
          <a:xfrm>
            <a:off x="932688" y="5797296"/>
            <a:ext cx="4754880" cy="182880"/>
          </a:xfrm>
          <a:prstGeom prst="rect">
            <a:avLst/>
          </a:prstGeom>
          <a:noFill/>
          <a:ln/>
        </p:spPr>
        <p:txBody>
          <a:bodyPr wrap="square" lIns="0" tIns="0" rIns="0" bIns="0" rtlCol="0" anchor="ctr">
            <a:normAutofit/>
          </a:bodyPr>
          <a:lstStyle/>
          <a:p>
            <a:pPr algn="l" indent="0" marL="0">
              <a:buNone/>
            </a:pPr>
            <a:r>
              <a:rPr lang="en-US" sz="900" b="1" dirty="0">
                <a:solidFill>
                  <a:srgbClr val="0F766E"/>
                </a:solidFill>
                <a:latin typeface="Aptos" pitchFamily="34" charset="0"/>
                <a:ea typeface="Aptos" pitchFamily="34" charset="-122"/>
                <a:cs typeface="Aptos" pitchFamily="34" charset="-120"/>
              </a:rPr>
              <a:t>+ Upload before/after photos     + Add resolution notes</a:t>
            </a:r>
            <a:endParaRPr lang="en-US" sz="900" dirty="0"/>
          </a:p>
        </p:txBody>
      </p:sp>
      <p:sp>
        <p:nvSpPr>
          <p:cNvPr id="33" name="Shape 31"/>
          <p:cNvSpPr/>
          <p:nvPr/>
        </p:nvSpPr>
        <p:spPr>
          <a:xfrm>
            <a:off x="6537960" y="1847088"/>
            <a:ext cx="4983480" cy="4297680"/>
          </a:xfrm>
          <a:prstGeom prst="roundRect">
            <a:avLst>
              <a:gd name="adj" fmla="val 3191"/>
            </a:avLst>
          </a:prstGeom>
          <a:solidFill>
            <a:srgbClr val="111C2E"/>
          </a:solidFill>
          <a:ln w="12700">
            <a:solidFill>
              <a:srgbClr val="17263A"/>
            </a:solidFill>
            <a:prstDash val="solid"/>
          </a:ln>
        </p:spPr>
      </p:sp>
      <p:sp>
        <p:nvSpPr>
          <p:cNvPr id="34" name="Shape 32"/>
          <p:cNvSpPr/>
          <p:nvPr/>
        </p:nvSpPr>
        <p:spPr>
          <a:xfrm>
            <a:off x="6839712" y="2103120"/>
            <a:ext cx="1700784" cy="274320"/>
          </a:xfrm>
          <a:prstGeom prst="roundRect">
            <a:avLst>
              <a:gd name="adj" fmla="val 36667"/>
            </a:avLst>
          </a:prstGeom>
          <a:solidFill>
            <a:srgbClr val="17263A"/>
          </a:solidFill>
          <a:ln w="12700">
            <a:solidFill>
              <a:srgbClr val="17263A">
                <a:alpha val="0"/>
              </a:srgbClr>
            </a:solidFill>
            <a:prstDash val="solid"/>
          </a:ln>
        </p:spPr>
      </p:sp>
      <p:sp>
        <p:nvSpPr>
          <p:cNvPr id="35" name="Shape 33"/>
          <p:cNvSpPr/>
          <p:nvPr/>
        </p:nvSpPr>
        <p:spPr>
          <a:xfrm>
            <a:off x="6931152" y="2199132"/>
            <a:ext cx="82296" cy="82296"/>
          </a:xfrm>
          <a:prstGeom prst="ellipse">
            <a:avLst/>
          </a:prstGeom>
          <a:solidFill>
            <a:srgbClr val="D5FF74"/>
          </a:solidFill>
          <a:ln w="12700">
            <a:solidFill>
              <a:srgbClr val="D5FF74"/>
            </a:solidFill>
            <a:prstDash val="solid"/>
          </a:ln>
        </p:spPr>
      </p:sp>
      <p:sp>
        <p:nvSpPr>
          <p:cNvPr id="36" name="Text 34"/>
          <p:cNvSpPr txBox="1"/>
          <p:nvPr/>
        </p:nvSpPr>
        <p:spPr>
          <a:xfrm>
            <a:off x="7068312" y="2121408"/>
            <a:ext cx="1417320" cy="219456"/>
          </a:xfrm>
          <a:prstGeom prst="rect">
            <a:avLst/>
          </a:prstGeom>
          <a:noFill/>
          <a:ln/>
        </p:spPr>
        <p:txBody>
          <a:bodyPr wrap="square" lIns="0" tIns="0" rIns="0" bIns="0" rtlCol="0" anchor="ctr">
            <a:normAutofit/>
          </a:bodyPr>
          <a:lstStyle/>
          <a:p>
            <a:pPr algn="l" indent="0" marL="0">
              <a:buNone/>
            </a:pPr>
            <a:r>
              <a:rPr lang="en-US" sz="850" b="1" spc="50" kern="0" dirty="0">
                <a:solidFill>
                  <a:srgbClr val="D9E3EF"/>
                </a:solidFill>
                <a:latin typeface="Aptos" pitchFamily="34" charset="0"/>
                <a:ea typeface="Aptos" pitchFamily="34" charset="-122"/>
                <a:cs typeface="Aptos" pitchFamily="34" charset="-120"/>
              </a:rPr>
              <a:t>RESOLUTION RECORD</a:t>
            </a:r>
            <a:endParaRPr lang="en-US" sz="850" dirty="0"/>
          </a:p>
        </p:txBody>
      </p:sp>
      <p:sp>
        <p:nvSpPr>
          <p:cNvPr id="37" name="Shape 35"/>
          <p:cNvSpPr/>
          <p:nvPr/>
        </p:nvSpPr>
        <p:spPr>
          <a:xfrm>
            <a:off x="10533888" y="2084832"/>
            <a:ext cx="475488" cy="475488"/>
          </a:xfrm>
          <a:prstGeom prst="ellipse">
            <a:avLst/>
          </a:prstGeom>
          <a:solidFill>
            <a:srgbClr val="34D399"/>
          </a:solidFill>
          <a:ln w="12700">
            <a:solidFill>
              <a:srgbClr val="34D399"/>
            </a:solidFill>
            <a:prstDash val="solid"/>
          </a:ln>
        </p:spPr>
      </p:sp>
      <p:sp>
        <p:nvSpPr>
          <p:cNvPr id="38" name="Text 36"/>
          <p:cNvSpPr txBox="1"/>
          <p:nvPr/>
        </p:nvSpPr>
        <p:spPr>
          <a:xfrm>
            <a:off x="10533888" y="2167128"/>
            <a:ext cx="475488" cy="228600"/>
          </a:xfrm>
          <a:prstGeom prst="rect">
            <a:avLst/>
          </a:prstGeom>
          <a:noFill/>
          <a:ln/>
        </p:spPr>
        <p:txBody>
          <a:bodyPr wrap="square" lIns="0" tIns="0" rIns="0" bIns="0" rtlCol="0" anchor="ctr">
            <a:normAutofit/>
          </a:bodyPr>
          <a:lstStyle/>
          <a:p>
            <a:pPr algn="ctr" indent="0" marL="0">
              <a:buNone/>
            </a:pPr>
            <a:r>
              <a:rPr lang="en-US" sz="2100" b="1" dirty="0">
                <a:solidFill>
                  <a:srgbClr val="0B1220"/>
                </a:solidFill>
                <a:latin typeface="Aptos" pitchFamily="34" charset="0"/>
                <a:ea typeface="Aptos" pitchFamily="34" charset="-122"/>
                <a:cs typeface="Aptos" pitchFamily="34" charset="-120"/>
              </a:rPr>
              <a:t>✓</a:t>
            </a:r>
            <a:endParaRPr lang="en-US" sz="2100" dirty="0"/>
          </a:p>
        </p:txBody>
      </p:sp>
      <p:sp>
        <p:nvSpPr>
          <p:cNvPr id="39" name="Text 37"/>
          <p:cNvSpPr txBox="1"/>
          <p:nvPr/>
        </p:nvSpPr>
        <p:spPr>
          <a:xfrm>
            <a:off x="6839712" y="2642616"/>
            <a:ext cx="3931920" cy="274320"/>
          </a:xfrm>
          <a:prstGeom prst="rect">
            <a:avLst/>
          </a:prstGeom>
          <a:noFill/>
          <a:ln/>
        </p:spPr>
        <p:txBody>
          <a:bodyPr wrap="square" lIns="0" tIns="0" rIns="0" bIns="0" rtlCol="0" anchor="ctr">
            <a:normAutofit/>
          </a:bodyPr>
          <a:lstStyle/>
          <a:p>
            <a:pPr algn="l" indent="0" marL="0">
              <a:buNone/>
            </a:pPr>
            <a:r>
              <a:rPr lang="en-US" sz="1700" b="1" dirty="0">
                <a:solidFill>
                  <a:srgbClr val="FFFFFF"/>
                </a:solidFill>
                <a:latin typeface="Aptos" pitchFamily="34" charset="0"/>
                <a:ea typeface="Aptos" pitchFamily="34" charset="-122"/>
                <a:cs typeface="Aptos" pitchFamily="34" charset="-120"/>
              </a:rPr>
              <a:t>Government reported resolved</a:t>
            </a:r>
            <a:endParaRPr lang="en-US" sz="1700" dirty="0"/>
          </a:p>
        </p:txBody>
      </p:sp>
      <p:sp>
        <p:nvSpPr>
          <p:cNvPr id="40" name="Text 38"/>
          <p:cNvSpPr txBox="1"/>
          <p:nvPr/>
        </p:nvSpPr>
        <p:spPr>
          <a:xfrm>
            <a:off x="6839712" y="3017520"/>
            <a:ext cx="4069080" cy="329184"/>
          </a:xfrm>
          <a:prstGeom prst="rect">
            <a:avLst/>
          </a:prstGeom>
          <a:noFill/>
          <a:ln/>
        </p:spPr>
        <p:txBody>
          <a:bodyPr wrap="square" lIns="0" tIns="0" rIns="0" bIns="0" rtlCol="0" anchor="ctr">
            <a:normAutofit/>
          </a:bodyPr>
          <a:lstStyle/>
          <a:p>
            <a:pPr algn="l" indent="0" marL="0">
              <a:buNone/>
            </a:pPr>
            <a:r>
              <a:rPr lang="en-US" sz="1000" dirty="0">
                <a:solidFill>
                  <a:srgbClr val="B8C6D6"/>
                </a:solidFill>
                <a:latin typeface="Aptos" pitchFamily="34" charset="0"/>
                <a:ea typeface="Aptos" pitchFamily="34" charset="-122"/>
                <a:cs typeface="Aptos" pitchFamily="34" charset="-120"/>
              </a:rPr>
              <a:t>The authority record is linked to the stable issue ID.</a:t>
            </a:r>
            <a:endParaRPr lang="en-US" sz="1000" dirty="0"/>
          </a:p>
        </p:txBody>
      </p:sp>
      <p:sp>
        <p:nvSpPr>
          <p:cNvPr id="41" name="Shape 39"/>
          <p:cNvSpPr/>
          <p:nvPr/>
        </p:nvSpPr>
        <p:spPr>
          <a:xfrm>
            <a:off x="6839712" y="3520440"/>
            <a:ext cx="4334256" cy="0"/>
          </a:xfrm>
          <a:prstGeom prst="line">
            <a:avLst/>
          </a:prstGeom>
          <a:noFill/>
          <a:ln w="10160">
            <a:solidFill>
              <a:srgbClr val="33445A"/>
            </a:solidFill>
            <a:prstDash val="solid"/>
            <a:headEnd type="none"/>
            <a:tailEnd type="none"/>
          </a:ln>
        </p:spPr>
      </p:sp>
      <p:sp>
        <p:nvSpPr>
          <p:cNvPr id="42" name="Shape 40"/>
          <p:cNvSpPr/>
          <p:nvPr/>
        </p:nvSpPr>
        <p:spPr>
          <a:xfrm>
            <a:off x="6858000" y="3794760"/>
            <a:ext cx="256032" cy="256032"/>
          </a:xfrm>
          <a:prstGeom prst="ellipse">
            <a:avLst/>
          </a:prstGeom>
          <a:solidFill>
            <a:srgbClr val="17263A"/>
          </a:solidFill>
          <a:ln w="12700">
            <a:solidFill>
              <a:srgbClr val="17263A"/>
            </a:solidFill>
            <a:prstDash val="solid"/>
          </a:ln>
        </p:spPr>
      </p:sp>
      <p:sp>
        <p:nvSpPr>
          <p:cNvPr id="43" name="Text 41"/>
          <p:cNvSpPr txBox="1"/>
          <p:nvPr/>
        </p:nvSpPr>
        <p:spPr>
          <a:xfrm>
            <a:off x="6858000" y="3849624"/>
            <a:ext cx="256032" cy="109728"/>
          </a:xfrm>
          <a:prstGeom prst="rect">
            <a:avLst/>
          </a:prstGeom>
          <a:noFill/>
          <a:ln/>
        </p:spPr>
        <p:txBody>
          <a:bodyPr wrap="square" lIns="0" tIns="0" rIns="0" bIns="0" rtlCol="0" anchor="ctr">
            <a:normAutofit/>
          </a:bodyPr>
          <a:lstStyle/>
          <a:p>
            <a:pPr algn="ctr" indent="0" marL="0">
              <a:buNone/>
            </a:pPr>
            <a:r>
              <a:rPr lang="en-US" sz="700" b="1" dirty="0">
                <a:solidFill>
                  <a:srgbClr val="D5FF74"/>
                </a:solidFill>
                <a:latin typeface="Aptos" pitchFamily="34" charset="0"/>
                <a:ea typeface="Aptos" pitchFamily="34" charset="-122"/>
                <a:cs typeface="Aptos" pitchFamily="34" charset="-120"/>
              </a:rPr>
              <a:t>01</a:t>
            </a:r>
            <a:endParaRPr lang="en-US" sz="700" dirty="0"/>
          </a:p>
        </p:txBody>
      </p:sp>
      <p:sp>
        <p:nvSpPr>
          <p:cNvPr id="44" name="Text 42"/>
          <p:cNvSpPr txBox="1"/>
          <p:nvPr/>
        </p:nvSpPr>
        <p:spPr>
          <a:xfrm>
            <a:off x="7278624" y="3813048"/>
            <a:ext cx="3611880" cy="201168"/>
          </a:xfrm>
          <a:prstGeom prst="rect">
            <a:avLst/>
          </a:prstGeom>
          <a:noFill/>
          <a:ln/>
        </p:spPr>
        <p:txBody>
          <a:bodyPr wrap="square" lIns="0" tIns="0" rIns="0" bIns="0" rtlCol="0" anchor="ctr">
            <a:normAutofit/>
          </a:bodyPr>
          <a:lstStyle/>
          <a:p>
            <a:pPr algn="l" indent="0" marL="0">
              <a:buNone/>
            </a:pPr>
            <a:r>
              <a:rPr lang="en-US" sz="950" dirty="0">
                <a:solidFill>
                  <a:srgbClr val="DCE5EF"/>
                </a:solidFill>
                <a:latin typeface="Aptos" pitchFamily="34" charset="0"/>
                <a:ea typeface="Aptos" pitchFamily="34" charset="-122"/>
                <a:cs typeface="Aptos" pitchFamily="34" charset="-120"/>
              </a:rPr>
              <a:t>Original citizen evidence retained</a:t>
            </a:r>
            <a:endParaRPr lang="en-US" sz="950" dirty="0"/>
          </a:p>
        </p:txBody>
      </p:sp>
      <p:sp>
        <p:nvSpPr>
          <p:cNvPr id="45" name="Shape 43"/>
          <p:cNvSpPr/>
          <p:nvPr/>
        </p:nvSpPr>
        <p:spPr>
          <a:xfrm>
            <a:off x="6858000" y="4233672"/>
            <a:ext cx="256032" cy="256032"/>
          </a:xfrm>
          <a:prstGeom prst="ellipse">
            <a:avLst/>
          </a:prstGeom>
          <a:solidFill>
            <a:srgbClr val="17263A"/>
          </a:solidFill>
          <a:ln w="12700">
            <a:solidFill>
              <a:srgbClr val="17263A"/>
            </a:solidFill>
            <a:prstDash val="solid"/>
          </a:ln>
        </p:spPr>
      </p:sp>
      <p:sp>
        <p:nvSpPr>
          <p:cNvPr id="46" name="Text 44"/>
          <p:cNvSpPr txBox="1"/>
          <p:nvPr/>
        </p:nvSpPr>
        <p:spPr>
          <a:xfrm>
            <a:off x="6858000" y="4288536"/>
            <a:ext cx="256032" cy="109728"/>
          </a:xfrm>
          <a:prstGeom prst="rect">
            <a:avLst/>
          </a:prstGeom>
          <a:noFill/>
          <a:ln/>
        </p:spPr>
        <p:txBody>
          <a:bodyPr wrap="square" lIns="0" tIns="0" rIns="0" bIns="0" rtlCol="0" anchor="ctr">
            <a:normAutofit/>
          </a:bodyPr>
          <a:lstStyle/>
          <a:p>
            <a:pPr algn="ctr" indent="0" marL="0">
              <a:buNone/>
            </a:pPr>
            <a:r>
              <a:rPr lang="en-US" sz="700" b="1" dirty="0">
                <a:solidFill>
                  <a:srgbClr val="D5FF74"/>
                </a:solidFill>
                <a:latin typeface="Aptos" pitchFamily="34" charset="0"/>
                <a:ea typeface="Aptos" pitchFamily="34" charset="-122"/>
                <a:cs typeface="Aptos" pitchFamily="34" charset="-120"/>
              </a:rPr>
              <a:t>02</a:t>
            </a:r>
            <a:endParaRPr lang="en-US" sz="700" dirty="0"/>
          </a:p>
        </p:txBody>
      </p:sp>
      <p:sp>
        <p:nvSpPr>
          <p:cNvPr id="47" name="Text 45"/>
          <p:cNvSpPr txBox="1"/>
          <p:nvPr/>
        </p:nvSpPr>
        <p:spPr>
          <a:xfrm>
            <a:off x="7278624" y="4251960"/>
            <a:ext cx="3611880" cy="201168"/>
          </a:xfrm>
          <a:prstGeom prst="rect">
            <a:avLst/>
          </a:prstGeom>
          <a:noFill/>
          <a:ln/>
        </p:spPr>
        <p:txBody>
          <a:bodyPr wrap="square" lIns="0" tIns="0" rIns="0" bIns="0" rtlCol="0" anchor="ctr">
            <a:normAutofit/>
          </a:bodyPr>
          <a:lstStyle/>
          <a:p>
            <a:pPr algn="l" indent="0" marL="0">
              <a:buNone/>
            </a:pPr>
            <a:r>
              <a:rPr lang="en-US" sz="950" dirty="0">
                <a:solidFill>
                  <a:srgbClr val="DCE5EF"/>
                </a:solidFill>
                <a:latin typeface="Aptos" pitchFamily="34" charset="0"/>
                <a:ea typeface="Aptos" pitchFamily="34" charset="-122"/>
                <a:cs typeface="Aptos" pitchFamily="34" charset="-120"/>
              </a:rPr>
              <a:t>Authority + date + notes captured</a:t>
            </a:r>
            <a:endParaRPr lang="en-US" sz="950" dirty="0"/>
          </a:p>
        </p:txBody>
      </p:sp>
      <p:sp>
        <p:nvSpPr>
          <p:cNvPr id="48" name="Shape 46"/>
          <p:cNvSpPr/>
          <p:nvPr/>
        </p:nvSpPr>
        <p:spPr>
          <a:xfrm>
            <a:off x="6858000" y="4672584"/>
            <a:ext cx="256032" cy="256032"/>
          </a:xfrm>
          <a:prstGeom prst="ellipse">
            <a:avLst/>
          </a:prstGeom>
          <a:solidFill>
            <a:srgbClr val="17263A"/>
          </a:solidFill>
          <a:ln w="12700">
            <a:solidFill>
              <a:srgbClr val="17263A"/>
            </a:solidFill>
            <a:prstDash val="solid"/>
          </a:ln>
        </p:spPr>
      </p:sp>
      <p:sp>
        <p:nvSpPr>
          <p:cNvPr id="49" name="Text 47"/>
          <p:cNvSpPr txBox="1"/>
          <p:nvPr/>
        </p:nvSpPr>
        <p:spPr>
          <a:xfrm>
            <a:off x="6858000" y="4727448"/>
            <a:ext cx="256032" cy="109728"/>
          </a:xfrm>
          <a:prstGeom prst="rect">
            <a:avLst/>
          </a:prstGeom>
          <a:noFill/>
          <a:ln/>
        </p:spPr>
        <p:txBody>
          <a:bodyPr wrap="square" lIns="0" tIns="0" rIns="0" bIns="0" rtlCol="0" anchor="ctr">
            <a:normAutofit/>
          </a:bodyPr>
          <a:lstStyle/>
          <a:p>
            <a:pPr algn="ctr" indent="0" marL="0">
              <a:buNone/>
            </a:pPr>
            <a:r>
              <a:rPr lang="en-US" sz="700" b="1" dirty="0">
                <a:solidFill>
                  <a:srgbClr val="D5FF74"/>
                </a:solidFill>
                <a:latin typeface="Aptos" pitchFamily="34" charset="0"/>
                <a:ea typeface="Aptos" pitchFamily="34" charset="-122"/>
                <a:cs typeface="Aptos" pitchFamily="34" charset="-120"/>
              </a:rPr>
              <a:t>03</a:t>
            </a:r>
            <a:endParaRPr lang="en-US" sz="700" dirty="0"/>
          </a:p>
        </p:txBody>
      </p:sp>
      <p:sp>
        <p:nvSpPr>
          <p:cNvPr id="50" name="Text 48"/>
          <p:cNvSpPr txBox="1"/>
          <p:nvPr/>
        </p:nvSpPr>
        <p:spPr>
          <a:xfrm>
            <a:off x="7278624" y="4690872"/>
            <a:ext cx="3611880" cy="201168"/>
          </a:xfrm>
          <a:prstGeom prst="rect">
            <a:avLst/>
          </a:prstGeom>
          <a:noFill/>
          <a:ln/>
        </p:spPr>
        <p:txBody>
          <a:bodyPr wrap="square" lIns="0" tIns="0" rIns="0" bIns="0" rtlCol="0" anchor="ctr">
            <a:normAutofit/>
          </a:bodyPr>
          <a:lstStyle/>
          <a:p>
            <a:pPr algn="l" indent="0" marL="0">
              <a:buNone/>
            </a:pPr>
            <a:r>
              <a:rPr lang="en-US" sz="950" dirty="0">
                <a:solidFill>
                  <a:srgbClr val="DCE5EF"/>
                </a:solidFill>
                <a:latin typeface="Aptos" pitchFamily="34" charset="0"/>
                <a:ea typeface="Aptos" pitchFamily="34" charset="-122"/>
                <a:cs typeface="Aptos" pitchFamily="34" charset="-120"/>
              </a:rPr>
              <a:t>Multiple resolution photos supported</a:t>
            </a:r>
            <a:endParaRPr lang="en-US" sz="950" dirty="0"/>
          </a:p>
        </p:txBody>
      </p:sp>
      <p:sp>
        <p:nvSpPr>
          <p:cNvPr id="51" name="Shape 49"/>
          <p:cNvSpPr/>
          <p:nvPr/>
        </p:nvSpPr>
        <p:spPr>
          <a:xfrm>
            <a:off x="6858000" y="5111496"/>
            <a:ext cx="256032" cy="256032"/>
          </a:xfrm>
          <a:prstGeom prst="ellipse">
            <a:avLst/>
          </a:prstGeom>
          <a:solidFill>
            <a:srgbClr val="17263A"/>
          </a:solidFill>
          <a:ln w="12700">
            <a:solidFill>
              <a:srgbClr val="17263A"/>
            </a:solidFill>
            <a:prstDash val="solid"/>
          </a:ln>
        </p:spPr>
      </p:sp>
      <p:sp>
        <p:nvSpPr>
          <p:cNvPr id="52" name="Text 50"/>
          <p:cNvSpPr txBox="1"/>
          <p:nvPr/>
        </p:nvSpPr>
        <p:spPr>
          <a:xfrm>
            <a:off x="6858000" y="5166360"/>
            <a:ext cx="256032" cy="109728"/>
          </a:xfrm>
          <a:prstGeom prst="rect">
            <a:avLst/>
          </a:prstGeom>
          <a:noFill/>
          <a:ln/>
        </p:spPr>
        <p:txBody>
          <a:bodyPr wrap="square" lIns="0" tIns="0" rIns="0" bIns="0" rtlCol="0" anchor="ctr">
            <a:normAutofit/>
          </a:bodyPr>
          <a:lstStyle/>
          <a:p>
            <a:pPr algn="ctr" indent="0" marL="0">
              <a:buNone/>
            </a:pPr>
            <a:r>
              <a:rPr lang="en-US" sz="700" b="1" dirty="0">
                <a:solidFill>
                  <a:srgbClr val="D5FF74"/>
                </a:solidFill>
                <a:latin typeface="Aptos" pitchFamily="34" charset="0"/>
                <a:ea typeface="Aptos" pitchFamily="34" charset="-122"/>
                <a:cs typeface="Aptos" pitchFamily="34" charset="-120"/>
              </a:rPr>
              <a:t>04</a:t>
            </a:r>
            <a:endParaRPr lang="en-US" sz="700" dirty="0"/>
          </a:p>
        </p:txBody>
      </p:sp>
      <p:sp>
        <p:nvSpPr>
          <p:cNvPr id="53" name="Text 51"/>
          <p:cNvSpPr txBox="1"/>
          <p:nvPr/>
        </p:nvSpPr>
        <p:spPr>
          <a:xfrm>
            <a:off x="7278624" y="5129784"/>
            <a:ext cx="3611880" cy="201168"/>
          </a:xfrm>
          <a:prstGeom prst="rect">
            <a:avLst/>
          </a:prstGeom>
          <a:noFill/>
          <a:ln/>
        </p:spPr>
        <p:txBody>
          <a:bodyPr wrap="square" lIns="0" tIns="0" rIns="0" bIns="0" rtlCol="0" anchor="ctr">
            <a:normAutofit/>
          </a:bodyPr>
          <a:lstStyle/>
          <a:p>
            <a:pPr algn="l" indent="0" marL="0">
              <a:buNone/>
            </a:pPr>
            <a:r>
              <a:rPr lang="en-US" sz="950" dirty="0">
                <a:solidFill>
                  <a:srgbClr val="DCE5EF"/>
                </a:solidFill>
                <a:latin typeface="Aptos" pitchFamily="34" charset="0"/>
                <a:ea typeface="Aptos" pitchFamily="34" charset="-122"/>
                <a:cs typeface="Aptos" pitchFamily="34" charset="-120"/>
              </a:rPr>
              <a:t>Timeline updated for citizens</a:t>
            </a:r>
            <a:endParaRPr lang="en-US" sz="950" dirty="0"/>
          </a:p>
        </p:txBody>
      </p:sp>
      <p:sp>
        <p:nvSpPr>
          <p:cNvPr id="54" name="Shape 52"/>
          <p:cNvSpPr/>
          <p:nvPr/>
        </p:nvSpPr>
        <p:spPr>
          <a:xfrm>
            <a:off x="6839712" y="5596128"/>
            <a:ext cx="4315968" cy="329184"/>
          </a:xfrm>
          <a:prstGeom prst="roundRect">
            <a:avLst>
              <a:gd name="adj" fmla="val 22222"/>
            </a:avLst>
          </a:prstGeom>
          <a:solidFill>
            <a:srgbClr val="283A50"/>
          </a:solidFill>
          <a:ln w="12700">
            <a:solidFill>
              <a:srgbClr val="283A50">
                <a:alpha val="0"/>
              </a:srgbClr>
            </a:solidFill>
            <a:prstDash val="solid"/>
          </a:ln>
        </p:spPr>
      </p:sp>
      <p:sp>
        <p:nvSpPr>
          <p:cNvPr id="55" name="Text 53"/>
          <p:cNvSpPr txBox="1"/>
          <p:nvPr/>
        </p:nvSpPr>
        <p:spPr>
          <a:xfrm>
            <a:off x="6931152" y="5669280"/>
            <a:ext cx="4114800" cy="146304"/>
          </a:xfrm>
          <a:prstGeom prst="rect">
            <a:avLst/>
          </a:prstGeom>
          <a:noFill/>
          <a:ln/>
        </p:spPr>
        <p:txBody>
          <a:bodyPr wrap="square" lIns="0" tIns="0" rIns="0" bIns="0" rtlCol="0" anchor="ctr">
            <a:normAutofit/>
          </a:bodyPr>
          <a:lstStyle/>
          <a:p>
            <a:pPr algn="ctr" indent="0" marL="0">
              <a:buNone/>
            </a:pPr>
            <a:r>
              <a:rPr lang="en-US" sz="770" dirty="0">
                <a:solidFill>
                  <a:srgbClr val="9EADBF"/>
                </a:solidFill>
                <a:latin typeface="Aptos" pitchFamily="34" charset="0"/>
                <a:ea typeface="Aptos" pitchFamily="34" charset="-122"/>
                <a:cs typeface="Aptos" pitchFamily="34" charset="-120"/>
              </a:rPr>
              <a:t>Prototype authority portal · not a live government integration</a:t>
            </a:r>
            <a:endParaRPr lang="en-US" sz="770" dirty="0"/>
          </a:p>
        </p:txBody>
      </p:sp>
      <p:sp>
        <p:nvSpPr>
          <p:cNvPr id="56" name="Shape 54"/>
          <p:cNvSpPr/>
          <p:nvPr/>
        </p:nvSpPr>
        <p:spPr>
          <a:xfrm>
            <a:off x="566928" y="6510528"/>
            <a:ext cx="11064240" cy="0"/>
          </a:xfrm>
          <a:prstGeom prst="line">
            <a:avLst/>
          </a:prstGeom>
          <a:noFill/>
          <a:ln w="8890">
            <a:solidFill>
              <a:srgbClr val="DCE3EA"/>
            </a:solidFill>
            <a:prstDash val="solid"/>
            <a:headEnd type="none"/>
            <a:tailEnd type="none"/>
          </a:ln>
        </p:spPr>
      </p:sp>
      <p:sp>
        <p:nvSpPr>
          <p:cNvPr id="57" name="Text 55"/>
          <p:cNvSpPr txBox="1"/>
          <p:nvPr/>
        </p:nvSpPr>
        <p:spPr>
          <a:xfrm>
            <a:off x="585216" y="6556248"/>
            <a:ext cx="5120640" cy="137160"/>
          </a:xfrm>
          <a:prstGeom prst="rect">
            <a:avLst/>
          </a:prstGeom>
          <a:noFill/>
          <a:ln/>
        </p:spPr>
        <p:txBody>
          <a:bodyPr wrap="square" lIns="0" tIns="0" rIns="0" bIns="0" rtlCol="0" anchor="ctr">
            <a:normAutofit/>
          </a:bodyPr>
          <a:lstStyle/>
          <a:p>
            <a:pPr algn="l" indent="0" marL="0">
              <a:buNone/>
            </a:pPr>
            <a:r>
              <a:rPr lang="en-US" sz="700" b="1" spc="50" kern="0" dirty="0">
                <a:solidFill>
                  <a:srgbClr val="7C8A9A"/>
                </a:solidFill>
                <a:latin typeface="Aptos" pitchFamily="34" charset="0"/>
                <a:ea typeface="Aptos" pitchFamily="34" charset="-122"/>
                <a:cs typeface="Aptos" pitchFamily="34" charset="-120"/>
              </a:rPr>
              <a:t>CIVICFIX AI  •  CONCEPT / PROTOTYPE PITCH</a:t>
            </a:r>
            <a:endParaRPr lang="en-US" sz="700" dirty="0"/>
          </a:p>
        </p:txBody>
      </p:sp>
      <p:sp>
        <p:nvSpPr>
          <p:cNvPr id="58" name="Text 56"/>
          <p:cNvSpPr txBox="1"/>
          <p:nvPr/>
        </p:nvSpPr>
        <p:spPr>
          <a:xfrm>
            <a:off x="11064240" y="6547104"/>
            <a:ext cx="502920" cy="146304"/>
          </a:xfrm>
          <a:prstGeom prst="rect">
            <a:avLst/>
          </a:prstGeom>
          <a:noFill/>
          <a:ln/>
        </p:spPr>
        <p:txBody>
          <a:bodyPr wrap="square" lIns="0" tIns="0" rIns="0" bIns="0" rtlCol="0" anchor="ctr">
            <a:normAutofit/>
          </a:bodyPr>
          <a:lstStyle/>
          <a:p>
            <a:pPr algn="r" indent="0" marL="0">
              <a:buNone/>
            </a:pPr>
            <a:r>
              <a:rPr lang="en-US" sz="800" b="1" dirty="0">
                <a:solidFill>
                  <a:srgbClr val="7C8A9A"/>
                </a:solidFill>
                <a:latin typeface="Aptos" pitchFamily="34" charset="0"/>
                <a:ea typeface="Aptos" pitchFamily="34" charset="-122"/>
                <a:cs typeface="Aptos" pitchFamily="34" charset="-120"/>
              </a:rPr>
              <a:t>08</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220"/>
          </a:solidFill>
          <a:ln w="12700">
            <a:solidFill>
              <a:srgbClr val="0B1220">
                <a:alpha val="0"/>
              </a:srgbClr>
            </a:solidFill>
            <a:prstDash val="solid"/>
          </a:ln>
        </p:spPr>
      </p:sp>
      <p:sp>
        <p:nvSpPr>
          <p:cNvPr id="3" name="Shape 1"/>
          <p:cNvSpPr/>
          <p:nvPr/>
        </p:nvSpPr>
        <p:spPr>
          <a:xfrm>
            <a:off x="566928" y="384048"/>
            <a:ext cx="1417320" cy="274320"/>
          </a:xfrm>
          <a:prstGeom prst="roundRect">
            <a:avLst>
              <a:gd name="adj" fmla="val 36667"/>
            </a:avLst>
          </a:prstGeom>
          <a:solidFill>
            <a:srgbClr val="17263A"/>
          </a:solidFill>
          <a:ln w="12700">
            <a:solidFill>
              <a:srgbClr val="17263A">
                <a:alpha val="0"/>
              </a:srgbClr>
            </a:solidFill>
            <a:prstDash val="solid"/>
          </a:ln>
        </p:spPr>
      </p:sp>
      <p:sp>
        <p:nvSpPr>
          <p:cNvPr id="4" name="Shape 2"/>
          <p:cNvSpPr/>
          <p:nvPr/>
        </p:nvSpPr>
        <p:spPr>
          <a:xfrm>
            <a:off x="658368" y="480060"/>
            <a:ext cx="82296" cy="82296"/>
          </a:xfrm>
          <a:prstGeom prst="ellipse">
            <a:avLst/>
          </a:prstGeom>
          <a:solidFill>
            <a:srgbClr val="2DD4BF"/>
          </a:solidFill>
          <a:ln w="12700">
            <a:solidFill>
              <a:srgbClr val="2DD4BF"/>
            </a:solidFill>
            <a:prstDash val="solid"/>
          </a:ln>
        </p:spPr>
      </p:sp>
      <p:sp>
        <p:nvSpPr>
          <p:cNvPr id="5" name="Text 3"/>
          <p:cNvSpPr txBox="1"/>
          <p:nvPr/>
        </p:nvSpPr>
        <p:spPr>
          <a:xfrm>
            <a:off x="795528" y="402336"/>
            <a:ext cx="1133856" cy="219456"/>
          </a:xfrm>
          <a:prstGeom prst="rect">
            <a:avLst/>
          </a:prstGeom>
          <a:noFill/>
          <a:ln/>
        </p:spPr>
        <p:txBody>
          <a:bodyPr wrap="square" lIns="0" tIns="0" rIns="0" bIns="0" rtlCol="0" anchor="ctr">
            <a:normAutofit/>
          </a:bodyPr>
          <a:lstStyle/>
          <a:p>
            <a:pPr algn="l" indent="0" marL="0">
              <a:buNone/>
            </a:pPr>
            <a:r>
              <a:rPr lang="en-US" sz="850" b="1" spc="50" kern="0" dirty="0">
                <a:solidFill>
                  <a:srgbClr val="D9E3EF"/>
                </a:solidFill>
                <a:latin typeface="Aptos" pitchFamily="34" charset="0"/>
                <a:ea typeface="Aptos" pitchFamily="34" charset="-122"/>
                <a:cs typeface="Aptos" pitchFamily="34" charset="-120"/>
              </a:rPr>
              <a:t>CIVICFIX AI  /  08</a:t>
            </a:r>
            <a:endParaRPr lang="en-US" sz="850" dirty="0"/>
          </a:p>
        </p:txBody>
      </p:sp>
      <p:sp>
        <p:nvSpPr>
          <p:cNvPr id="6" name="Text 4"/>
          <p:cNvSpPr txBox="1"/>
          <p:nvPr/>
        </p:nvSpPr>
        <p:spPr>
          <a:xfrm>
            <a:off x="566928" y="804672"/>
            <a:ext cx="10972800" cy="475488"/>
          </a:xfrm>
          <a:prstGeom prst="rect">
            <a:avLst/>
          </a:prstGeom>
          <a:noFill/>
          <a:ln/>
        </p:spPr>
        <p:txBody>
          <a:bodyPr wrap="square" lIns="0" tIns="0" rIns="0" bIns="0" rtlCol="0" anchor="ctr">
            <a:normAutofit/>
          </a:bodyPr>
          <a:lstStyle/>
          <a:p>
            <a:pPr algn="l" indent="0" marL="0">
              <a:buNone/>
            </a:pPr>
            <a:r>
              <a:rPr lang="en-US" sz="2700" b="1" dirty="0">
                <a:solidFill>
                  <a:srgbClr val="FFFFFF"/>
                </a:solidFill>
                <a:latin typeface="Aptos Display" pitchFamily="34" charset="0"/>
                <a:ea typeface="Aptos Display" pitchFamily="34" charset="-122"/>
                <a:cs typeface="Aptos Display" pitchFamily="34" charset="-120"/>
              </a:rPr>
              <a:t>“Resolved” should come with evidence.</a:t>
            </a:r>
            <a:endParaRPr lang="en-US" sz="2700" dirty="0"/>
          </a:p>
        </p:txBody>
      </p:sp>
      <p:sp>
        <p:nvSpPr>
          <p:cNvPr id="7" name="Text 5"/>
          <p:cNvSpPr txBox="1"/>
          <p:nvPr/>
        </p:nvSpPr>
        <p:spPr>
          <a:xfrm>
            <a:off x="585216" y="1335024"/>
            <a:ext cx="10881360" cy="347472"/>
          </a:xfrm>
          <a:prstGeom prst="rect">
            <a:avLst/>
          </a:prstGeom>
          <a:noFill/>
          <a:ln/>
        </p:spPr>
        <p:txBody>
          <a:bodyPr wrap="square" lIns="0" tIns="0" rIns="0" bIns="0" rtlCol="0" anchor="ctr">
            <a:normAutofit/>
          </a:bodyPr>
          <a:lstStyle/>
          <a:p>
            <a:pPr algn="l" indent="0" marL="0">
              <a:buNone/>
            </a:pPr>
            <a:r>
              <a:rPr lang="en-US" sz="1200" dirty="0">
                <a:solidFill>
                  <a:srgbClr val="B8C4D4"/>
                </a:solidFill>
                <a:latin typeface="Aptos" pitchFamily="34" charset="0"/>
                <a:ea typeface="Aptos" pitchFamily="34" charset="-122"/>
                <a:cs typeface="Aptos" pitchFamily="34" charset="-120"/>
              </a:rPr>
              <a:t>Keep the authority’s status separate from the AI’s assessment of the submitted photos.</a:t>
            </a:r>
            <a:endParaRPr lang="en-US" sz="1200" dirty="0"/>
          </a:p>
        </p:txBody>
      </p:sp>
      <p:sp>
        <p:nvSpPr>
          <p:cNvPr id="8" name="Shape 6"/>
          <p:cNvSpPr/>
          <p:nvPr/>
        </p:nvSpPr>
        <p:spPr>
          <a:xfrm>
            <a:off x="658368" y="1856232"/>
            <a:ext cx="3172968" cy="3383280"/>
          </a:xfrm>
          <a:prstGeom prst="roundRect">
            <a:avLst>
              <a:gd name="adj" fmla="val 4323"/>
            </a:avLst>
          </a:prstGeom>
          <a:solidFill>
            <a:srgbClr val="111C2E"/>
          </a:solidFill>
          <a:ln w="12700">
            <a:solidFill>
              <a:srgbClr val="17263A"/>
            </a:solidFill>
            <a:prstDash val="solid"/>
          </a:ln>
        </p:spPr>
      </p:sp>
      <p:sp>
        <p:nvSpPr>
          <p:cNvPr id="9" name="Shape 7"/>
          <p:cNvSpPr/>
          <p:nvPr/>
        </p:nvSpPr>
        <p:spPr>
          <a:xfrm>
            <a:off x="914400" y="2084832"/>
            <a:ext cx="1645920" cy="274320"/>
          </a:xfrm>
          <a:prstGeom prst="roundRect">
            <a:avLst>
              <a:gd name="adj" fmla="val 40000"/>
            </a:avLst>
          </a:prstGeom>
          <a:solidFill>
            <a:srgbClr val="FFE4E9"/>
          </a:solidFill>
          <a:ln w="12700">
            <a:solidFill>
              <a:srgbClr val="FFE4E9">
                <a:alpha val="0"/>
              </a:srgbClr>
            </a:solidFill>
            <a:prstDash val="solid"/>
          </a:ln>
        </p:spPr>
      </p:sp>
      <p:sp>
        <p:nvSpPr>
          <p:cNvPr id="10" name="Text 8"/>
          <p:cNvSpPr txBox="1"/>
          <p:nvPr/>
        </p:nvSpPr>
        <p:spPr>
          <a:xfrm>
            <a:off x="987552" y="2103120"/>
            <a:ext cx="1499616" cy="228600"/>
          </a:xfrm>
          <a:prstGeom prst="rect">
            <a:avLst/>
          </a:prstGeom>
          <a:noFill/>
          <a:ln/>
        </p:spPr>
        <p:txBody>
          <a:bodyPr wrap="square" lIns="0" tIns="0" rIns="0" bIns="0" rtlCol="0" anchor="ctr">
            <a:normAutofit/>
          </a:bodyPr>
          <a:lstStyle/>
          <a:p>
            <a:pPr algn="ctr" indent="0" marL="0">
              <a:buNone/>
            </a:pPr>
            <a:r>
              <a:rPr lang="en-US" sz="850" b="1" dirty="0">
                <a:solidFill>
                  <a:srgbClr val="9F1239"/>
                </a:solidFill>
                <a:latin typeface="Aptos" pitchFamily="34" charset="0"/>
                <a:ea typeface="Aptos" pitchFamily="34" charset="-122"/>
                <a:cs typeface="Aptos" pitchFamily="34" charset="-120"/>
              </a:rPr>
              <a:t>BEFORE · CITIZEN PHOTO</a:t>
            </a:r>
            <a:endParaRPr lang="en-US" sz="850" dirty="0"/>
          </a:p>
        </p:txBody>
      </p:sp>
      <p:sp>
        <p:nvSpPr>
          <p:cNvPr id="11" name="Shape 9"/>
          <p:cNvSpPr/>
          <p:nvPr/>
        </p:nvSpPr>
        <p:spPr>
          <a:xfrm>
            <a:off x="896112" y="2523744"/>
            <a:ext cx="2688336" cy="2084832"/>
          </a:xfrm>
          <a:prstGeom prst="roundRect">
            <a:avLst>
              <a:gd name="adj" fmla="val 5263"/>
            </a:avLst>
          </a:prstGeom>
          <a:solidFill>
            <a:srgbClr val="DCECF0"/>
          </a:solidFill>
          <a:ln w="12700">
            <a:solidFill>
              <a:srgbClr val="C5D8DE"/>
            </a:solidFill>
            <a:prstDash val="solid"/>
          </a:ln>
        </p:spPr>
      </p:sp>
      <p:sp>
        <p:nvSpPr>
          <p:cNvPr id="12" name="Shape 10"/>
          <p:cNvSpPr/>
          <p:nvPr/>
        </p:nvSpPr>
        <p:spPr>
          <a:xfrm>
            <a:off x="905256" y="2532888"/>
            <a:ext cx="2670048" cy="896478"/>
          </a:xfrm>
          <a:prstGeom prst="roundRect">
            <a:avLst>
              <a:gd name="adj" fmla="val 10200"/>
            </a:avLst>
          </a:prstGeom>
          <a:solidFill>
            <a:srgbClr val="DCEEF3"/>
          </a:solidFill>
          <a:ln w="12700">
            <a:solidFill>
              <a:srgbClr val="DCEEF3">
                <a:alpha val="0"/>
              </a:srgbClr>
            </a:solidFill>
            <a:prstDash val="solid"/>
          </a:ln>
        </p:spPr>
      </p:sp>
      <p:sp>
        <p:nvSpPr>
          <p:cNvPr id="13" name="Shape 11"/>
          <p:cNvSpPr/>
          <p:nvPr/>
        </p:nvSpPr>
        <p:spPr>
          <a:xfrm>
            <a:off x="1030529" y="2836469"/>
            <a:ext cx="430134" cy="687995"/>
          </a:xfrm>
          <a:prstGeom prst="roundRect">
            <a:avLst>
              <a:gd name="adj" fmla="val 2126"/>
            </a:avLst>
          </a:prstGeom>
          <a:solidFill>
            <a:srgbClr val="8B9AA8"/>
          </a:solidFill>
          <a:ln w="12700">
            <a:solidFill>
              <a:srgbClr val="8B9AA8">
                <a:alpha val="0"/>
              </a:srgbClr>
            </a:solidFill>
            <a:prstDash val="solid"/>
          </a:ln>
        </p:spPr>
      </p:sp>
      <p:sp>
        <p:nvSpPr>
          <p:cNvPr id="14" name="Shape 12"/>
          <p:cNvSpPr/>
          <p:nvPr/>
        </p:nvSpPr>
        <p:spPr>
          <a:xfrm>
            <a:off x="1111179" y="2940710"/>
            <a:ext cx="67208" cy="72969"/>
          </a:xfrm>
          <a:prstGeom prst="roundRect">
            <a:avLst>
              <a:gd name="adj" fmla="val 13606"/>
            </a:avLst>
          </a:prstGeom>
          <a:solidFill>
            <a:srgbClr val="D8E1E8"/>
          </a:solidFill>
          <a:ln w="12700">
            <a:solidFill>
              <a:srgbClr val="D8E1E8">
                <a:alpha val="0"/>
              </a:srgbClr>
            </a:solidFill>
            <a:prstDash val="solid"/>
          </a:ln>
        </p:spPr>
      </p:sp>
      <p:sp>
        <p:nvSpPr>
          <p:cNvPr id="15" name="Shape 13"/>
          <p:cNvSpPr/>
          <p:nvPr/>
        </p:nvSpPr>
        <p:spPr>
          <a:xfrm>
            <a:off x="1272479" y="2940710"/>
            <a:ext cx="67208" cy="72969"/>
          </a:xfrm>
          <a:prstGeom prst="roundRect">
            <a:avLst>
              <a:gd name="adj" fmla="val 13606"/>
            </a:avLst>
          </a:prstGeom>
          <a:solidFill>
            <a:srgbClr val="D8E1E8"/>
          </a:solidFill>
          <a:ln w="12700">
            <a:solidFill>
              <a:srgbClr val="D8E1E8">
                <a:alpha val="0"/>
              </a:srgbClr>
            </a:solidFill>
            <a:prstDash val="solid"/>
          </a:ln>
        </p:spPr>
      </p:sp>
      <p:sp>
        <p:nvSpPr>
          <p:cNvPr id="16" name="Shape 14"/>
          <p:cNvSpPr/>
          <p:nvPr/>
        </p:nvSpPr>
        <p:spPr>
          <a:xfrm>
            <a:off x="1111179" y="3149194"/>
            <a:ext cx="67208" cy="72969"/>
          </a:xfrm>
          <a:prstGeom prst="roundRect">
            <a:avLst>
              <a:gd name="adj" fmla="val 13606"/>
            </a:avLst>
          </a:prstGeom>
          <a:solidFill>
            <a:srgbClr val="D8E1E8"/>
          </a:solidFill>
          <a:ln w="12700">
            <a:solidFill>
              <a:srgbClr val="D8E1E8">
                <a:alpha val="0"/>
              </a:srgbClr>
            </a:solidFill>
            <a:prstDash val="solid"/>
          </a:ln>
        </p:spPr>
      </p:sp>
      <p:sp>
        <p:nvSpPr>
          <p:cNvPr id="17" name="Shape 15"/>
          <p:cNvSpPr/>
          <p:nvPr/>
        </p:nvSpPr>
        <p:spPr>
          <a:xfrm>
            <a:off x="1272479" y="3149194"/>
            <a:ext cx="67208" cy="72969"/>
          </a:xfrm>
          <a:prstGeom prst="roundRect">
            <a:avLst>
              <a:gd name="adj" fmla="val 13606"/>
            </a:avLst>
          </a:prstGeom>
          <a:solidFill>
            <a:srgbClr val="D8E1E8"/>
          </a:solidFill>
          <a:ln w="12700">
            <a:solidFill>
              <a:srgbClr val="D8E1E8">
                <a:alpha val="0"/>
              </a:srgbClr>
            </a:solidFill>
            <a:prstDash val="solid"/>
          </a:ln>
        </p:spPr>
      </p:sp>
      <p:sp>
        <p:nvSpPr>
          <p:cNvPr id="18" name="Shape 16"/>
          <p:cNvSpPr/>
          <p:nvPr/>
        </p:nvSpPr>
        <p:spPr>
          <a:xfrm>
            <a:off x="1487546" y="2690531"/>
            <a:ext cx="457017" cy="833933"/>
          </a:xfrm>
          <a:prstGeom prst="roundRect">
            <a:avLst>
              <a:gd name="adj" fmla="val 2001"/>
            </a:avLst>
          </a:prstGeom>
          <a:solidFill>
            <a:srgbClr val="AFB9C5"/>
          </a:solidFill>
          <a:ln w="12700">
            <a:solidFill>
              <a:srgbClr val="AFB9C5">
                <a:alpha val="0"/>
              </a:srgbClr>
            </a:solidFill>
            <a:prstDash val="solid"/>
          </a:ln>
        </p:spPr>
      </p:sp>
      <p:sp>
        <p:nvSpPr>
          <p:cNvPr id="19" name="Shape 17"/>
          <p:cNvSpPr/>
          <p:nvPr/>
        </p:nvSpPr>
        <p:spPr>
          <a:xfrm>
            <a:off x="1568196" y="2794772"/>
            <a:ext cx="67208" cy="72969"/>
          </a:xfrm>
          <a:prstGeom prst="roundRect">
            <a:avLst>
              <a:gd name="adj" fmla="val 13606"/>
            </a:avLst>
          </a:prstGeom>
          <a:solidFill>
            <a:srgbClr val="D8E1E8"/>
          </a:solidFill>
          <a:ln w="12700">
            <a:solidFill>
              <a:srgbClr val="D8E1E8">
                <a:alpha val="0"/>
              </a:srgbClr>
            </a:solidFill>
            <a:prstDash val="solid"/>
          </a:ln>
        </p:spPr>
      </p:sp>
      <p:sp>
        <p:nvSpPr>
          <p:cNvPr id="20" name="Shape 18"/>
          <p:cNvSpPr/>
          <p:nvPr/>
        </p:nvSpPr>
        <p:spPr>
          <a:xfrm>
            <a:off x="1729496" y="2794772"/>
            <a:ext cx="67208" cy="72969"/>
          </a:xfrm>
          <a:prstGeom prst="roundRect">
            <a:avLst>
              <a:gd name="adj" fmla="val 13606"/>
            </a:avLst>
          </a:prstGeom>
          <a:solidFill>
            <a:srgbClr val="D8E1E8"/>
          </a:solidFill>
          <a:ln w="12700">
            <a:solidFill>
              <a:srgbClr val="D8E1E8">
                <a:alpha val="0"/>
              </a:srgbClr>
            </a:solidFill>
            <a:prstDash val="solid"/>
          </a:ln>
        </p:spPr>
      </p:sp>
      <p:sp>
        <p:nvSpPr>
          <p:cNvPr id="21" name="Shape 19"/>
          <p:cNvSpPr/>
          <p:nvPr/>
        </p:nvSpPr>
        <p:spPr>
          <a:xfrm>
            <a:off x="1568196" y="3003255"/>
            <a:ext cx="67208" cy="72969"/>
          </a:xfrm>
          <a:prstGeom prst="roundRect">
            <a:avLst>
              <a:gd name="adj" fmla="val 13606"/>
            </a:avLst>
          </a:prstGeom>
          <a:solidFill>
            <a:srgbClr val="D8E1E8"/>
          </a:solidFill>
          <a:ln w="12700">
            <a:solidFill>
              <a:srgbClr val="D8E1E8">
                <a:alpha val="0"/>
              </a:srgbClr>
            </a:solidFill>
            <a:prstDash val="solid"/>
          </a:ln>
        </p:spPr>
      </p:sp>
      <p:sp>
        <p:nvSpPr>
          <p:cNvPr id="22" name="Shape 20"/>
          <p:cNvSpPr/>
          <p:nvPr/>
        </p:nvSpPr>
        <p:spPr>
          <a:xfrm>
            <a:off x="1729496" y="3003255"/>
            <a:ext cx="67208" cy="72969"/>
          </a:xfrm>
          <a:prstGeom prst="roundRect">
            <a:avLst>
              <a:gd name="adj" fmla="val 13606"/>
            </a:avLst>
          </a:prstGeom>
          <a:solidFill>
            <a:srgbClr val="D8E1E8"/>
          </a:solidFill>
          <a:ln w="12700">
            <a:solidFill>
              <a:srgbClr val="D8E1E8">
                <a:alpha val="0"/>
              </a:srgbClr>
            </a:solidFill>
            <a:prstDash val="solid"/>
          </a:ln>
        </p:spPr>
      </p:sp>
      <p:sp>
        <p:nvSpPr>
          <p:cNvPr id="23" name="Shape 21"/>
          <p:cNvSpPr/>
          <p:nvPr/>
        </p:nvSpPr>
        <p:spPr>
          <a:xfrm>
            <a:off x="2025213" y="2899014"/>
            <a:ext cx="403250" cy="625450"/>
          </a:xfrm>
          <a:prstGeom prst="roundRect">
            <a:avLst>
              <a:gd name="adj" fmla="val 2268"/>
            </a:avLst>
          </a:prstGeom>
          <a:solidFill>
            <a:srgbClr val="8E9CAA"/>
          </a:solidFill>
          <a:ln w="12700">
            <a:solidFill>
              <a:srgbClr val="8E9CAA">
                <a:alpha val="0"/>
              </a:srgbClr>
            </a:solidFill>
            <a:prstDash val="solid"/>
          </a:ln>
        </p:spPr>
      </p:sp>
      <p:sp>
        <p:nvSpPr>
          <p:cNvPr id="24" name="Shape 22"/>
          <p:cNvSpPr/>
          <p:nvPr/>
        </p:nvSpPr>
        <p:spPr>
          <a:xfrm>
            <a:off x="2105863" y="3003255"/>
            <a:ext cx="67208" cy="72969"/>
          </a:xfrm>
          <a:prstGeom prst="roundRect">
            <a:avLst>
              <a:gd name="adj" fmla="val 13606"/>
            </a:avLst>
          </a:prstGeom>
          <a:solidFill>
            <a:srgbClr val="D8E1E8"/>
          </a:solidFill>
          <a:ln w="12700">
            <a:solidFill>
              <a:srgbClr val="D8E1E8">
                <a:alpha val="0"/>
              </a:srgbClr>
            </a:solidFill>
            <a:prstDash val="solid"/>
          </a:ln>
        </p:spPr>
      </p:sp>
      <p:sp>
        <p:nvSpPr>
          <p:cNvPr id="25" name="Shape 23"/>
          <p:cNvSpPr/>
          <p:nvPr/>
        </p:nvSpPr>
        <p:spPr>
          <a:xfrm>
            <a:off x="2267163" y="3003255"/>
            <a:ext cx="67208" cy="72969"/>
          </a:xfrm>
          <a:prstGeom prst="roundRect">
            <a:avLst>
              <a:gd name="adj" fmla="val 13606"/>
            </a:avLst>
          </a:prstGeom>
          <a:solidFill>
            <a:srgbClr val="D8E1E8"/>
          </a:solidFill>
          <a:ln w="12700">
            <a:solidFill>
              <a:srgbClr val="D8E1E8">
                <a:alpha val="0"/>
              </a:srgbClr>
            </a:solidFill>
            <a:prstDash val="solid"/>
          </a:ln>
        </p:spPr>
      </p:sp>
      <p:sp>
        <p:nvSpPr>
          <p:cNvPr id="26" name="Shape 24"/>
          <p:cNvSpPr/>
          <p:nvPr/>
        </p:nvSpPr>
        <p:spPr>
          <a:xfrm>
            <a:off x="2105863" y="3211739"/>
            <a:ext cx="67208" cy="72969"/>
          </a:xfrm>
          <a:prstGeom prst="roundRect">
            <a:avLst>
              <a:gd name="adj" fmla="val 13606"/>
            </a:avLst>
          </a:prstGeom>
          <a:solidFill>
            <a:srgbClr val="D8E1E8"/>
          </a:solidFill>
          <a:ln w="12700">
            <a:solidFill>
              <a:srgbClr val="D8E1E8">
                <a:alpha val="0"/>
              </a:srgbClr>
            </a:solidFill>
            <a:prstDash val="solid"/>
          </a:ln>
        </p:spPr>
      </p:sp>
      <p:sp>
        <p:nvSpPr>
          <p:cNvPr id="27" name="Shape 25"/>
          <p:cNvSpPr/>
          <p:nvPr/>
        </p:nvSpPr>
        <p:spPr>
          <a:xfrm>
            <a:off x="2267163" y="3211739"/>
            <a:ext cx="67208" cy="72969"/>
          </a:xfrm>
          <a:prstGeom prst="roundRect">
            <a:avLst>
              <a:gd name="adj" fmla="val 13606"/>
            </a:avLst>
          </a:prstGeom>
          <a:solidFill>
            <a:srgbClr val="D8E1E8"/>
          </a:solidFill>
          <a:ln w="12700">
            <a:solidFill>
              <a:srgbClr val="D8E1E8">
                <a:alpha val="0"/>
              </a:srgbClr>
            </a:solidFill>
            <a:prstDash val="solid"/>
          </a:ln>
        </p:spPr>
      </p:sp>
      <p:sp>
        <p:nvSpPr>
          <p:cNvPr id="28" name="Shape 26"/>
          <p:cNvSpPr/>
          <p:nvPr/>
        </p:nvSpPr>
        <p:spPr>
          <a:xfrm>
            <a:off x="2562880" y="2732227"/>
            <a:ext cx="457017" cy="792236"/>
          </a:xfrm>
          <a:prstGeom prst="roundRect">
            <a:avLst>
              <a:gd name="adj" fmla="val 2001"/>
            </a:avLst>
          </a:prstGeom>
          <a:solidFill>
            <a:srgbClr val="ADB7C3"/>
          </a:solidFill>
          <a:ln w="12700">
            <a:solidFill>
              <a:srgbClr val="ADB7C3">
                <a:alpha val="0"/>
              </a:srgbClr>
            </a:solidFill>
            <a:prstDash val="solid"/>
          </a:ln>
        </p:spPr>
      </p:sp>
      <p:sp>
        <p:nvSpPr>
          <p:cNvPr id="29" name="Shape 27"/>
          <p:cNvSpPr/>
          <p:nvPr/>
        </p:nvSpPr>
        <p:spPr>
          <a:xfrm>
            <a:off x="2643530" y="2836469"/>
            <a:ext cx="67208" cy="72969"/>
          </a:xfrm>
          <a:prstGeom prst="roundRect">
            <a:avLst>
              <a:gd name="adj" fmla="val 13606"/>
            </a:avLst>
          </a:prstGeom>
          <a:solidFill>
            <a:srgbClr val="D8E1E8"/>
          </a:solidFill>
          <a:ln w="12700">
            <a:solidFill>
              <a:srgbClr val="D8E1E8">
                <a:alpha val="0"/>
              </a:srgbClr>
            </a:solidFill>
            <a:prstDash val="solid"/>
          </a:ln>
        </p:spPr>
      </p:sp>
      <p:sp>
        <p:nvSpPr>
          <p:cNvPr id="30" name="Shape 28"/>
          <p:cNvSpPr/>
          <p:nvPr/>
        </p:nvSpPr>
        <p:spPr>
          <a:xfrm>
            <a:off x="2804831" y="2836469"/>
            <a:ext cx="67208" cy="72969"/>
          </a:xfrm>
          <a:prstGeom prst="roundRect">
            <a:avLst>
              <a:gd name="adj" fmla="val 13606"/>
            </a:avLst>
          </a:prstGeom>
          <a:solidFill>
            <a:srgbClr val="D8E1E8"/>
          </a:solidFill>
          <a:ln w="12700">
            <a:solidFill>
              <a:srgbClr val="D8E1E8">
                <a:alpha val="0"/>
              </a:srgbClr>
            </a:solidFill>
            <a:prstDash val="solid"/>
          </a:ln>
        </p:spPr>
      </p:sp>
      <p:sp>
        <p:nvSpPr>
          <p:cNvPr id="31" name="Shape 29"/>
          <p:cNvSpPr/>
          <p:nvPr/>
        </p:nvSpPr>
        <p:spPr>
          <a:xfrm>
            <a:off x="2643530" y="3044952"/>
            <a:ext cx="67208" cy="72969"/>
          </a:xfrm>
          <a:prstGeom prst="roundRect">
            <a:avLst>
              <a:gd name="adj" fmla="val 13606"/>
            </a:avLst>
          </a:prstGeom>
          <a:solidFill>
            <a:srgbClr val="D8E1E8"/>
          </a:solidFill>
          <a:ln w="12700">
            <a:solidFill>
              <a:srgbClr val="D8E1E8">
                <a:alpha val="0"/>
              </a:srgbClr>
            </a:solidFill>
            <a:prstDash val="solid"/>
          </a:ln>
        </p:spPr>
      </p:sp>
      <p:sp>
        <p:nvSpPr>
          <p:cNvPr id="32" name="Shape 30"/>
          <p:cNvSpPr/>
          <p:nvPr/>
        </p:nvSpPr>
        <p:spPr>
          <a:xfrm>
            <a:off x="2804831" y="3044952"/>
            <a:ext cx="67208" cy="72969"/>
          </a:xfrm>
          <a:prstGeom prst="roundRect">
            <a:avLst>
              <a:gd name="adj" fmla="val 13606"/>
            </a:avLst>
          </a:prstGeom>
          <a:solidFill>
            <a:srgbClr val="D8E1E8"/>
          </a:solidFill>
          <a:ln w="12700">
            <a:solidFill>
              <a:srgbClr val="D8E1E8">
                <a:alpha val="0"/>
              </a:srgbClr>
            </a:solidFill>
            <a:prstDash val="solid"/>
          </a:ln>
        </p:spPr>
      </p:sp>
      <p:sp>
        <p:nvSpPr>
          <p:cNvPr id="33" name="Shape 31"/>
          <p:cNvSpPr/>
          <p:nvPr/>
        </p:nvSpPr>
        <p:spPr>
          <a:xfrm>
            <a:off x="3073664" y="2940710"/>
            <a:ext cx="349484" cy="583753"/>
          </a:xfrm>
          <a:prstGeom prst="roundRect">
            <a:avLst>
              <a:gd name="adj" fmla="val 2616"/>
            </a:avLst>
          </a:prstGeom>
          <a:solidFill>
            <a:srgbClr val="8796A5"/>
          </a:solidFill>
          <a:ln w="12700">
            <a:solidFill>
              <a:srgbClr val="8796A5">
                <a:alpha val="0"/>
              </a:srgbClr>
            </a:solidFill>
            <a:prstDash val="solid"/>
          </a:ln>
        </p:spPr>
      </p:sp>
      <p:sp>
        <p:nvSpPr>
          <p:cNvPr id="34" name="Shape 32"/>
          <p:cNvSpPr/>
          <p:nvPr/>
        </p:nvSpPr>
        <p:spPr>
          <a:xfrm>
            <a:off x="3154314" y="3044952"/>
            <a:ext cx="67208" cy="72969"/>
          </a:xfrm>
          <a:prstGeom prst="roundRect">
            <a:avLst>
              <a:gd name="adj" fmla="val 13606"/>
            </a:avLst>
          </a:prstGeom>
          <a:solidFill>
            <a:srgbClr val="D8E1E8"/>
          </a:solidFill>
          <a:ln w="12700">
            <a:solidFill>
              <a:srgbClr val="D8E1E8">
                <a:alpha val="0"/>
              </a:srgbClr>
            </a:solidFill>
            <a:prstDash val="solid"/>
          </a:ln>
        </p:spPr>
      </p:sp>
      <p:sp>
        <p:nvSpPr>
          <p:cNvPr id="35" name="Shape 33"/>
          <p:cNvSpPr/>
          <p:nvPr/>
        </p:nvSpPr>
        <p:spPr>
          <a:xfrm>
            <a:off x="3315614" y="3044952"/>
            <a:ext cx="67208" cy="72969"/>
          </a:xfrm>
          <a:prstGeom prst="roundRect">
            <a:avLst>
              <a:gd name="adj" fmla="val 13606"/>
            </a:avLst>
          </a:prstGeom>
          <a:solidFill>
            <a:srgbClr val="D8E1E8"/>
          </a:solidFill>
          <a:ln w="12700">
            <a:solidFill>
              <a:srgbClr val="D8E1E8">
                <a:alpha val="0"/>
              </a:srgbClr>
            </a:solidFill>
            <a:prstDash val="solid"/>
          </a:ln>
        </p:spPr>
      </p:sp>
      <p:sp>
        <p:nvSpPr>
          <p:cNvPr id="36" name="Shape 34"/>
          <p:cNvSpPr/>
          <p:nvPr/>
        </p:nvSpPr>
        <p:spPr>
          <a:xfrm>
            <a:off x="3154314" y="3253435"/>
            <a:ext cx="67208" cy="72969"/>
          </a:xfrm>
          <a:prstGeom prst="roundRect">
            <a:avLst>
              <a:gd name="adj" fmla="val 13606"/>
            </a:avLst>
          </a:prstGeom>
          <a:solidFill>
            <a:srgbClr val="D8E1E8"/>
          </a:solidFill>
          <a:ln w="12700">
            <a:solidFill>
              <a:srgbClr val="D8E1E8">
                <a:alpha val="0"/>
              </a:srgbClr>
            </a:solidFill>
            <a:prstDash val="solid"/>
          </a:ln>
        </p:spPr>
      </p:sp>
      <p:sp>
        <p:nvSpPr>
          <p:cNvPr id="37" name="Shape 35"/>
          <p:cNvSpPr/>
          <p:nvPr/>
        </p:nvSpPr>
        <p:spPr>
          <a:xfrm>
            <a:off x="3315614" y="3253435"/>
            <a:ext cx="67208" cy="72969"/>
          </a:xfrm>
          <a:prstGeom prst="roundRect">
            <a:avLst>
              <a:gd name="adj" fmla="val 13606"/>
            </a:avLst>
          </a:prstGeom>
          <a:solidFill>
            <a:srgbClr val="D8E1E8"/>
          </a:solidFill>
          <a:ln w="12700">
            <a:solidFill>
              <a:srgbClr val="D8E1E8">
                <a:alpha val="0"/>
              </a:srgbClr>
            </a:solidFill>
            <a:prstDash val="solid"/>
          </a:ln>
        </p:spPr>
      </p:sp>
      <p:sp>
        <p:nvSpPr>
          <p:cNvPr id="38" name="Shape 36"/>
          <p:cNvSpPr/>
          <p:nvPr/>
        </p:nvSpPr>
        <p:spPr>
          <a:xfrm>
            <a:off x="905256" y="3420222"/>
            <a:ext cx="2670048" cy="1188354"/>
          </a:xfrm>
          <a:prstGeom prst="roundRect">
            <a:avLst>
              <a:gd name="adj" fmla="val 1539"/>
            </a:avLst>
          </a:prstGeom>
          <a:solidFill>
            <a:srgbClr val="657080"/>
          </a:solidFill>
          <a:ln w="12700">
            <a:solidFill>
              <a:srgbClr val="657080">
                <a:alpha val="0"/>
              </a:srgbClr>
            </a:solidFill>
            <a:prstDash val="solid"/>
          </a:ln>
        </p:spPr>
      </p:sp>
      <p:sp>
        <p:nvSpPr>
          <p:cNvPr id="39" name="Shape 37"/>
          <p:cNvSpPr/>
          <p:nvPr/>
        </p:nvSpPr>
        <p:spPr>
          <a:xfrm>
            <a:off x="1218712" y="3983126"/>
            <a:ext cx="322600" cy="37527"/>
          </a:xfrm>
          <a:prstGeom prst="roundRect">
            <a:avLst>
              <a:gd name="adj" fmla="val 24366"/>
            </a:avLst>
          </a:prstGeom>
          <a:solidFill>
            <a:srgbClr val="E9EEF4"/>
          </a:solidFill>
          <a:ln w="12700">
            <a:solidFill>
              <a:srgbClr val="E9EEF4">
                <a:alpha val="0"/>
              </a:srgbClr>
            </a:solidFill>
            <a:prstDash val="solid"/>
          </a:ln>
        </p:spPr>
      </p:sp>
      <p:sp>
        <p:nvSpPr>
          <p:cNvPr id="40" name="Shape 38"/>
          <p:cNvSpPr/>
          <p:nvPr/>
        </p:nvSpPr>
        <p:spPr>
          <a:xfrm>
            <a:off x="1837030" y="3983126"/>
            <a:ext cx="322600" cy="37527"/>
          </a:xfrm>
          <a:prstGeom prst="roundRect">
            <a:avLst>
              <a:gd name="adj" fmla="val 24366"/>
            </a:avLst>
          </a:prstGeom>
          <a:solidFill>
            <a:srgbClr val="E9EEF4"/>
          </a:solidFill>
          <a:ln w="12700">
            <a:solidFill>
              <a:srgbClr val="E9EEF4">
                <a:alpha val="0"/>
              </a:srgbClr>
            </a:solidFill>
            <a:prstDash val="solid"/>
          </a:ln>
        </p:spPr>
      </p:sp>
      <p:sp>
        <p:nvSpPr>
          <p:cNvPr id="41" name="Shape 39"/>
          <p:cNvSpPr/>
          <p:nvPr/>
        </p:nvSpPr>
        <p:spPr>
          <a:xfrm>
            <a:off x="2455347" y="3983126"/>
            <a:ext cx="322600" cy="37527"/>
          </a:xfrm>
          <a:prstGeom prst="roundRect">
            <a:avLst>
              <a:gd name="adj" fmla="val 24366"/>
            </a:avLst>
          </a:prstGeom>
          <a:solidFill>
            <a:srgbClr val="E9EEF4"/>
          </a:solidFill>
          <a:ln w="12700">
            <a:solidFill>
              <a:srgbClr val="E9EEF4">
                <a:alpha val="0"/>
              </a:srgbClr>
            </a:solidFill>
            <a:prstDash val="solid"/>
          </a:ln>
        </p:spPr>
      </p:sp>
      <p:sp>
        <p:nvSpPr>
          <p:cNvPr id="42" name="Shape 40"/>
          <p:cNvSpPr/>
          <p:nvPr/>
        </p:nvSpPr>
        <p:spPr>
          <a:xfrm>
            <a:off x="3073664" y="3983126"/>
            <a:ext cx="322600" cy="37527"/>
          </a:xfrm>
          <a:prstGeom prst="roundRect">
            <a:avLst>
              <a:gd name="adj" fmla="val 24366"/>
            </a:avLst>
          </a:prstGeom>
          <a:solidFill>
            <a:srgbClr val="E9EEF4"/>
          </a:solidFill>
          <a:ln w="12700">
            <a:solidFill>
              <a:srgbClr val="E9EEF4">
                <a:alpha val="0"/>
              </a:srgbClr>
            </a:solidFill>
            <a:prstDash val="solid"/>
          </a:ln>
        </p:spPr>
      </p:sp>
      <p:sp>
        <p:nvSpPr>
          <p:cNvPr id="43" name="Shape 41"/>
          <p:cNvSpPr/>
          <p:nvPr/>
        </p:nvSpPr>
        <p:spPr>
          <a:xfrm>
            <a:off x="2240280" y="3983126"/>
            <a:ext cx="725851" cy="354421"/>
          </a:xfrm>
          <a:prstGeom prst="ellipse">
            <a:avLst/>
          </a:prstGeom>
          <a:solidFill>
            <a:srgbClr val="202A36"/>
          </a:solidFill>
          <a:ln w="12700">
            <a:solidFill>
              <a:srgbClr val="323B48"/>
            </a:solidFill>
            <a:prstDash val="solid"/>
          </a:ln>
        </p:spPr>
      </p:sp>
      <p:sp>
        <p:nvSpPr>
          <p:cNvPr id="44" name="Shape 42"/>
          <p:cNvSpPr/>
          <p:nvPr/>
        </p:nvSpPr>
        <p:spPr>
          <a:xfrm>
            <a:off x="2267163" y="3962278"/>
            <a:ext cx="672084" cy="291876"/>
          </a:xfrm>
          <a:prstGeom prst="arc">
            <a:avLst/>
          </a:prstGeom>
          <a:solidFill>
            <a:srgbClr val="202A36">
              <a:alpha val="0"/>
            </a:srgbClr>
          </a:solidFill>
          <a:ln w="19050">
            <a:solidFill>
              <a:srgbClr val="9099A7"/>
            </a:solidFill>
            <a:prstDash val="solid"/>
          </a:ln>
        </p:spPr>
      </p:sp>
      <p:sp>
        <p:nvSpPr>
          <p:cNvPr id="45" name="Shape 43"/>
          <p:cNvSpPr/>
          <p:nvPr/>
        </p:nvSpPr>
        <p:spPr>
          <a:xfrm>
            <a:off x="3019897" y="2836469"/>
            <a:ext cx="215067" cy="215067"/>
          </a:xfrm>
          <a:prstGeom prst="ellipse">
            <a:avLst/>
          </a:prstGeom>
          <a:solidFill>
            <a:srgbClr val="FB7185"/>
          </a:solidFill>
          <a:ln w="12700">
            <a:solidFill>
              <a:srgbClr val="FFFFFF"/>
            </a:solidFill>
            <a:prstDash val="solid"/>
          </a:ln>
        </p:spPr>
      </p:sp>
      <p:sp>
        <p:nvSpPr>
          <p:cNvPr id="46" name="Shape 44"/>
          <p:cNvSpPr/>
          <p:nvPr/>
        </p:nvSpPr>
        <p:spPr>
          <a:xfrm>
            <a:off x="3087106" y="2899014"/>
            <a:ext cx="80650" cy="80650"/>
          </a:xfrm>
          <a:prstGeom prst="ellipse">
            <a:avLst/>
          </a:prstGeom>
          <a:solidFill>
            <a:srgbClr val="FFFFFF"/>
          </a:solidFill>
          <a:ln w="2540">
            <a:solidFill>
              <a:srgbClr val="FFFFFF"/>
            </a:solidFill>
            <a:prstDash val="solid"/>
          </a:ln>
        </p:spPr>
      </p:sp>
      <p:sp>
        <p:nvSpPr>
          <p:cNvPr id="47" name="Text 45"/>
          <p:cNvSpPr txBox="1"/>
          <p:nvPr/>
        </p:nvSpPr>
        <p:spPr>
          <a:xfrm>
            <a:off x="914400" y="4791456"/>
            <a:ext cx="2651760" cy="182880"/>
          </a:xfrm>
          <a:prstGeom prst="rect">
            <a:avLst/>
          </a:prstGeom>
          <a:noFill/>
          <a:ln/>
        </p:spPr>
        <p:txBody>
          <a:bodyPr wrap="square" lIns="0" tIns="0" rIns="0" bIns="0" rtlCol="0" anchor="ctr">
            <a:normAutofit/>
          </a:bodyPr>
          <a:lstStyle/>
          <a:p>
            <a:pPr algn="l" indent="0" marL="0">
              <a:buNone/>
            </a:pPr>
            <a:r>
              <a:rPr lang="en-US" sz="1000" b="1" dirty="0">
                <a:solidFill>
                  <a:srgbClr val="FFFFFF"/>
                </a:solidFill>
                <a:latin typeface="Aptos" pitchFamily="34" charset="0"/>
                <a:ea typeface="Aptos" pitchFamily="34" charset="-122"/>
                <a:cs typeface="Aptos" pitchFamily="34" charset="-120"/>
              </a:rPr>
              <a:t>Original issue evidence</a:t>
            </a:r>
            <a:endParaRPr lang="en-US" sz="1000" dirty="0"/>
          </a:p>
        </p:txBody>
      </p:sp>
      <p:sp>
        <p:nvSpPr>
          <p:cNvPr id="48" name="Text 46"/>
          <p:cNvSpPr txBox="1"/>
          <p:nvPr/>
        </p:nvSpPr>
        <p:spPr>
          <a:xfrm>
            <a:off x="914400" y="5020056"/>
            <a:ext cx="2651760" cy="164592"/>
          </a:xfrm>
          <a:prstGeom prst="rect">
            <a:avLst/>
          </a:prstGeom>
          <a:noFill/>
          <a:ln/>
        </p:spPr>
        <p:txBody>
          <a:bodyPr wrap="square" lIns="0" tIns="0" rIns="0" bIns="0" rtlCol="0" anchor="ctr">
            <a:normAutofit/>
          </a:bodyPr>
          <a:lstStyle/>
          <a:p>
            <a:pPr algn="l" indent="0" marL="0">
              <a:buNone/>
            </a:pPr>
            <a:r>
              <a:rPr lang="en-US" sz="850" dirty="0">
                <a:solidFill>
                  <a:srgbClr val="AAB9CB"/>
                </a:solidFill>
                <a:latin typeface="Aptos" pitchFamily="34" charset="0"/>
                <a:ea typeface="Aptos" pitchFamily="34" charset="-122"/>
                <a:cs typeface="Aptos" pitchFamily="34" charset="-120"/>
              </a:rPr>
              <a:t>Stored with CF-1024</a:t>
            </a:r>
            <a:endParaRPr lang="en-US" sz="850" dirty="0"/>
          </a:p>
        </p:txBody>
      </p:sp>
      <p:sp>
        <p:nvSpPr>
          <p:cNvPr id="49" name="Shape 47"/>
          <p:cNvSpPr/>
          <p:nvPr/>
        </p:nvSpPr>
        <p:spPr>
          <a:xfrm>
            <a:off x="3977640" y="3264408"/>
            <a:ext cx="576072" cy="576072"/>
          </a:xfrm>
          <a:prstGeom prst="ellipse">
            <a:avLst/>
          </a:prstGeom>
          <a:solidFill>
            <a:srgbClr val="2DD4BF"/>
          </a:solidFill>
          <a:ln w="12700">
            <a:solidFill>
              <a:srgbClr val="2DD4BF"/>
            </a:solidFill>
            <a:prstDash val="solid"/>
          </a:ln>
        </p:spPr>
      </p:sp>
      <p:sp>
        <p:nvSpPr>
          <p:cNvPr id="50" name="Text 48"/>
          <p:cNvSpPr txBox="1"/>
          <p:nvPr/>
        </p:nvSpPr>
        <p:spPr>
          <a:xfrm>
            <a:off x="3977640" y="3364992"/>
            <a:ext cx="576072" cy="274320"/>
          </a:xfrm>
          <a:prstGeom prst="rect">
            <a:avLst/>
          </a:prstGeom>
          <a:noFill/>
          <a:ln/>
        </p:spPr>
        <p:txBody>
          <a:bodyPr wrap="square" lIns="0" tIns="0" rIns="0" bIns="0" rtlCol="0" anchor="ctr">
            <a:normAutofit/>
          </a:bodyPr>
          <a:lstStyle/>
          <a:p>
            <a:pPr algn="ctr" indent="0" marL="0">
              <a:buNone/>
            </a:pPr>
            <a:r>
              <a:rPr lang="en-US" sz="2600" b="1" dirty="0">
                <a:solidFill>
                  <a:srgbClr val="0B1220"/>
                </a:solidFill>
                <a:latin typeface="Aptos" pitchFamily="34" charset="0"/>
                <a:ea typeface="Aptos" pitchFamily="34" charset="-122"/>
                <a:cs typeface="Aptos" pitchFamily="34" charset="-120"/>
              </a:rPr>
              <a:t>→</a:t>
            </a:r>
            <a:endParaRPr lang="en-US" sz="2600" dirty="0"/>
          </a:p>
        </p:txBody>
      </p:sp>
      <p:sp>
        <p:nvSpPr>
          <p:cNvPr id="51" name="Text 49"/>
          <p:cNvSpPr txBox="1"/>
          <p:nvPr/>
        </p:nvSpPr>
        <p:spPr>
          <a:xfrm>
            <a:off x="3840480" y="4023360"/>
            <a:ext cx="859536" cy="164592"/>
          </a:xfrm>
          <a:prstGeom prst="rect">
            <a:avLst/>
          </a:prstGeom>
          <a:noFill/>
          <a:ln/>
        </p:spPr>
        <p:txBody>
          <a:bodyPr wrap="square" lIns="0" tIns="0" rIns="0" bIns="0" rtlCol="0" anchor="ctr">
            <a:normAutofit/>
          </a:bodyPr>
          <a:lstStyle/>
          <a:p>
            <a:pPr algn="ctr" indent="0" marL="0">
              <a:buNone/>
            </a:pPr>
            <a:r>
              <a:rPr lang="en-US" sz="850" b="1" spc="70" kern="0" dirty="0">
                <a:solidFill>
                  <a:srgbClr val="2DD4BF"/>
                </a:solidFill>
                <a:latin typeface="Aptos" pitchFamily="34" charset="0"/>
                <a:ea typeface="Aptos" pitchFamily="34" charset="-122"/>
                <a:cs typeface="Aptos" pitchFamily="34" charset="-120"/>
              </a:rPr>
              <a:t>COMPARE</a:t>
            </a:r>
            <a:endParaRPr lang="en-US" sz="850" dirty="0"/>
          </a:p>
        </p:txBody>
      </p:sp>
      <p:sp>
        <p:nvSpPr>
          <p:cNvPr id="52" name="Shape 50"/>
          <p:cNvSpPr/>
          <p:nvPr/>
        </p:nvSpPr>
        <p:spPr>
          <a:xfrm>
            <a:off x="4681728" y="1856232"/>
            <a:ext cx="3172968" cy="3383280"/>
          </a:xfrm>
          <a:prstGeom prst="roundRect">
            <a:avLst>
              <a:gd name="adj" fmla="val 4323"/>
            </a:avLst>
          </a:prstGeom>
          <a:solidFill>
            <a:srgbClr val="111C2E"/>
          </a:solidFill>
          <a:ln w="12700">
            <a:solidFill>
              <a:srgbClr val="17263A"/>
            </a:solidFill>
            <a:prstDash val="solid"/>
          </a:ln>
        </p:spPr>
      </p:sp>
      <p:sp>
        <p:nvSpPr>
          <p:cNvPr id="53" name="Shape 51"/>
          <p:cNvSpPr/>
          <p:nvPr/>
        </p:nvSpPr>
        <p:spPr>
          <a:xfrm>
            <a:off x="4928616" y="2084832"/>
            <a:ext cx="1847088" cy="274320"/>
          </a:xfrm>
          <a:prstGeom prst="roundRect">
            <a:avLst>
              <a:gd name="adj" fmla="val 40000"/>
            </a:avLst>
          </a:prstGeom>
          <a:solidFill>
            <a:srgbClr val="D1FAE5"/>
          </a:solidFill>
          <a:ln w="12700">
            <a:solidFill>
              <a:srgbClr val="D1FAE5">
                <a:alpha val="0"/>
              </a:srgbClr>
            </a:solidFill>
            <a:prstDash val="solid"/>
          </a:ln>
        </p:spPr>
      </p:sp>
      <p:sp>
        <p:nvSpPr>
          <p:cNvPr id="54" name="Text 52"/>
          <p:cNvSpPr txBox="1"/>
          <p:nvPr/>
        </p:nvSpPr>
        <p:spPr>
          <a:xfrm>
            <a:off x="5001768" y="2103120"/>
            <a:ext cx="1700784" cy="228600"/>
          </a:xfrm>
          <a:prstGeom prst="rect">
            <a:avLst/>
          </a:prstGeom>
          <a:noFill/>
          <a:ln/>
        </p:spPr>
        <p:txBody>
          <a:bodyPr wrap="square" lIns="0" tIns="0" rIns="0" bIns="0" rtlCol="0" anchor="ctr">
            <a:normAutofit/>
          </a:bodyPr>
          <a:lstStyle/>
          <a:p>
            <a:pPr algn="ctr" indent="0" marL="0">
              <a:buNone/>
            </a:pPr>
            <a:r>
              <a:rPr lang="en-US" sz="850" b="1" dirty="0">
                <a:solidFill>
                  <a:srgbClr val="065F46"/>
                </a:solidFill>
                <a:latin typeface="Aptos" pitchFamily="34" charset="0"/>
                <a:ea typeface="Aptos" pitchFamily="34" charset="-122"/>
                <a:cs typeface="Aptos" pitchFamily="34" charset="-120"/>
              </a:rPr>
              <a:t>AFTER · AUTHORITY PHOTO</a:t>
            </a:r>
            <a:endParaRPr lang="en-US" sz="850" dirty="0"/>
          </a:p>
        </p:txBody>
      </p:sp>
      <p:sp>
        <p:nvSpPr>
          <p:cNvPr id="55" name="Shape 53"/>
          <p:cNvSpPr/>
          <p:nvPr/>
        </p:nvSpPr>
        <p:spPr>
          <a:xfrm>
            <a:off x="4919472" y="2523744"/>
            <a:ext cx="2688336" cy="2084832"/>
          </a:xfrm>
          <a:prstGeom prst="roundRect">
            <a:avLst>
              <a:gd name="adj" fmla="val 5263"/>
            </a:avLst>
          </a:prstGeom>
          <a:solidFill>
            <a:srgbClr val="DCECF0"/>
          </a:solidFill>
          <a:ln w="12700">
            <a:solidFill>
              <a:srgbClr val="C5D8DE"/>
            </a:solidFill>
            <a:prstDash val="solid"/>
          </a:ln>
        </p:spPr>
      </p:sp>
      <p:sp>
        <p:nvSpPr>
          <p:cNvPr id="56" name="Shape 54"/>
          <p:cNvSpPr/>
          <p:nvPr/>
        </p:nvSpPr>
        <p:spPr>
          <a:xfrm>
            <a:off x="4928616" y="2532888"/>
            <a:ext cx="2670048" cy="896478"/>
          </a:xfrm>
          <a:prstGeom prst="roundRect">
            <a:avLst>
              <a:gd name="adj" fmla="val 10200"/>
            </a:avLst>
          </a:prstGeom>
          <a:solidFill>
            <a:srgbClr val="DCEEF3"/>
          </a:solidFill>
          <a:ln w="12700">
            <a:solidFill>
              <a:srgbClr val="DCEEF3">
                <a:alpha val="0"/>
              </a:srgbClr>
            </a:solidFill>
            <a:prstDash val="solid"/>
          </a:ln>
        </p:spPr>
      </p:sp>
      <p:sp>
        <p:nvSpPr>
          <p:cNvPr id="57" name="Shape 55"/>
          <p:cNvSpPr/>
          <p:nvPr/>
        </p:nvSpPr>
        <p:spPr>
          <a:xfrm>
            <a:off x="5053889" y="2836469"/>
            <a:ext cx="430134" cy="687995"/>
          </a:xfrm>
          <a:prstGeom prst="roundRect">
            <a:avLst>
              <a:gd name="adj" fmla="val 2126"/>
            </a:avLst>
          </a:prstGeom>
          <a:solidFill>
            <a:srgbClr val="8B9AA8"/>
          </a:solidFill>
          <a:ln w="12700">
            <a:solidFill>
              <a:srgbClr val="8B9AA8">
                <a:alpha val="0"/>
              </a:srgbClr>
            </a:solidFill>
            <a:prstDash val="solid"/>
          </a:ln>
        </p:spPr>
      </p:sp>
      <p:sp>
        <p:nvSpPr>
          <p:cNvPr id="58" name="Shape 56"/>
          <p:cNvSpPr/>
          <p:nvPr/>
        </p:nvSpPr>
        <p:spPr>
          <a:xfrm>
            <a:off x="5134539" y="2940710"/>
            <a:ext cx="67208" cy="72969"/>
          </a:xfrm>
          <a:prstGeom prst="roundRect">
            <a:avLst>
              <a:gd name="adj" fmla="val 13606"/>
            </a:avLst>
          </a:prstGeom>
          <a:solidFill>
            <a:srgbClr val="D8E1E8"/>
          </a:solidFill>
          <a:ln w="12700">
            <a:solidFill>
              <a:srgbClr val="D8E1E8">
                <a:alpha val="0"/>
              </a:srgbClr>
            </a:solidFill>
            <a:prstDash val="solid"/>
          </a:ln>
        </p:spPr>
      </p:sp>
      <p:sp>
        <p:nvSpPr>
          <p:cNvPr id="59" name="Shape 57"/>
          <p:cNvSpPr/>
          <p:nvPr/>
        </p:nvSpPr>
        <p:spPr>
          <a:xfrm>
            <a:off x="5295839" y="2940710"/>
            <a:ext cx="67208" cy="72969"/>
          </a:xfrm>
          <a:prstGeom prst="roundRect">
            <a:avLst>
              <a:gd name="adj" fmla="val 13606"/>
            </a:avLst>
          </a:prstGeom>
          <a:solidFill>
            <a:srgbClr val="D8E1E8"/>
          </a:solidFill>
          <a:ln w="12700">
            <a:solidFill>
              <a:srgbClr val="D8E1E8">
                <a:alpha val="0"/>
              </a:srgbClr>
            </a:solidFill>
            <a:prstDash val="solid"/>
          </a:ln>
        </p:spPr>
      </p:sp>
      <p:sp>
        <p:nvSpPr>
          <p:cNvPr id="60" name="Shape 58"/>
          <p:cNvSpPr/>
          <p:nvPr/>
        </p:nvSpPr>
        <p:spPr>
          <a:xfrm>
            <a:off x="5134539" y="3149194"/>
            <a:ext cx="67208" cy="72969"/>
          </a:xfrm>
          <a:prstGeom prst="roundRect">
            <a:avLst>
              <a:gd name="adj" fmla="val 13606"/>
            </a:avLst>
          </a:prstGeom>
          <a:solidFill>
            <a:srgbClr val="D8E1E8"/>
          </a:solidFill>
          <a:ln w="12700">
            <a:solidFill>
              <a:srgbClr val="D8E1E8">
                <a:alpha val="0"/>
              </a:srgbClr>
            </a:solidFill>
            <a:prstDash val="solid"/>
          </a:ln>
        </p:spPr>
      </p:sp>
      <p:sp>
        <p:nvSpPr>
          <p:cNvPr id="61" name="Shape 59"/>
          <p:cNvSpPr/>
          <p:nvPr/>
        </p:nvSpPr>
        <p:spPr>
          <a:xfrm>
            <a:off x="5295839" y="3149194"/>
            <a:ext cx="67208" cy="72969"/>
          </a:xfrm>
          <a:prstGeom prst="roundRect">
            <a:avLst>
              <a:gd name="adj" fmla="val 13606"/>
            </a:avLst>
          </a:prstGeom>
          <a:solidFill>
            <a:srgbClr val="D8E1E8"/>
          </a:solidFill>
          <a:ln w="12700">
            <a:solidFill>
              <a:srgbClr val="D8E1E8">
                <a:alpha val="0"/>
              </a:srgbClr>
            </a:solidFill>
            <a:prstDash val="solid"/>
          </a:ln>
        </p:spPr>
      </p:sp>
      <p:sp>
        <p:nvSpPr>
          <p:cNvPr id="62" name="Shape 60"/>
          <p:cNvSpPr/>
          <p:nvPr/>
        </p:nvSpPr>
        <p:spPr>
          <a:xfrm>
            <a:off x="5510906" y="2690531"/>
            <a:ext cx="457017" cy="833933"/>
          </a:xfrm>
          <a:prstGeom prst="roundRect">
            <a:avLst>
              <a:gd name="adj" fmla="val 2001"/>
            </a:avLst>
          </a:prstGeom>
          <a:solidFill>
            <a:srgbClr val="AFB9C5"/>
          </a:solidFill>
          <a:ln w="12700">
            <a:solidFill>
              <a:srgbClr val="AFB9C5">
                <a:alpha val="0"/>
              </a:srgbClr>
            </a:solidFill>
            <a:prstDash val="solid"/>
          </a:ln>
        </p:spPr>
      </p:sp>
      <p:sp>
        <p:nvSpPr>
          <p:cNvPr id="63" name="Shape 61"/>
          <p:cNvSpPr/>
          <p:nvPr/>
        </p:nvSpPr>
        <p:spPr>
          <a:xfrm>
            <a:off x="5591556" y="2794772"/>
            <a:ext cx="67208" cy="72969"/>
          </a:xfrm>
          <a:prstGeom prst="roundRect">
            <a:avLst>
              <a:gd name="adj" fmla="val 13606"/>
            </a:avLst>
          </a:prstGeom>
          <a:solidFill>
            <a:srgbClr val="D8E1E8"/>
          </a:solidFill>
          <a:ln w="12700">
            <a:solidFill>
              <a:srgbClr val="D8E1E8">
                <a:alpha val="0"/>
              </a:srgbClr>
            </a:solidFill>
            <a:prstDash val="solid"/>
          </a:ln>
        </p:spPr>
      </p:sp>
      <p:sp>
        <p:nvSpPr>
          <p:cNvPr id="64" name="Shape 62"/>
          <p:cNvSpPr/>
          <p:nvPr/>
        </p:nvSpPr>
        <p:spPr>
          <a:xfrm>
            <a:off x="5752856" y="2794772"/>
            <a:ext cx="67208" cy="72969"/>
          </a:xfrm>
          <a:prstGeom prst="roundRect">
            <a:avLst>
              <a:gd name="adj" fmla="val 13606"/>
            </a:avLst>
          </a:prstGeom>
          <a:solidFill>
            <a:srgbClr val="D8E1E8"/>
          </a:solidFill>
          <a:ln w="12700">
            <a:solidFill>
              <a:srgbClr val="D8E1E8">
                <a:alpha val="0"/>
              </a:srgbClr>
            </a:solidFill>
            <a:prstDash val="solid"/>
          </a:ln>
        </p:spPr>
      </p:sp>
      <p:sp>
        <p:nvSpPr>
          <p:cNvPr id="65" name="Shape 63"/>
          <p:cNvSpPr/>
          <p:nvPr/>
        </p:nvSpPr>
        <p:spPr>
          <a:xfrm>
            <a:off x="5591556" y="3003255"/>
            <a:ext cx="67208" cy="72969"/>
          </a:xfrm>
          <a:prstGeom prst="roundRect">
            <a:avLst>
              <a:gd name="adj" fmla="val 13606"/>
            </a:avLst>
          </a:prstGeom>
          <a:solidFill>
            <a:srgbClr val="D8E1E8"/>
          </a:solidFill>
          <a:ln w="12700">
            <a:solidFill>
              <a:srgbClr val="D8E1E8">
                <a:alpha val="0"/>
              </a:srgbClr>
            </a:solidFill>
            <a:prstDash val="solid"/>
          </a:ln>
        </p:spPr>
      </p:sp>
      <p:sp>
        <p:nvSpPr>
          <p:cNvPr id="66" name="Shape 64"/>
          <p:cNvSpPr/>
          <p:nvPr/>
        </p:nvSpPr>
        <p:spPr>
          <a:xfrm>
            <a:off x="5752856" y="3003255"/>
            <a:ext cx="67208" cy="72969"/>
          </a:xfrm>
          <a:prstGeom prst="roundRect">
            <a:avLst>
              <a:gd name="adj" fmla="val 13606"/>
            </a:avLst>
          </a:prstGeom>
          <a:solidFill>
            <a:srgbClr val="D8E1E8"/>
          </a:solidFill>
          <a:ln w="12700">
            <a:solidFill>
              <a:srgbClr val="D8E1E8">
                <a:alpha val="0"/>
              </a:srgbClr>
            </a:solidFill>
            <a:prstDash val="solid"/>
          </a:ln>
        </p:spPr>
      </p:sp>
      <p:sp>
        <p:nvSpPr>
          <p:cNvPr id="67" name="Shape 65"/>
          <p:cNvSpPr/>
          <p:nvPr/>
        </p:nvSpPr>
        <p:spPr>
          <a:xfrm>
            <a:off x="6048573" y="2899014"/>
            <a:ext cx="403250" cy="625450"/>
          </a:xfrm>
          <a:prstGeom prst="roundRect">
            <a:avLst>
              <a:gd name="adj" fmla="val 2268"/>
            </a:avLst>
          </a:prstGeom>
          <a:solidFill>
            <a:srgbClr val="8E9CAA"/>
          </a:solidFill>
          <a:ln w="12700">
            <a:solidFill>
              <a:srgbClr val="8E9CAA">
                <a:alpha val="0"/>
              </a:srgbClr>
            </a:solidFill>
            <a:prstDash val="solid"/>
          </a:ln>
        </p:spPr>
      </p:sp>
      <p:sp>
        <p:nvSpPr>
          <p:cNvPr id="68" name="Shape 66"/>
          <p:cNvSpPr/>
          <p:nvPr/>
        </p:nvSpPr>
        <p:spPr>
          <a:xfrm>
            <a:off x="6129223" y="3003255"/>
            <a:ext cx="67208" cy="72969"/>
          </a:xfrm>
          <a:prstGeom prst="roundRect">
            <a:avLst>
              <a:gd name="adj" fmla="val 13606"/>
            </a:avLst>
          </a:prstGeom>
          <a:solidFill>
            <a:srgbClr val="D8E1E8"/>
          </a:solidFill>
          <a:ln w="12700">
            <a:solidFill>
              <a:srgbClr val="D8E1E8">
                <a:alpha val="0"/>
              </a:srgbClr>
            </a:solidFill>
            <a:prstDash val="solid"/>
          </a:ln>
        </p:spPr>
      </p:sp>
      <p:sp>
        <p:nvSpPr>
          <p:cNvPr id="69" name="Shape 67"/>
          <p:cNvSpPr/>
          <p:nvPr/>
        </p:nvSpPr>
        <p:spPr>
          <a:xfrm>
            <a:off x="6290523" y="3003255"/>
            <a:ext cx="67208" cy="72969"/>
          </a:xfrm>
          <a:prstGeom prst="roundRect">
            <a:avLst>
              <a:gd name="adj" fmla="val 13606"/>
            </a:avLst>
          </a:prstGeom>
          <a:solidFill>
            <a:srgbClr val="D8E1E8"/>
          </a:solidFill>
          <a:ln w="12700">
            <a:solidFill>
              <a:srgbClr val="D8E1E8">
                <a:alpha val="0"/>
              </a:srgbClr>
            </a:solidFill>
            <a:prstDash val="solid"/>
          </a:ln>
        </p:spPr>
      </p:sp>
      <p:sp>
        <p:nvSpPr>
          <p:cNvPr id="70" name="Shape 68"/>
          <p:cNvSpPr/>
          <p:nvPr/>
        </p:nvSpPr>
        <p:spPr>
          <a:xfrm>
            <a:off x="6129223" y="3211739"/>
            <a:ext cx="67208" cy="72969"/>
          </a:xfrm>
          <a:prstGeom prst="roundRect">
            <a:avLst>
              <a:gd name="adj" fmla="val 13606"/>
            </a:avLst>
          </a:prstGeom>
          <a:solidFill>
            <a:srgbClr val="D8E1E8"/>
          </a:solidFill>
          <a:ln w="12700">
            <a:solidFill>
              <a:srgbClr val="D8E1E8">
                <a:alpha val="0"/>
              </a:srgbClr>
            </a:solidFill>
            <a:prstDash val="solid"/>
          </a:ln>
        </p:spPr>
      </p:sp>
      <p:sp>
        <p:nvSpPr>
          <p:cNvPr id="71" name="Shape 69"/>
          <p:cNvSpPr/>
          <p:nvPr/>
        </p:nvSpPr>
        <p:spPr>
          <a:xfrm>
            <a:off x="6290523" y="3211739"/>
            <a:ext cx="67208" cy="72969"/>
          </a:xfrm>
          <a:prstGeom prst="roundRect">
            <a:avLst>
              <a:gd name="adj" fmla="val 13606"/>
            </a:avLst>
          </a:prstGeom>
          <a:solidFill>
            <a:srgbClr val="D8E1E8"/>
          </a:solidFill>
          <a:ln w="12700">
            <a:solidFill>
              <a:srgbClr val="D8E1E8">
                <a:alpha val="0"/>
              </a:srgbClr>
            </a:solidFill>
            <a:prstDash val="solid"/>
          </a:ln>
        </p:spPr>
      </p:sp>
      <p:sp>
        <p:nvSpPr>
          <p:cNvPr id="72" name="Shape 70"/>
          <p:cNvSpPr/>
          <p:nvPr/>
        </p:nvSpPr>
        <p:spPr>
          <a:xfrm>
            <a:off x="6586240" y="2732227"/>
            <a:ext cx="457017" cy="792236"/>
          </a:xfrm>
          <a:prstGeom prst="roundRect">
            <a:avLst>
              <a:gd name="adj" fmla="val 2001"/>
            </a:avLst>
          </a:prstGeom>
          <a:solidFill>
            <a:srgbClr val="ADB7C3"/>
          </a:solidFill>
          <a:ln w="12700">
            <a:solidFill>
              <a:srgbClr val="ADB7C3">
                <a:alpha val="0"/>
              </a:srgbClr>
            </a:solidFill>
            <a:prstDash val="solid"/>
          </a:ln>
        </p:spPr>
      </p:sp>
      <p:sp>
        <p:nvSpPr>
          <p:cNvPr id="73" name="Shape 71"/>
          <p:cNvSpPr/>
          <p:nvPr/>
        </p:nvSpPr>
        <p:spPr>
          <a:xfrm>
            <a:off x="6666890" y="2836469"/>
            <a:ext cx="67208" cy="72969"/>
          </a:xfrm>
          <a:prstGeom prst="roundRect">
            <a:avLst>
              <a:gd name="adj" fmla="val 13606"/>
            </a:avLst>
          </a:prstGeom>
          <a:solidFill>
            <a:srgbClr val="D8E1E8"/>
          </a:solidFill>
          <a:ln w="12700">
            <a:solidFill>
              <a:srgbClr val="D8E1E8">
                <a:alpha val="0"/>
              </a:srgbClr>
            </a:solidFill>
            <a:prstDash val="solid"/>
          </a:ln>
        </p:spPr>
      </p:sp>
      <p:sp>
        <p:nvSpPr>
          <p:cNvPr id="74" name="Shape 72"/>
          <p:cNvSpPr/>
          <p:nvPr/>
        </p:nvSpPr>
        <p:spPr>
          <a:xfrm>
            <a:off x="6828191" y="2836469"/>
            <a:ext cx="67208" cy="72969"/>
          </a:xfrm>
          <a:prstGeom prst="roundRect">
            <a:avLst>
              <a:gd name="adj" fmla="val 13606"/>
            </a:avLst>
          </a:prstGeom>
          <a:solidFill>
            <a:srgbClr val="D8E1E8"/>
          </a:solidFill>
          <a:ln w="12700">
            <a:solidFill>
              <a:srgbClr val="D8E1E8">
                <a:alpha val="0"/>
              </a:srgbClr>
            </a:solidFill>
            <a:prstDash val="solid"/>
          </a:ln>
        </p:spPr>
      </p:sp>
      <p:sp>
        <p:nvSpPr>
          <p:cNvPr id="75" name="Shape 73"/>
          <p:cNvSpPr/>
          <p:nvPr/>
        </p:nvSpPr>
        <p:spPr>
          <a:xfrm>
            <a:off x="6666890" y="3044952"/>
            <a:ext cx="67208" cy="72969"/>
          </a:xfrm>
          <a:prstGeom prst="roundRect">
            <a:avLst>
              <a:gd name="adj" fmla="val 13606"/>
            </a:avLst>
          </a:prstGeom>
          <a:solidFill>
            <a:srgbClr val="D8E1E8"/>
          </a:solidFill>
          <a:ln w="12700">
            <a:solidFill>
              <a:srgbClr val="D8E1E8">
                <a:alpha val="0"/>
              </a:srgbClr>
            </a:solidFill>
            <a:prstDash val="solid"/>
          </a:ln>
        </p:spPr>
      </p:sp>
      <p:sp>
        <p:nvSpPr>
          <p:cNvPr id="76" name="Shape 74"/>
          <p:cNvSpPr/>
          <p:nvPr/>
        </p:nvSpPr>
        <p:spPr>
          <a:xfrm>
            <a:off x="6828191" y="3044952"/>
            <a:ext cx="67208" cy="72969"/>
          </a:xfrm>
          <a:prstGeom prst="roundRect">
            <a:avLst>
              <a:gd name="adj" fmla="val 13606"/>
            </a:avLst>
          </a:prstGeom>
          <a:solidFill>
            <a:srgbClr val="D8E1E8"/>
          </a:solidFill>
          <a:ln w="12700">
            <a:solidFill>
              <a:srgbClr val="D8E1E8">
                <a:alpha val="0"/>
              </a:srgbClr>
            </a:solidFill>
            <a:prstDash val="solid"/>
          </a:ln>
        </p:spPr>
      </p:sp>
      <p:sp>
        <p:nvSpPr>
          <p:cNvPr id="77" name="Shape 75"/>
          <p:cNvSpPr/>
          <p:nvPr/>
        </p:nvSpPr>
        <p:spPr>
          <a:xfrm>
            <a:off x="7097024" y="2940710"/>
            <a:ext cx="349484" cy="583753"/>
          </a:xfrm>
          <a:prstGeom prst="roundRect">
            <a:avLst>
              <a:gd name="adj" fmla="val 2616"/>
            </a:avLst>
          </a:prstGeom>
          <a:solidFill>
            <a:srgbClr val="8796A5"/>
          </a:solidFill>
          <a:ln w="12700">
            <a:solidFill>
              <a:srgbClr val="8796A5">
                <a:alpha val="0"/>
              </a:srgbClr>
            </a:solidFill>
            <a:prstDash val="solid"/>
          </a:ln>
        </p:spPr>
      </p:sp>
      <p:sp>
        <p:nvSpPr>
          <p:cNvPr id="78" name="Shape 76"/>
          <p:cNvSpPr/>
          <p:nvPr/>
        </p:nvSpPr>
        <p:spPr>
          <a:xfrm>
            <a:off x="7177674" y="3044952"/>
            <a:ext cx="67208" cy="72969"/>
          </a:xfrm>
          <a:prstGeom prst="roundRect">
            <a:avLst>
              <a:gd name="adj" fmla="val 13606"/>
            </a:avLst>
          </a:prstGeom>
          <a:solidFill>
            <a:srgbClr val="D8E1E8"/>
          </a:solidFill>
          <a:ln w="12700">
            <a:solidFill>
              <a:srgbClr val="D8E1E8">
                <a:alpha val="0"/>
              </a:srgbClr>
            </a:solidFill>
            <a:prstDash val="solid"/>
          </a:ln>
        </p:spPr>
      </p:sp>
      <p:sp>
        <p:nvSpPr>
          <p:cNvPr id="79" name="Shape 77"/>
          <p:cNvSpPr/>
          <p:nvPr/>
        </p:nvSpPr>
        <p:spPr>
          <a:xfrm>
            <a:off x="7338974" y="3044952"/>
            <a:ext cx="67208" cy="72969"/>
          </a:xfrm>
          <a:prstGeom prst="roundRect">
            <a:avLst>
              <a:gd name="adj" fmla="val 13606"/>
            </a:avLst>
          </a:prstGeom>
          <a:solidFill>
            <a:srgbClr val="D8E1E8"/>
          </a:solidFill>
          <a:ln w="12700">
            <a:solidFill>
              <a:srgbClr val="D8E1E8">
                <a:alpha val="0"/>
              </a:srgbClr>
            </a:solidFill>
            <a:prstDash val="solid"/>
          </a:ln>
        </p:spPr>
      </p:sp>
      <p:sp>
        <p:nvSpPr>
          <p:cNvPr id="80" name="Shape 78"/>
          <p:cNvSpPr/>
          <p:nvPr/>
        </p:nvSpPr>
        <p:spPr>
          <a:xfrm>
            <a:off x="7177674" y="3253435"/>
            <a:ext cx="67208" cy="72969"/>
          </a:xfrm>
          <a:prstGeom prst="roundRect">
            <a:avLst>
              <a:gd name="adj" fmla="val 13606"/>
            </a:avLst>
          </a:prstGeom>
          <a:solidFill>
            <a:srgbClr val="D8E1E8"/>
          </a:solidFill>
          <a:ln w="12700">
            <a:solidFill>
              <a:srgbClr val="D8E1E8">
                <a:alpha val="0"/>
              </a:srgbClr>
            </a:solidFill>
            <a:prstDash val="solid"/>
          </a:ln>
        </p:spPr>
      </p:sp>
      <p:sp>
        <p:nvSpPr>
          <p:cNvPr id="81" name="Shape 79"/>
          <p:cNvSpPr/>
          <p:nvPr/>
        </p:nvSpPr>
        <p:spPr>
          <a:xfrm>
            <a:off x="7338974" y="3253435"/>
            <a:ext cx="67208" cy="72969"/>
          </a:xfrm>
          <a:prstGeom prst="roundRect">
            <a:avLst>
              <a:gd name="adj" fmla="val 13606"/>
            </a:avLst>
          </a:prstGeom>
          <a:solidFill>
            <a:srgbClr val="D8E1E8"/>
          </a:solidFill>
          <a:ln w="12700">
            <a:solidFill>
              <a:srgbClr val="D8E1E8">
                <a:alpha val="0"/>
              </a:srgbClr>
            </a:solidFill>
            <a:prstDash val="solid"/>
          </a:ln>
        </p:spPr>
      </p:sp>
      <p:sp>
        <p:nvSpPr>
          <p:cNvPr id="82" name="Shape 80"/>
          <p:cNvSpPr/>
          <p:nvPr/>
        </p:nvSpPr>
        <p:spPr>
          <a:xfrm>
            <a:off x="4928616" y="3420222"/>
            <a:ext cx="2670048" cy="1188354"/>
          </a:xfrm>
          <a:prstGeom prst="roundRect">
            <a:avLst>
              <a:gd name="adj" fmla="val 1539"/>
            </a:avLst>
          </a:prstGeom>
          <a:solidFill>
            <a:srgbClr val="657080"/>
          </a:solidFill>
          <a:ln w="12700">
            <a:solidFill>
              <a:srgbClr val="657080">
                <a:alpha val="0"/>
              </a:srgbClr>
            </a:solidFill>
            <a:prstDash val="solid"/>
          </a:ln>
        </p:spPr>
      </p:sp>
      <p:sp>
        <p:nvSpPr>
          <p:cNvPr id="83" name="Shape 81"/>
          <p:cNvSpPr/>
          <p:nvPr/>
        </p:nvSpPr>
        <p:spPr>
          <a:xfrm>
            <a:off x="5242072" y="3983126"/>
            <a:ext cx="322600" cy="37527"/>
          </a:xfrm>
          <a:prstGeom prst="roundRect">
            <a:avLst>
              <a:gd name="adj" fmla="val 24366"/>
            </a:avLst>
          </a:prstGeom>
          <a:solidFill>
            <a:srgbClr val="E9EEF4"/>
          </a:solidFill>
          <a:ln w="12700">
            <a:solidFill>
              <a:srgbClr val="E9EEF4">
                <a:alpha val="0"/>
              </a:srgbClr>
            </a:solidFill>
            <a:prstDash val="solid"/>
          </a:ln>
        </p:spPr>
      </p:sp>
      <p:sp>
        <p:nvSpPr>
          <p:cNvPr id="84" name="Shape 82"/>
          <p:cNvSpPr/>
          <p:nvPr/>
        </p:nvSpPr>
        <p:spPr>
          <a:xfrm>
            <a:off x="5860390" y="3983126"/>
            <a:ext cx="322600" cy="37527"/>
          </a:xfrm>
          <a:prstGeom prst="roundRect">
            <a:avLst>
              <a:gd name="adj" fmla="val 24366"/>
            </a:avLst>
          </a:prstGeom>
          <a:solidFill>
            <a:srgbClr val="E9EEF4"/>
          </a:solidFill>
          <a:ln w="12700">
            <a:solidFill>
              <a:srgbClr val="E9EEF4">
                <a:alpha val="0"/>
              </a:srgbClr>
            </a:solidFill>
            <a:prstDash val="solid"/>
          </a:ln>
        </p:spPr>
      </p:sp>
      <p:sp>
        <p:nvSpPr>
          <p:cNvPr id="85" name="Shape 83"/>
          <p:cNvSpPr/>
          <p:nvPr/>
        </p:nvSpPr>
        <p:spPr>
          <a:xfrm>
            <a:off x="6478707" y="3983126"/>
            <a:ext cx="322600" cy="37527"/>
          </a:xfrm>
          <a:prstGeom prst="roundRect">
            <a:avLst>
              <a:gd name="adj" fmla="val 24366"/>
            </a:avLst>
          </a:prstGeom>
          <a:solidFill>
            <a:srgbClr val="E9EEF4"/>
          </a:solidFill>
          <a:ln w="12700">
            <a:solidFill>
              <a:srgbClr val="E9EEF4">
                <a:alpha val="0"/>
              </a:srgbClr>
            </a:solidFill>
            <a:prstDash val="solid"/>
          </a:ln>
        </p:spPr>
      </p:sp>
      <p:sp>
        <p:nvSpPr>
          <p:cNvPr id="86" name="Shape 84"/>
          <p:cNvSpPr/>
          <p:nvPr/>
        </p:nvSpPr>
        <p:spPr>
          <a:xfrm>
            <a:off x="7097024" y="3983126"/>
            <a:ext cx="322600" cy="37527"/>
          </a:xfrm>
          <a:prstGeom prst="roundRect">
            <a:avLst>
              <a:gd name="adj" fmla="val 24366"/>
            </a:avLst>
          </a:prstGeom>
          <a:solidFill>
            <a:srgbClr val="E9EEF4"/>
          </a:solidFill>
          <a:ln w="12700">
            <a:solidFill>
              <a:srgbClr val="E9EEF4">
                <a:alpha val="0"/>
              </a:srgbClr>
            </a:solidFill>
            <a:prstDash val="solid"/>
          </a:ln>
        </p:spPr>
      </p:sp>
      <p:sp>
        <p:nvSpPr>
          <p:cNvPr id="87" name="Shape 85"/>
          <p:cNvSpPr/>
          <p:nvPr/>
        </p:nvSpPr>
        <p:spPr>
          <a:xfrm>
            <a:off x="6263640" y="3983126"/>
            <a:ext cx="725851" cy="354421"/>
          </a:xfrm>
          <a:prstGeom prst="ellipse">
            <a:avLst/>
          </a:prstGeom>
          <a:solidFill>
            <a:srgbClr val="202A36"/>
          </a:solidFill>
          <a:ln w="12700">
            <a:solidFill>
              <a:srgbClr val="323B48"/>
            </a:solidFill>
            <a:prstDash val="solid"/>
          </a:ln>
        </p:spPr>
      </p:sp>
      <p:sp>
        <p:nvSpPr>
          <p:cNvPr id="88" name="Shape 86"/>
          <p:cNvSpPr/>
          <p:nvPr/>
        </p:nvSpPr>
        <p:spPr>
          <a:xfrm>
            <a:off x="6290523" y="3962278"/>
            <a:ext cx="672084" cy="291876"/>
          </a:xfrm>
          <a:prstGeom prst="arc">
            <a:avLst/>
          </a:prstGeom>
          <a:solidFill>
            <a:srgbClr val="202A36">
              <a:alpha val="0"/>
            </a:srgbClr>
          </a:solidFill>
          <a:ln w="19050">
            <a:solidFill>
              <a:srgbClr val="9099A7"/>
            </a:solidFill>
            <a:prstDash val="solid"/>
          </a:ln>
        </p:spPr>
      </p:sp>
      <p:sp>
        <p:nvSpPr>
          <p:cNvPr id="89" name="Shape 87"/>
          <p:cNvSpPr/>
          <p:nvPr/>
        </p:nvSpPr>
        <p:spPr>
          <a:xfrm>
            <a:off x="6209873" y="3983126"/>
            <a:ext cx="806501" cy="312725"/>
          </a:xfrm>
          <a:prstGeom prst="roundRect">
            <a:avLst>
              <a:gd name="adj" fmla="val 35088"/>
            </a:avLst>
          </a:prstGeom>
          <a:solidFill>
            <a:srgbClr val="8D9AA5"/>
          </a:solidFill>
          <a:ln w="12700">
            <a:solidFill>
              <a:srgbClr val="8D9AA5">
                <a:alpha val="0"/>
              </a:srgbClr>
            </a:solidFill>
            <a:prstDash val="solid"/>
          </a:ln>
        </p:spPr>
      </p:sp>
      <p:sp>
        <p:nvSpPr>
          <p:cNvPr id="90" name="Shape 88"/>
          <p:cNvSpPr/>
          <p:nvPr/>
        </p:nvSpPr>
        <p:spPr>
          <a:xfrm>
            <a:off x="6263640" y="4087368"/>
            <a:ext cx="672084" cy="0"/>
          </a:xfrm>
          <a:prstGeom prst="line">
            <a:avLst/>
          </a:prstGeom>
          <a:noFill/>
          <a:ln w="12700">
            <a:solidFill>
              <a:srgbClr val="B8C2CB"/>
            </a:solidFill>
            <a:prstDash val="solid"/>
            <a:headEnd type="none"/>
            <a:tailEnd type="none"/>
          </a:ln>
        </p:spPr>
      </p:sp>
      <p:sp>
        <p:nvSpPr>
          <p:cNvPr id="91" name="Shape 89"/>
          <p:cNvSpPr/>
          <p:nvPr/>
        </p:nvSpPr>
        <p:spPr>
          <a:xfrm>
            <a:off x="7043257" y="2836469"/>
            <a:ext cx="215067" cy="215067"/>
          </a:xfrm>
          <a:prstGeom prst="ellipse">
            <a:avLst/>
          </a:prstGeom>
          <a:solidFill>
            <a:srgbClr val="FB7185"/>
          </a:solidFill>
          <a:ln w="12700">
            <a:solidFill>
              <a:srgbClr val="FFFFFF"/>
            </a:solidFill>
            <a:prstDash val="solid"/>
          </a:ln>
        </p:spPr>
      </p:sp>
      <p:sp>
        <p:nvSpPr>
          <p:cNvPr id="92" name="Shape 90"/>
          <p:cNvSpPr/>
          <p:nvPr/>
        </p:nvSpPr>
        <p:spPr>
          <a:xfrm>
            <a:off x="7110466" y="2899014"/>
            <a:ext cx="80650" cy="80650"/>
          </a:xfrm>
          <a:prstGeom prst="ellipse">
            <a:avLst/>
          </a:prstGeom>
          <a:solidFill>
            <a:srgbClr val="FFFFFF"/>
          </a:solidFill>
          <a:ln w="2540">
            <a:solidFill>
              <a:srgbClr val="FFFFFF"/>
            </a:solidFill>
            <a:prstDash val="solid"/>
          </a:ln>
        </p:spPr>
      </p:sp>
      <p:sp>
        <p:nvSpPr>
          <p:cNvPr id="93" name="Text 91"/>
          <p:cNvSpPr txBox="1"/>
          <p:nvPr/>
        </p:nvSpPr>
        <p:spPr>
          <a:xfrm>
            <a:off x="4937760" y="4791456"/>
            <a:ext cx="2651760" cy="182880"/>
          </a:xfrm>
          <a:prstGeom prst="rect">
            <a:avLst/>
          </a:prstGeom>
          <a:noFill/>
          <a:ln/>
        </p:spPr>
        <p:txBody>
          <a:bodyPr wrap="square" lIns="0" tIns="0" rIns="0" bIns="0" rtlCol="0" anchor="ctr">
            <a:normAutofit/>
          </a:bodyPr>
          <a:lstStyle/>
          <a:p>
            <a:pPr algn="l" indent="0" marL="0">
              <a:buNone/>
            </a:pPr>
            <a:r>
              <a:rPr lang="en-US" sz="1000" b="1" dirty="0">
                <a:solidFill>
                  <a:srgbClr val="FFFFFF"/>
                </a:solidFill>
                <a:latin typeface="Aptos" pitchFamily="34" charset="0"/>
                <a:ea typeface="Aptos" pitchFamily="34" charset="-122"/>
                <a:cs typeface="Aptos" pitchFamily="34" charset="-120"/>
              </a:rPr>
              <a:t>Resolution evidence</a:t>
            </a:r>
            <a:endParaRPr lang="en-US" sz="1000" dirty="0"/>
          </a:p>
        </p:txBody>
      </p:sp>
      <p:sp>
        <p:nvSpPr>
          <p:cNvPr id="94" name="Text 92"/>
          <p:cNvSpPr txBox="1"/>
          <p:nvPr/>
        </p:nvSpPr>
        <p:spPr>
          <a:xfrm>
            <a:off x="4937760" y="5020056"/>
            <a:ext cx="2651760" cy="164592"/>
          </a:xfrm>
          <a:prstGeom prst="rect">
            <a:avLst/>
          </a:prstGeom>
          <a:noFill/>
          <a:ln/>
        </p:spPr>
        <p:txBody>
          <a:bodyPr wrap="square" lIns="0" tIns="0" rIns="0" bIns="0" rtlCol="0" anchor="ctr">
            <a:normAutofit/>
          </a:bodyPr>
          <a:lstStyle/>
          <a:p>
            <a:pPr algn="l" indent="0" marL="0">
              <a:buNone/>
            </a:pPr>
            <a:r>
              <a:rPr lang="en-US" sz="850" dirty="0">
                <a:solidFill>
                  <a:srgbClr val="AAB9CB"/>
                </a:solidFill>
                <a:latin typeface="Aptos" pitchFamily="34" charset="0"/>
                <a:ea typeface="Aptos" pitchFamily="34" charset="-122"/>
                <a:cs typeface="Aptos" pitchFamily="34" charset="-120"/>
              </a:rPr>
              <a:t>Uploaded by authority (demo)</a:t>
            </a:r>
            <a:endParaRPr lang="en-US" sz="850" dirty="0"/>
          </a:p>
        </p:txBody>
      </p:sp>
      <p:sp>
        <p:nvSpPr>
          <p:cNvPr id="95" name="Shape 93"/>
          <p:cNvSpPr/>
          <p:nvPr/>
        </p:nvSpPr>
        <p:spPr>
          <a:xfrm>
            <a:off x="8183880" y="1856232"/>
            <a:ext cx="3337560" cy="3383280"/>
          </a:xfrm>
          <a:prstGeom prst="roundRect">
            <a:avLst>
              <a:gd name="adj" fmla="val 4110"/>
            </a:avLst>
          </a:prstGeom>
          <a:solidFill>
            <a:srgbClr val="111C2E"/>
          </a:solidFill>
          <a:ln w="12700">
            <a:solidFill>
              <a:srgbClr val="17263A"/>
            </a:solidFill>
            <a:prstDash val="solid"/>
          </a:ln>
        </p:spPr>
      </p:sp>
      <p:sp>
        <p:nvSpPr>
          <p:cNvPr id="96" name="Text 94"/>
          <p:cNvSpPr txBox="1"/>
          <p:nvPr/>
        </p:nvSpPr>
        <p:spPr>
          <a:xfrm>
            <a:off x="8458200" y="2139696"/>
            <a:ext cx="2770632" cy="182880"/>
          </a:xfrm>
          <a:prstGeom prst="rect">
            <a:avLst/>
          </a:prstGeom>
          <a:noFill/>
          <a:ln/>
        </p:spPr>
        <p:txBody>
          <a:bodyPr wrap="square" lIns="0" tIns="0" rIns="0" bIns="0" rtlCol="0" anchor="ctr">
            <a:normAutofit/>
          </a:bodyPr>
          <a:lstStyle/>
          <a:p>
            <a:pPr algn="l" indent="0" marL="0">
              <a:buNone/>
            </a:pPr>
            <a:r>
              <a:rPr lang="en-US" sz="1000" b="1" spc="70" kern="0" dirty="0">
                <a:solidFill>
                  <a:srgbClr val="2DD4BF"/>
                </a:solidFill>
                <a:latin typeface="Aptos" pitchFamily="34" charset="0"/>
                <a:ea typeface="Aptos" pitchFamily="34" charset="-122"/>
                <a:cs typeface="Aptos" pitchFamily="34" charset="-120"/>
              </a:rPr>
              <a:t>TWO DISTINCT STATES</a:t>
            </a:r>
            <a:endParaRPr lang="en-US" sz="1000" dirty="0"/>
          </a:p>
        </p:txBody>
      </p:sp>
      <p:sp>
        <p:nvSpPr>
          <p:cNvPr id="97" name="Text 95"/>
          <p:cNvSpPr txBox="1"/>
          <p:nvPr/>
        </p:nvSpPr>
        <p:spPr>
          <a:xfrm>
            <a:off x="8458200" y="2615184"/>
            <a:ext cx="2560320" cy="164592"/>
          </a:xfrm>
          <a:prstGeom prst="rect">
            <a:avLst/>
          </a:prstGeom>
          <a:noFill/>
          <a:ln/>
        </p:spPr>
        <p:txBody>
          <a:bodyPr wrap="square" lIns="0" tIns="0" rIns="0" bIns="0" rtlCol="0" anchor="ctr">
            <a:normAutofit/>
          </a:bodyPr>
          <a:lstStyle/>
          <a:p>
            <a:pPr algn="l" indent="0" marL="0">
              <a:buNone/>
            </a:pPr>
            <a:r>
              <a:rPr lang="en-US" sz="900" dirty="0">
                <a:solidFill>
                  <a:srgbClr val="AEBCCD"/>
                </a:solidFill>
                <a:latin typeface="Aptos" pitchFamily="34" charset="0"/>
                <a:ea typeface="Aptos" pitchFamily="34" charset="-122"/>
                <a:cs typeface="Aptos" pitchFamily="34" charset="-120"/>
              </a:rPr>
              <a:t>Government status</a:t>
            </a:r>
            <a:endParaRPr lang="en-US" sz="900" dirty="0"/>
          </a:p>
        </p:txBody>
      </p:sp>
      <p:sp>
        <p:nvSpPr>
          <p:cNvPr id="98" name="Shape 96"/>
          <p:cNvSpPr/>
          <p:nvPr/>
        </p:nvSpPr>
        <p:spPr>
          <a:xfrm>
            <a:off x="8458200" y="2862072"/>
            <a:ext cx="987552" cy="274320"/>
          </a:xfrm>
          <a:prstGeom prst="roundRect">
            <a:avLst>
              <a:gd name="adj" fmla="val 40000"/>
            </a:avLst>
          </a:prstGeom>
          <a:solidFill>
            <a:srgbClr val="D1FAE5"/>
          </a:solidFill>
          <a:ln w="12700">
            <a:solidFill>
              <a:srgbClr val="D1FAE5">
                <a:alpha val="0"/>
              </a:srgbClr>
            </a:solidFill>
            <a:prstDash val="solid"/>
          </a:ln>
        </p:spPr>
      </p:sp>
      <p:sp>
        <p:nvSpPr>
          <p:cNvPr id="99" name="Text 97"/>
          <p:cNvSpPr txBox="1"/>
          <p:nvPr/>
        </p:nvSpPr>
        <p:spPr>
          <a:xfrm>
            <a:off x="8531352" y="2880360"/>
            <a:ext cx="841248" cy="228600"/>
          </a:xfrm>
          <a:prstGeom prst="rect">
            <a:avLst/>
          </a:prstGeom>
          <a:noFill/>
          <a:ln/>
        </p:spPr>
        <p:txBody>
          <a:bodyPr wrap="square" lIns="0" tIns="0" rIns="0" bIns="0" rtlCol="0" anchor="ctr">
            <a:normAutofit/>
          </a:bodyPr>
          <a:lstStyle/>
          <a:p>
            <a:pPr algn="ctr" indent="0" marL="0">
              <a:buNone/>
            </a:pPr>
            <a:r>
              <a:rPr lang="en-US" sz="850" b="1" dirty="0">
                <a:solidFill>
                  <a:srgbClr val="065F46"/>
                </a:solidFill>
                <a:latin typeface="Aptos" pitchFamily="34" charset="0"/>
                <a:ea typeface="Aptos" pitchFamily="34" charset="-122"/>
                <a:cs typeface="Aptos" pitchFamily="34" charset="-120"/>
              </a:rPr>
              <a:t>RESOLVED</a:t>
            </a:r>
            <a:endParaRPr lang="en-US" sz="850" dirty="0"/>
          </a:p>
        </p:txBody>
      </p:sp>
      <p:sp>
        <p:nvSpPr>
          <p:cNvPr id="100" name="Shape 98"/>
          <p:cNvSpPr/>
          <p:nvPr/>
        </p:nvSpPr>
        <p:spPr>
          <a:xfrm>
            <a:off x="8458200" y="3364992"/>
            <a:ext cx="2752344" cy="0"/>
          </a:xfrm>
          <a:prstGeom prst="line">
            <a:avLst/>
          </a:prstGeom>
          <a:noFill/>
          <a:ln w="10160">
            <a:solidFill>
              <a:srgbClr val="35465C"/>
            </a:solidFill>
            <a:prstDash val="solid"/>
            <a:headEnd type="none"/>
            <a:tailEnd type="none"/>
          </a:ln>
        </p:spPr>
      </p:sp>
      <p:sp>
        <p:nvSpPr>
          <p:cNvPr id="101" name="Text 99"/>
          <p:cNvSpPr txBox="1"/>
          <p:nvPr/>
        </p:nvSpPr>
        <p:spPr>
          <a:xfrm>
            <a:off x="8458200" y="3584448"/>
            <a:ext cx="2560320" cy="164592"/>
          </a:xfrm>
          <a:prstGeom prst="rect">
            <a:avLst/>
          </a:prstGeom>
          <a:noFill/>
          <a:ln/>
        </p:spPr>
        <p:txBody>
          <a:bodyPr wrap="square" lIns="0" tIns="0" rIns="0" bIns="0" rtlCol="0" anchor="ctr">
            <a:normAutofit/>
          </a:bodyPr>
          <a:lstStyle/>
          <a:p>
            <a:pPr algn="l" indent="0" marL="0">
              <a:buNone/>
            </a:pPr>
            <a:r>
              <a:rPr lang="en-US" sz="900" dirty="0">
                <a:solidFill>
                  <a:srgbClr val="AEBCCD"/>
                </a:solidFill>
                <a:latin typeface="Aptos" pitchFamily="34" charset="0"/>
                <a:ea typeface="Aptos" pitchFamily="34" charset="-122"/>
                <a:cs typeface="Aptos" pitchFamily="34" charset="-120"/>
              </a:rPr>
              <a:t>AI evidence assessment</a:t>
            </a:r>
            <a:endParaRPr lang="en-US" sz="900" dirty="0"/>
          </a:p>
        </p:txBody>
      </p:sp>
      <p:sp>
        <p:nvSpPr>
          <p:cNvPr id="102" name="Text 100"/>
          <p:cNvSpPr txBox="1"/>
          <p:nvPr/>
        </p:nvSpPr>
        <p:spPr>
          <a:xfrm>
            <a:off x="8458200" y="3867912"/>
            <a:ext cx="2615184" cy="283464"/>
          </a:xfrm>
          <a:prstGeom prst="rect">
            <a:avLst/>
          </a:prstGeom>
          <a:noFill/>
          <a:ln/>
        </p:spPr>
        <p:txBody>
          <a:bodyPr wrap="square" lIns="0" tIns="0" rIns="0" bIns="0" rtlCol="0" anchor="ctr">
            <a:normAutofit/>
          </a:bodyPr>
          <a:lstStyle/>
          <a:p>
            <a:pPr algn="l" indent="0" marL="0">
              <a:buNone/>
            </a:pPr>
            <a:r>
              <a:rPr lang="en-US" sz="1800" b="1" dirty="0">
                <a:solidFill>
                  <a:srgbClr val="D5FF74"/>
                </a:solidFill>
                <a:latin typeface="Aptos" pitchFamily="34" charset="0"/>
                <a:ea typeface="Aptos" pitchFamily="34" charset="-122"/>
                <a:cs typeface="Aptos" pitchFamily="34" charset="-120"/>
              </a:rPr>
              <a:t>Appears resolved</a:t>
            </a:r>
            <a:endParaRPr lang="en-US" sz="1800" dirty="0"/>
          </a:p>
        </p:txBody>
      </p:sp>
      <p:sp>
        <p:nvSpPr>
          <p:cNvPr id="103" name="Text 101"/>
          <p:cNvSpPr txBox="1"/>
          <p:nvPr/>
        </p:nvSpPr>
        <p:spPr>
          <a:xfrm>
            <a:off x="8458200" y="4288536"/>
            <a:ext cx="2606040" cy="182880"/>
          </a:xfrm>
          <a:prstGeom prst="rect">
            <a:avLst/>
          </a:prstGeom>
          <a:noFill/>
          <a:ln/>
        </p:spPr>
        <p:txBody>
          <a:bodyPr wrap="square" lIns="0" tIns="0" rIns="0" bIns="0" rtlCol="0" anchor="ctr">
            <a:normAutofit/>
          </a:bodyPr>
          <a:lstStyle/>
          <a:p>
            <a:pPr algn="l" indent="0" marL="0">
              <a:buNone/>
            </a:pPr>
            <a:r>
              <a:rPr lang="en-US" sz="1000" b="1" dirty="0">
                <a:solidFill>
                  <a:srgbClr val="FFFFFF"/>
                </a:solidFill>
                <a:latin typeface="Aptos" pitchFamily="34" charset="0"/>
                <a:ea typeface="Aptos" pitchFamily="34" charset="-122"/>
                <a:cs typeface="Aptos" pitchFamily="34" charset="-120"/>
              </a:rPr>
              <a:t>Illustrative confidence: 94%</a:t>
            </a:r>
            <a:endParaRPr lang="en-US" sz="1000" dirty="0"/>
          </a:p>
        </p:txBody>
      </p:sp>
      <p:sp>
        <p:nvSpPr>
          <p:cNvPr id="104" name="Text 102"/>
          <p:cNvSpPr txBox="1"/>
          <p:nvPr/>
        </p:nvSpPr>
        <p:spPr>
          <a:xfrm>
            <a:off x="8458200" y="4672584"/>
            <a:ext cx="2651760" cy="164592"/>
          </a:xfrm>
          <a:prstGeom prst="rect">
            <a:avLst/>
          </a:prstGeom>
          <a:noFill/>
          <a:ln/>
        </p:spPr>
        <p:txBody>
          <a:bodyPr wrap="square" lIns="0" tIns="0" rIns="0" bIns="0" rtlCol="0" anchor="ctr">
            <a:normAutofit/>
          </a:bodyPr>
          <a:lstStyle/>
          <a:p>
            <a:pPr algn="l" indent="0" marL="0">
              <a:buNone/>
            </a:pPr>
            <a:r>
              <a:rPr lang="en-US" sz="850" dirty="0">
                <a:solidFill>
                  <a:srgbClr val="FFC66D"/>
                </a:solidFill>
                <a:latin typeface="Aptos" pitchFamily="34" charset="0"/>
                <a:ea typeface="Aptos" pitchFamily="34" charset="-122"/>
                <a:cs typeface="Aptos" pitchFamily="34" charset="-120"/>
              </a:rPr>
              <a:t>If photos are unclear → UNCERTAIN</a:t>
            </a:r>
            <a:endParaRPr lang="en-US" sz="850" dirty="0"/>
          </a:p>
        </p:txBody>
      </p:sp>
      <p:sp>
        <p:nvSpPr>
          <p:cNvPr id="105" name="Shape 103"/>
          <p:cNvSpPr/>
          <p:nvPr/>
        </p:nvSpPr>
        <p:spPr>
          <a:xfrm>
            <a:off x="676656" y="5596128"/>
            <a:ext cx="10817352" cy="429768"/>
          </a:xfrm>
          <a:prstGeom prst="roundRect">
            <a:avLst>
              <a:gd name="adj" fmla="val 21277"/>
            </a:avLst>
          </a:prstGeom>
          <a:solidFill>
            <a:srgbClr val="111F32"/>
          </a:solidFill>
          <a:ln w="12700">
            <a:solidFill>
              <a:srgbClr val="27394F"/>
            </a:solidFill>
            <a:prstDash val="solid"/>
          </a:ln>
        </p:spPr>
      </p:sp>
      <p:sp>
        <p:nvSpPr>
          <p:cNvPr id="106" name="Text 104"/>
          <p:cNvSpPr txBox="1"/>
          <p:nvPr/>
        </p:nvSpPr>
        <p:spPr>
          <a:xfrm>
            <a:off x="941832" y="5715000"/>
            <a:ext cx="10287000" cy="164592"/>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latin typeface="Aptos" pitchFamily="34" charset="0"/>
                <a:ea typeface="Aptos" pitchFamily="34" charset="-122"/>
                <a:cs typeface="Aptos" pitchFamily="34" charset="-120"/>
              </a:rPr>
              <a:t>Evidence loop: original photo  +  authority photo  +  comparison  +  transparent status</a:t>
            </a:r>
            <a:endParaRPr lang="en-US" sz="1100" dirty="0"/>
          </a:p>
        </p:txBody>
      </p:sp>
      <p:sp>
        <p:nvSpPr>
          <p:cNvPr id="107" name="Shape 105"/>
          <p:cNvSpPr/>
          <p:nvPr/>
        </p:nvSpPr>
        <p:spPr>
          <a:xfrm>
            <a:off x="566928" y="6510528"/>
            <a:ext cx="11064240" cy="0"/>
          </a:xfrm>
          <a:prstGeom prst="line">
            <a:avLst/>
          </a:prstGeom>
          <a:noFill/>
          <a:ln w="8890">
            <a:solidFill>
              <a:srgbClr val="243248"/>
            </a:solidFill>
            <a:prstDash val="solid"/>
            <a:headEnd type="none"/>
            <a:tailEnd type="none"/>
          </a:ln>
        </p:spPr>
      </p:sp>
      <p:sp>
        <p:nvSpPr>
          <p:cNvPr id="108" name="Text 106"/>
          <p:cNvSpPr txBox="1"/>
          <p:nvPr/>
        </p:nvSpPr>
        <p:spPr>
          <a:xfrm>
            <a:off x="585216" y="6556248"/>
            <a:ext cx="5120640" cy="137160"/>
          </a:xfrm>
          <a:prstGeom prst="rect">
            <a:avLst/>
          </a:prstGeom>
          <a:noFill/>
          <a:ln/>
        </p:spPr>
        <p:txBody>
          <a:bodyPr wrap="square" lIns="0" tIns="0" rIns="0" bIns="0" rtlCol="0" anchor="ctr">
            <a:normAutofit/>
          </a:bodyPr>
          <a:lstStyle/>
          <a:p>
            <a:pPr algn="l" indent="0" marL="0">
              <a:buNone/>
            </a:pPr>
            <a:r>
              <a:rPr lang="en-US" sz="700" b="1" spc="50" kern="0" dirty="0">
                <a:solidFill>
                  <a:srgbClr val="6E8097"/>
                </a:solidFill>
                <a:latin typeface="Aptos" pitchFamily="34" charset="0"/>
                <a:ea typeface="Aptos" pitchFamily="34" charset="-122"/>
                <a:cs typeface="Aptos" pitchFamily="34" charset="-120"/>
              </a:rPr>
              <a:t>CIVICFIX AI  •  CONCEPT / PROTOTYPE PITCH</a:t>
            </a:r>
            <a:endParaRPr lang="en-US" sz="700" dirty="0"/>
          </a:p>
        </p:txBody>
      </p:sp>
      <p:sp>
        <p:nvSpPr>
          <p:cNvPr id="109" name="Text 107"/>
          <p:cNvSpPr txBox="1"/>
          <p:nvPr/>
        </p:nvSpPr>
        <p:spPr>
          <a:xfrm>
            <a:off x="11064240" y="6547104"/>
            <a:ext cx="502920" cy="146304"/>
          </a:xfrm>
          <a:prstGeom prst="rect">
            <a:avLst/>
          </a:prstGeom>
          <a:noFill/>
          <a:ln/>
        </p:spPr>
        <p:txBody>
          <a:bodyPr wrap="square" lIns="0" tIns="0" rIns="0" bIns="0" rtlCol="0" anchor="ctr">
            <a:normAutofit/>
          </a:bodyPr>
          <a:lstStyle/>
          <a:p>
            <a:pPr algn="r" indent="0" marL="0">
              <a:buNone/>
            </a:pPr>
            <a:r>
              <a:rPr lang="en-US" sz="800" b="1" dirty="0">
                <a:solidFill>
                  <a:srgbClr val="6E8097"/>
                </a:solidFill>
                <a:latin typeface="Aptos" pitchFamily="34" charset="0"/>
                <a:ea typeface="Aptos" pitchFamily="34" charset="-122"/>
                <a:cs typeface="Aptos" pitchFamily="34" charset="-120"/>
              </a:rPr>
              <a:t>09</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5F7FA"/>
          </a:solidFill>
          <a:ln w="12700">
            <a:solidFill>
              <a:srgbClr val="F5F7FA">
                <a:alpha val="0"/>
              </a:srgbClr>
            </a:solidFill>
            <a:prstDash val="solid"/>
          </a:ln>
        </p:spPr>
      </p:sp>
      <p:sp>
        <p:nvSpPr>
          <p:cNvPr id="3" name="Shape 1"/>
          <p:cNvSpPr/>
          <p:nvPr/>
        </p:nvSpPr>
        <p:spPr>
          <a:xfrm>
            <a:off x="566928" y="384048"/>
            <a:ext cx="1417320" cy="274320"/>
          </a:xfrm>
          <a:prstGeom prst="roundRect">
            <a:avLst>
              <a:gd name="adj" fmla="val 36667"/>
            </a:avLst>
          </a:prstGeom>
          <a:solidFill>
            <a:srgbClr val="FFFFFF"/>
          </a:solidFill>
          <a:ln w="12700">
            <a:solidFill>
              <a:srgbClr val="DCE3EA"/>
            </a:solidFill>
            <a:prstDash val="solid"/>
          </a:ln>
        </p:spPr>
      </p:sp>
      <p:sp>
        <p:nvSpPr>
          <p:cNvPr id="4" name="Shape 2"/>
          <p:cNvSpPr/>
          <p:nvPr/>
        </p:nvSpPr>
        <p:spPr>
          <a:xfrm>
            <a:off x="658368" y="480060"/>
            <a:ext cx="82296" cy="82296"/>
          </a:xfrm>
          <a:prstGeom prst="ellipse">
            <a:avLst/>
          </a:prstGeom>
          <a:solidFill>
            <a:srgbClr val="2DD4BF"/>
          </a:solidFill>
          <a:ln w="12700">
            <a:solidFill>
              <a:srgbClr val="2DD4BF"/>
            </a:solidFill>
            <a:prstDash val="solid"/>
          </a:ln>
        </p:spPr>
      </p:sp>
      <p:sp>
        <p:nvSpPr>
          <p:cNvPr id="5" name="Text 3"/>
          <p:cNvSpPr txBox="1"/>
          <p:nvPr/>
        </p:nvSpPr>
        <p:spPr>
          <a:xfrm>
            <a:off x="795528" y="402336"/>
            <a:ext cx="1133856" cy="219456"/>
          </a:xfrm>
          <a:prstGeom prst="rect">
            <a:avLst/>
          </a:prstGeom>
          <a:noFill/>
          <a:ln/>
        </p:spPr>
        <p:txBody>
          <a:bodyPr wrap="square" lIns="0" tIns="0" rIns="0" bIns="0" rtlCol="0" anchor="ctr">
            <a:normAutofit/>
          </a:bodyPr>
          <a:lstStyle/>
          <a:p>
            <a:pPr algn="l" indent="0" marL="0">
              <a:buNone/>
            </a:pPr>
            <a:r>
              <a:rPr lang="en-US" sz="850" b="1" spc="50" kern="0" dirty="0">
                <a:solidFill>
                  <a:srgbClr val="526176"/>
                </a:solidFill>
                <a:latin typeface="Aptos" pitchFamily="34" charset="0"/>
                <a:ea typeface="Aptos" pitchFamily="34" charset="-122"/>
                <a:cs typeface="Aptos" pitchFamily="34" charset="-120"/>
              </a:rPr>
              <a:t>CIVICFIX AI  /  09</a:t>
            </a:r>
            <a:endParaRPr lang="en-US" sz="850" dirty="0"/>
          </a:p>
        </p:txBody>
      </p:sp>
      <p:sp>
        <p:nvSpPr>
          <p:cNvPr id="6" name="Text 4"/>
          <p:cNvSpPr txBox="1"/>
          <p:nvPr/>
        </p:nvSpPr>
        <p:spPr>
          <a:xfrm>
            <a:off x="566928" y="804672"/>
            <a:ext cx="10972800" cy="475488"/>
          </a:xfrm>
          <a:prstGeom prst="rect">
            <a:avLst/>
          </a:prstGeom>
          <a:noFill/>
          <a:ln/>
        </p:spPr>
        <p:txBody>
          <a:bodyPr wrap="square" lIns="0" tIns="0" rIns="0" bIns="0" rtlCol="0" anchor="ctr">
            <a:normAutofit/>
          </a:bodyPr>
          <a:lstStyle/>
          <a:p>
            <a:pPr algn="l" indent="0" marL="0">
              <a:buNone/>
            </a:pPr>
            <a:r>
              <a:rPr lang="en-US" sz="2700" b="1" dirty="0">
                <a:solidFill>
                  <a:srgbClr val="132033"/>
                </a:solidFill>
                <a:latin typeface="Aptos Display" pitchFamily="34" charset="0"/>
                <a:ea typeface="Aptos Display" pitchFamily="34" charset="-122"/>
                <a:cs typeface="Aptos Display" pitchFamily="34" charset="-120"/>
              </a:rPr>
              <a:t>The AI is the intelligence layer—not a decoration.</a:t>
            </a:r>
            <a:endParaRPr lang="en-US" sz="2700" dirty="0"/>
          </a:p>
        </p:txBody>
      </p:sp>
      <p:sp>
        <p:nvSpPr>
          <p:cNvPr id="7" name="Text 5"/>
          <p:cNvSpPr txBox="1"/>
          <p:nvPr/>
        </p:nvSpPr>
        <p:spPr>
          <a:xfrm>
            <a:off x="585216" y="1335024"/>
            <a:ext cx="10881360" cy="347472"/>
          </a:xfrm>
          <a:prstGeom prst="rect">
            <a:avLst/>
          </a:prstGeom>
          <a:noFill/>
          <a:ln/>
        </p:spPr>
        <p:txBody>
          <a:bodyPr wrap="square" lIns="0" tIns="0" rIns="0" bIns="0" rtlCol="0" anchor="ctr">
            <a:normAutofit/>
          </a:bodyPr>
          <a:lstStyle/>
          <a:p>
            <a:pPr algn="l" indent="0" marL="0">
              <a:buNone/>
            </a:pPr>
            <a:r>
              <a:rPr lang="en-US" sz="1200" dirty="0">
                <a:solidFill>
                  <a:srgbClr val="526176"/>
                </a:solidFill>
                <a:latin typeface="Aptos" pitchFamily="34" charset="0"/>
                <a:ea typeface="Aptos" pitchFamily="34" charset="-122"/>
                <a:cs typeface="Aptos" pitchFamily="34" charset="-120"/>
              </a:rPr>
              <a:t>A modular design keeps the model, issue workflow, mapping and storage separable.</a:t>
            </a:r>
            <a:endParaRPr lang="en-US" sz="1200" dirty="0"/>
          </a:p>
        </p:txBody>
      </p:sp>
      <p:sp>
        <p:nvSpPr>
          <p:cNvPr id="8" name="Shape 6"/>
          <p:cNvSpPr/>
          <p:nvPr/>
        </p:nvSpPr>
        <p:spPr>
          <a:xfrm>
            <a:off x="713232" y="2029968"/>
            <a:ext cx="2331720" cy="768096"/>
          </a:xfrm>
          <a:prstGeom prst="roundRect">
            <a:avLst>
              <a:gd name="adj" fmla="val 17857"/>
            </a:avLst>
          </a:prstGeom>
          <a:solidFill>
            <a:srgbClr val="E0F2FE"/>
          </a:solidFill>
          <a:ln w="12700">
            <a:solidFill>
              <a:srgbClr val="DCE3EA"/>
            </a:solidFill>
            <a:prstDash val="solid"/>
          </a:ln>
        </p:spPr>
      </p:sp>
      <p:sp>
        <p:nvSpPr>
          <p:cNvPr id="9" name="Text 7"/>
          <p:cNvSpPr txBox="1"/>
          <p:nvPr/>
        </p:nvSpPr>
        <p:spPr>
          <a:xfrm>
            <a:off x="877824" y="2167128"/>
            <a:ext cx="2011680" cy="201168"/>
          </a:xfrm>
          <a:prstGeom prst="rect">
            <a:avLst/>
          </a:prstGeom>
          <a:noFill/>
          <a:ln/>
        </p:spPr>
        <p:txBody>
          <a:bodyPr wrap="square" lIns="0" tIns="0" rIns="0" bIns="0" rtlCol="0" anchor="ctr">
            <a:normAutofit/>
          </a:bodyPr>
          <a:lstStyle/>
          <a:p>
            <a:pPr algn="l" indent="0" marL="0">
              <a:buNone/>
            </a:pPr>
            <a:r>
              <a:rPr lang="en-US" sz="1300" b="1" dirty="0">
                <a:solidFill>
                  <a:srgbClr val="075985"/>
                </a:solidFill>
                <a:latin typeface="Aptos" pitchFamily="34" charset="0"/>
                <a:ea typeface="Aptos" pitchFamily="34" charset="-122"/>
                <a:cs typeface="Aptos" pitchFamily="34" charset="-120"/>
              </a:rPr>
              <a:t>Citizen UI</a:t>
            </a:r>
            <a:endParaRPr lang="en-US" sz="1300" dirty="0"/>
          </a:p>
        </p:txBody>
      </p:sp>
      <p:sp>
        <p:nvSpPr>
          <p:cNvPr id="10" name="Text 8"/>
          <p:cNvSpPr txBox="1"/>
          <p:nvPr/>
        </p:nvSpPr>
        <p:spPr>
          <a:xfrm>
            <a:off x="877824" y="2441448"/>
            <a:ext cx="2011680" cy="164592"/>
          </a:xfrm>
          <a:prstGeom prst="rect">
            <a:avLst/>
          </a:prstGeom>
          <a:noFill/>
          <a:ln/>
        </p:spPr>
        <p:txBody>
          <a:bodyPr wrap="square" lIns="0" tIns="0" rIns="0" bIns="0" rtlCol="0" anchor="ctr">
            <a:normAutofit/>
          </a:bodyPr>
          <a:lstStyle/>
          <a:p>
            <a:pPr algn="l" indent="0" marL="0">
              <a:buNone/>
            </a:pPr>
            <a:r>
              <a:rPr lang="en-US" sz="850" dirty="0">
                <a:solidFill>
                  <a:srgbClr val="526176"/>
                </a:solidFill>
                <a:latin typeface="Aptos" pitchFamily="34" charset="0"/>
                <a:ea typeface="Aptos" pitchFamily="34" charset="-122"/>
                <a:cs typeface="Aptos" pitchFamily="34" charset="-120"/>
              </a:rPr>
              <a:t>React + TypeScript</a:t>
            </a:r>
            <a:endParaRPr lang="en-US" sz="850" dirty="0"/>
          </a:p>
        </p:txBody>
      </p:sp>
      <p:sp>
        <p:nvSpPr>
          <p:cNvPr id="11" name="Shape 9"/>
          <p:cNvSpPr/>
          <p:nvPr/>
        </p:nvSpPr>
        <p:spPr>
          <a:xfrm>
            <a:off x="713232" y="3081528"/>
            <a:ext cx="2331720" cy="768096"/>
          </a:xfrm>
          <a:prstGeom prst="roundRect">
            <a:avLst>
              <a:gd name="adj" fmla="val 17857"/>
            </a:avLst>
          </a:prstGeom>
          <a:solidFill>
            <a:srgbClr val="DDFBF5"/>
          </a:solidFill>
          <a:ln w="12700">
            <a:solidFill>
              <a:srgbClr val="DCE3EA"/>
            </a:solidFill>
            <a:prstDash val="solid"/>
          </a:ln>
        </p:spPr>
      </p:sp>
      <p:sp>
        <p:nvSpPr>
          <p:cNvPr id="12" name="Text 10"/>
          <p:cNvSpPr txBox="1"/>
          <p:nvPr/>
        </p:nvSpPr>
        <p:spPr>
          <a:xfrm>
            <a:off x="877824" y="3218688"/>
            <a:ext cx="2011680" cy="201168"/>
          </a:xfrm>
          <a:prstGeom prst="rect">
            <a:avLst/>
          </a:prstGeom>
          <a:noFill/>
          <a:ln/>
        </p:spPr>
        <p:txBody>
          <a:bodyPr wrap="square" lIns="0" tIns="0" rIns="0" bIns="0" rtlCol="0" anchor="ctr">
            <a:normAutofit/>
          </a:bodyPr>
          <a:lstStyle/>
          <a:p>
            <a:pPr algn="l" indent="0" marL="0">
              <a:buNone/>
            </a:pPr>
            <a:r>
              <a:rPr lang="en-US" sz="1300" b="1" dirty="0">
                <a:solidFill>
                  <a:srgbClr val="0F766E"/>
                </a:solidFill>
                <a:latin typeface="Aptos" pitchFamily="34" charset="0"/>
                <a:ea typeface="Aptos" pitchFamily="34" charset="-122"/>
                <a:cs typeface="Aptos" pitchFamily="34" charset="-120"/>
              </a:rPr>
              <a:t>Issue API</a:t>
            </a:r>
            <a:endParaRPr lang="en-US" sz="1300" dirty="0"/>
          </a:p>
        </p:txBody>
      </p:sp>
      <p:sp>
        <p:nvSpPr>
          <p:cNvPr id="13" name="Text 11"/>
          <p:cNvSpPr txBox="1"/>
          <p:nvPr/>
        </p:nvSpPr>
        <p:spPr>
          <a:xfrm>
            <a:off x="877824" y="3493008"/>
            <a:ext cx="2011680" cy="164592"/>
          </a:xfrm>
          <a:prstGeom prst="rect">
            <a:avLst/>
          </a:prstGeom>
          <a:noFill/>
          <a:ln/>
        </p:spPr>
        <p:txBody>
          <a:bodyPr wrap="square" lIns="0" tIns="0" rIns="0" bIns="0" rtlCol="0" anchor="ctr">
            <a:normAutofit/>
          </a:bodyPr>
          <a:lstStyle/>
          <a:p>
            <a:pPr algn="l" indent="0" marL="0">
              <a:buNone/>
            </a:pPr>
            <a:r>
              <a:rPr lang="en-US" sz="850" dirty="0">
                <a:solidFill>
                  <a:srgbClr val="526176"/>
                </a:solidFill>
                <a:latin typeface="Aptos" pitchFamily="34" charset="0"/>
                <a:ea typeface="Aptos" pitchFamily="34" charset="-122"/>
                <a:cs typeface="Aptos" pitchFamily="34" charset="-120"/>
              </a:rPr>
              <a:t>REST endpoints</a:t>
            </a:r>
            <a:endParaRPr lang="en-US" sz="850" dirty="0"/>
          </a:p>
        </p:txBody>
      </p:sp>
      <p:sp>
        <p:nvSpPr>
          <p:cNvPr id="14" name="Shape 12"/>
          <p:cNvSpPr/>
          <p:nvPr/>
        </p:nvSpPr>
        <p:spPr>
          <a:xfrm>
            <a:off x="713232" y="4133088"/>
            <a:ext cx="2331720" cy="768096"/>
          </a:xfrm>
          <a:prstGeom prst="roundRect">
            <a:avLst>
              <a:gd name="adj" fmla="val 17857"/>
            </a:avLst>
          </a:prstGeom>
          <a:solidFill>
            <a:srgbClr val="F2FBD9"/>
          </a:solidFill>
          <a:ln w="12700">
            <a:solidFill>
              <a:srgbClr val="DCE3EA"/>
            </a:solidFill>
            <a:prstDash val="solid"/>
          </a:ln>
        </p:spPr>
      </p:sp>
      <p:sp>
        <p:nvSpPr>
          <p:cNvPr id="15" name="Text 13"/>
          <p:cNvSpPr txBox="1"/>
          <p:nvPr/>
        </p:nvSpPr>
        <p:spPr>
          <a:xfrm>
            <a:off x="877824" y="4270248"/>
            <a:ext cx="2011680" cy="201168"/>
          </a:xfrm>
          <a:prstGeom prst="rect">
            <a:avLst/>
          </a:prstGeom>
          <a:noFill/>
          <a:ln/>
        </p:spPr>
        <p:txBody>
          <a:bodyPr wrap="square" lIns="0" tIns="0" rIns="0" bIns="0" rtlCol="0" anchor="ctr">
            <a:normAutofit/>
          </a:bodyPr>
          <a:lstStyle/>
          <a:p>
            <a:pPr algn="l" indent="0" marL="0">
              <a:buNone/>
            </a:pPr>
            <a:r>
              <a:rPr lang="en-US" sz="1300" b="1" dirty="0">
                <a:solidFill>
                  <a:srgbClr val="567A0A"/>
                </a:solidFill>
                <a:latin typeface="Aptos" pitchFamily="34" charset="0"/>
                <a:ea typeface="Aptos" pitchFamily="34" charset="-122"/>
                <a:cs typeface="Aptos" pitchFamily="34" charset="-120"/>
              </a:rPr>
              <a:t>Issue store</a:t>
            </a:r>
            <a:endParaRPr lang="en-US" sz="1300" dirty="0"/>
          </a:p>
        </p:txBody>
      </p:sp>
      <p:sp>
        <p:nvSpPr>
          <p:cNvPr id="16" name="Text 14"/>
          <p:cNvSpPr txBox="1"/>
          <p:nvPr/>
        </p:nvSpPr>
        <p:spPr>
          <a:xfrm>
            <a:off x="877824" y="4544568"/>
            <a:ext cx="2011680" cy="164592"/>
          </a:xfrm>
          <a:prstGeom prst="rect">
            <a:avLst/>
          </a:prstGeom>
          <a:noFill/>
          <a:ln/>
        </p:spPr>
        <p:txBody>
          <a:bodyPr wrap="square" lIns="0" tIns="0" rIns="0" bIns="0" rtlCol="0" anchor="ctr">
            <a:normAutofit/>
          </a:bodyPr>
          <a:lstStyle/>
          <a:p>
            <a:pPr algn="l" indent="0" marL="0">
              <a:buNone/>
            </a:pPr>
            <a:r>
              <a:rPr lang="en-US" sz="850" dirty="0">
                <a:solidFill>
                  <a:srgbClr val="526176"/>
                </a:solidFill>
                <a:latin typeface="Aptos" pitchFamily="34" charset="0"/>
                <a:ea typeface="Aptos" pitchFamily="34" charset="-122"/>
                <a:cs typeface="Aptos" pitchFamily="34" charset="-120"/>
              </a:rPr>
              <a:t>Reports + evidence + status</a:t>
            </a:r>
            <a:endParaRPr lang="en-US" sz="850" dirty="0"/>
          </a:p>
        </p:txBody>
      </p:sp>
      <p:sp>
        <p:nvSpPr>
          <p:cNvPr id="17" name="Shape 15"/>
          <p:cNvSpPr/>
          <p:nvPr/>
        </p:nvSpPr>
        <p:spPr>
          <a:xfrm>
            <a:off x="3044952" y="2395728"/>
            <a:ext cx="676656" cy="0"/>
          </a:xfrm>
          <a:prstGeom prst="line">
            <a:avLst/>
          </a:prstGeom>
          <a:noFill/>
          <a:ln w="22860">
            <a:solidFill>
              <a:srgbClr val="2DD4BF"/>
            </a:solidFill>
            <a:prstDash val="solid"/>
            <a:headEnd type="none"/>
            <a:tailEnd type="none"/>
          </a:ln>
        </p:spPr>
      </p:sp>
      <p:sp>
        <p:nvSpPr>
          <p:cNvPr id="18" name="Shape 16"/>
          <p:cNvSpPr/>
          <p:nvPr/>
        </p:nvSpPr>
        <p:spPr>
          <a:xfrm>
            <a:off x="3383280" y="2395728"/>
            <a:ext cx="0" cy="2121408"/>
          </a:xfrm>
          <a:prstGeom prst="line">
            <a:avLst/>
          </a:prstGeom>
          <a:noFill/>
          <a:ln w="22860">
            <a:solidFill>
              <a:srgbClr val="2DD4BF"/>
            </a:solidFill>
            <a:prstDash val="solid"/>
            <a:headEnd type="none"/>
            <a:tailEnd type="none"/>
          </a:ln>
        </p:spPr>
      </p:sp>
      <p:sp>
        <p:nvSpPr>
          <p:cNvPr id="19" name="Shape 17"/>
          <p:cNvSpPr/>
          <p:nvPr/>
        </p:nvSpPr>
        <p:spPr>
          <a:xfrm>
            <a:off x="3044952" y="3456432"/>
            <a:ext cx="338328" cy="0"/>
          </a:xfrm>
          <a:prstGeom prst="line">
            <a:avLst/>
          </a:prstGeom>
          <a:noFill/>
          <a:ln w="20320">
            <a:solidFill>
              <a:srgbClr val="2DD4BF"/>
            </a:solidFill>
            <a:prstDash val="solid"/>
            <a:headEnd type="none"/>
            <a:tailEnd type="none"/>
          </a:ln>
        </p:spPr>
      </p:sp>
      <p:sp>
        <p:nvSpPr>
          <p:cNvPr id="20" name="Shape 18"/>
          <p:cNvSpPr/>
          <p:nvPr/>
        </p:nvSpPr>
        <p:spPr>
          <a:xfrm>
            <a:off x="3044952" y="4517136"/>
            <a:ext cx="338328" cy="0"/>
          </a:xfrm>
          <a:prstGeom prst="line">
            <a:avLst/>
          </a:prstGeom>
          <a:noFill/>
          <a:ln w="20320">
            <a:solidFill>
              <a:srgbClr val="2DD4BF"/>
            </a:solidFill>
            <a:prstDash val="solid"/>
            <a:headEnd type="none"/>
            <a:tailEnd type="none"/>
          </a:ln>
        </p:spPr>
      </p:sp>
      <p:sp>
        <p:nvSpPr>
          <p:cNvPr id="21" name="Shape 19"/>
          <p:cNvSpPr/>
          <p:nvPr/>
        </p:nvSpPr>
        <p:spPr>
          <a:xfrm>
            <a:off x="3383280" y="3456432"/>
            <a:ext cx="338328" cy="0"/>
          </a:xfrm>
          <a:prstGeom prst="line">
            <a:avLst/>
          </a:prstGeom>
          <a:noFill/>
          <a:ln w="22860">
            <a:solidFill>
              <a:srgbClr val="2DD4BF"/>
            </a:solidFill>
            <a:prstDash val="solid"/>
            <a:headEnd type="none"/>
            <a:tailEnd type="none"/>
          </a:ln>
        </p:spPr>
      </p:sp>
      <p:sp>
        <p:nvSpPr>
          <p:cNvPr id="22" name="Shape 20"/>
          <p:cNvSpPr/>
          <p:nvPr/>
        </p:nvSpPr>
        <p:spPr>
          <a:xfrm>
            <a:off x="3749040" y="1947672"/>
            <a:ext cx="3813048" cy="3218688"/>
          </a:xfrm>
          <a:prstGeom prst="roundRect">
            <a:avLst>
              <a:gd name="adj" fmla="val 4261"/>
            </a:avLst>
          </a:prstGeom>
          <a:solidFill>
            <a:srgbClr val="111C2E"/>
          </a:solidFill>
          <a:ln w="12700">
            <a:solidFill>
              <a:srgbClr val="17263A"/>
            </a:solidFill>
            <a:prstDash val="solid"/>
          </a:ln>
        </p:spPr>
      </p:sp>
      <p:sp>
        <p:nvSpPr>
          <p:cNvPr id="23" name="Shape 21"/>
          <p:cNvSpPr/>
          <p:nvPr/>
        </p:nvSpPr>
        <p:spPr>
          <a:xfrm>
            <a:off x="4050792" y="2185416"/>
            <a:ext cx="1600200" cy="274320"/>
          </a:xfrm>
          <a:prstGeom prst="roundRect">
            <a:avLst>
              <a:gd name="adj" fmla="val 36667"/>
            </a:avLst>
          </a:prstGeom>
          <a:solidFill>
            <a:srgbClr val="17263A"/>
          </a:solidFill>
          <a:ln w="12700">
            <a:solidFill>
              <a:srgbClr val="17263A">
                <a:alpha val="0"/>
              </a:srgbClr>
            </a:solidFill>
            <a:prstDash val="solid"/>
          </a:ln>
        </p:spPr>
      </p:sp>
      <p:sp>
        <p:nvSpPr>
          <p:cNvPr id="24" name="Shape 22"/>
          <p:cNvSpPr/>
          <p:nvPr/>
        </p:nvSpPr>
        <p:spPr>
          <a:xfrm>
            <a:off x="4142232" y="2281428"/>
            <a:ext cx="82296" cy="82296"/>
          </a:xfrm>
          <a:prstGeom prst="ellipse">
            <a:avLst/>
          </a:prstGeom>
          <a:solidFill>
            <a:srgbClr val="D5FF74"/>
          </a:solidFill>
          <a:ln w="12700">
            <a:solidFill>
              <a:srgbClr val="D5FF74"/>
            </a:solidFill>
            <a:prstDash val="solid"/>
          </a:ln>
        </p:spPr>
      </p:sp>
      <p:sp>
        <p:nvSpPr>
          <p:cNvPr id="25" name="Text 23"/>
          <p:cNvSpPr txBox="1"/>
          <p:nvPr/>
        </p:nvSpPr>
        <p:spPr>
          <a:xfrm>
            <a:off x="4279392" y="2203704"/>
            <a:ext cx="1316736" cy="219456"/>
          </a:xfrm>
          <a:prstGeom prst="rect">
            <a:avLst/>
          </a:prstGeom>
          <a:noFill/>
          <a:ln/>
        </p:spPr>
        <p:txBody>
          <a:bodyPr wrap="square" lIns="0" tIns="0" rIns="0" bIns="0" rtlCol="0" anchor="ctr">
            <a:normAutofit/>
          </a:bodyPr>
          <a:lstStyle/>
          <a:p>
            <a:pPr algn="l" indent="0" marL="0">
              <a:buNone/>
            </a:pPr>
            <a:r>
              <a:rPr lang="en-US" sz="850" b="1" spc="50" kern="0" dirty="0">
                <a:solidFill>
                  <a:srgbClr val="D9E3EF"/>
                </a:solidFill>
                <a:latin typeface="Aptos" pitchFamily="34" charset="0"/>
                <a:ea typeface="Aptos" pitchFamily="34" charset="-122"/>
                <a:cs typeface="Aptos" pitchFamily="34" charset="-120"/>
              </a:rPr>
              <a:t>CORE AI PIPELINE</a:t>
            </a:r>
            <a:endParaRPr lang="en-US" sz="850" dirty="0"/>
          </a:p>
        </p:txBody>
      </p:sp>
      <p:sp>
        <p:nvSpPr>
          <p:cNvPr id="26" name="Text 24"/>
          <p:cNvSpPr txBox="1"/>
          <p:nvPr/>
        </p:nvSpPr>
        <p:spPr>
          <a:xfrm>
            <a:off x="4050792" y="2670048"/>
            <a:ext cx="3054096" cy="667512"/>
          </a:xfrm>
          <a:prstGeom prst="rect">
            <a:avLst/>
          </a:prstGeom>
          <a:noFill/>
          <a:ln/>
        </p:spPr>
        <p:txBody>
          <a:bodyPr wrap="square" lIns="0" tIns="0" rIns="0" bIns="0" rtlCol="0" anchor="ctr">
            <a:normAutofit/>
          </a:bodyPr>
          <a:lstStyle/>
          <a:p>
            <a:pPr algn="l" indent="0" marL="0">
              <a:buNone/>
            </a:pPr>
            <a:r>
              <a:rPr lang="en-US" sz="2300" b="1" dirty="0">
                <a:solidFill>
                  <a:srgbClr val="FFFFFF"/>
                </a:solidFill>
                <a:latin typeface="Aptos Display" pitchFamily="34" charset="0"/>
                <a:ea typeface="Aptos Display" pitchFamily="34" charset="-122"/>
                <a:cs typeface="Aptos Display" pitchFamily="34" charset="-120"/>
              </a:rPr>
              <a:t>Open-weight</a:t>
            </a:r>
            <a:endParaRPr lang="en-US" sz="2300" dirty="0"/>
          </a:p>
          <a:p>
            <a:pPr algn="l" indent="0" marL="0">
              <a:buNone/>
            </a:pPr>
            <a:r>
              <a:rPr lang="en-US" sz="2300" b="1" dirty="0">
                <a:solidFill>
                  <a:srgbClr val="FFFFFF"/>
                </a:solidFill>
                <a:latin typeface="Aptos Display" pitchFamily="34" charset="0"/>
                <a:ea typeface="Aptos Display" pitchFamily="34" charset="-122"/>
                <a:cs typeface="Aptos Display" pitchFamily="34" charset="-120"/>
              </a:rPr>
              <a:t>multimodal model</a:t>
            </a:r>
            <a:endParaRPr lang="en-US" sz="2300" dirty="0"/>
          </a:p>
        </p:txBody>
      </p:sp>
      <p:sp>
        <p:nvSpPr>
          <p:cNvPr id="27" name="Shape 25"/>
          <p:cNvSpPr/>
          <p:nvPr/>
        </p:nvSpPr>
        <p:spPr>
          <a:xfrm>
            <a:off x="4050792" y="3703320"/>
            <a:ext cx="219456" cy="219456"/>
          </a:xfrm>
          <a:prstGeom prst="ellipse">
            <a:avLst/>
          </a:prstGeom>
          <a:solidFill>
            <a:srgbClr val="2DD4BF"/>
          </a:solidFill>
          <a:ln w="12700">
            <a:solidFill>
              <a:srgbClr val="2DD4BF"/>
            </a:solidFill>
            <a:prstDash val="solid"/>
          </a:ln>
        </p:spPr>
      </p:sp>
      <p:sp>
        <p:nvSpPr>
          <p:cNvPr id="28" name="Text 26"/>
          <p:cNvSpPr txBox="1"/>
          <p:nvPr/>
        </p:nvSpPr>
        <p:spPr>
          <a:xfrm>
            <a:off x="4050792" y="3749040"/>
            <a:ext cx="219456" cy="109728"/>
          </a:xfrm>
          <a:prstGeom prst="rect">
            <a:avLst/>
          </a:prstGeom>
          <a:noFill/>
          <a:ln/>
        </p:spPr>
        <p:txBody>
          <a:bodyPr wrap="square" lIns="0" tIns="0" rIns="0" bIns="0" rtlCol="0" anchor="ctr">
            <a:normAutofit/>
          </a:bodyPr>
          <a:lstStyle/>
          <a:p>
            <a:pPr algn="ctr" indent="0" marL="0">
              <a:buNone/>
            </a:pPr>
            <a:r>
              <a:rPr lang="en-US" sz="650" b="1" dirty="0">
                <a:solidFill>
                  <a:srgbClr val="0B1220"/>
                </a:solidFill>
                <a:latin typeface="Aptos" pitchFamily="34" charset="0"/>
                <a:ea typeface="Aptos" pitchFamily="34" charset="-122"/>
                <a:cs typeface="Aptos" pitchFamily="34" charset="-120"/>
              </a:rPr>
              <a:t>01</a:t>
            </a:r>
            <a:endParaRPr lang="en-US" sz="650" dirty="0"/>
          </a:p>
        </p:txBody>
      </p:sp>
      <p:sp>
        <p:nvSpPr>
          <p:cNvPr id="29" name="Text 27"/>
          <p:cNvSpPr txBox="1"/>
          <p:nvPr/>
        </p:nvSpPr>
        <p:spPr>
          <a:xfrm>
            <a:off x="4361688" y="3721608"/>
            <a:ext cx="1115568" cy="164592"/>
          </a:xfrm>
          <a:prstGeom prst="rect">
            <a:avLst/>
          </a:prstGeom>
          <a:noFill/>
          <a:ln/>
        </p:spPr>
        <p:txBody>
          <a:bodyPr wrap="square" lIns="0" tIns="0" rIns="0" bIns="0" rtlCol="0" anchor="ctr">
            <a:normAutofit/>
          </a:bodyPr>
          <a:lstStyle/>
          <a:p>
            <a:pPr algn="l" indent="0" marL="0">
              <a:buNone/>
            </a:pPr>
            <a:r>
              <a:rPr lang="en-US" sz="900" b="1" dirty="0">
                <a:solidFill>
                  <a:srgbClr val="D5E0ED"/>
                </a:solidFill>
                <a:latin typeface="Aptos" pitchFamily="34" charset="0"/>
                <a:ea typeface="Aptos" pitchFamily="34" charset="-122"/>
                <a:cs typeface="Aptos" pitchFamily="34" charset="-120"/>
              </a:rPr>
              <a:t>Validate</a:t>
            </a:r>
            <a:endParaRPr lang="en-US" sz="900" dirty="0"/>
          </a:p>
        </p:txBody>
      </p:sp>
      <p:sp>
        <p:nvSpPr>
          <p:cNvPr id="30" name="Shape 28"/>
          <p:cNvSpPr/>
          <p:nvPr/>
        </p:nvSpPr>
        <p:spPr>
          <a:xfrm>
            <a:off x="5559552" y="3703320"/>
            <a:ext cx="219456" cy="219456"/>
          </a:xfrm>
          <a:prstGeom prst="ellipse">
            <a:avLst/>
          </a:prstGeom>
          <a:solidFill>
            <a:srgbClr val="2DD4BF"/>
          </a:solidFill>
          <a:ln w="12700">
            <a:solidFill>
              <a:srgbClr val="2DD4BF"/>
            </a:solidFill>
            <a:prstDash val="solid"/>
          </a:ln>
        </p:spPr>
      </p:sp>
      <p:sp>
        <p:nvSpPr>
          <p:cNvPr id="31" name="Text 29"/>
          <p:cNvSpPr txBox="1"/>
          <p:nvPr/>
        </p:nvSpPr>
        <p:spPr>
          <a:xfrm>
            <a:off x="5559552" y="3749040"/>
            <a:ext cx="219456" cy="109728"/>
          </a:xfrm>
          <a:prstGeom prst="rect">
            <a:avLst/>
          </a:prstGeom>
          <a:noFill/>
          <a:ln/>
        </p:spPr>
        <p:txBody>
          <a:bodyPr wrap="square" lIns="0" tIns="0" rIns="0" bIns="0" rtlCol="0" anchor="ctr">
            <a:normAutofit/>
          </a:bodyPr>
          <a:lstStyle/>
          <a:p>
            <a:pPr algn="ctr" indent="0" marL="0">
              <a:buNone/>
            </a:pPr>
            <a:r>
              <a:rPr lang="en-US" sz="650" b="1" dirty="0">
                <a:solidFill>
                  <a:srgbClr val="0B1220"/>
                </a:solidFill>
                <a:latin typeface="Aptos" pitchFamily="34" charset="0"/>
                <a:ea typeface="Aptos" pitchFamily="34" charset="-122"/>
                <a:cs typeface="Aptos" pitchFamily="34" charset="-120"/>
              </a:rPr>
              <a:t>02</a:t>
            </a:r>
            <a:endParaRPr lang="en-US" sz="650" dirty="0"/>
          </a:p>
        </p:txBody>
      </p:sp>
      <p:sp>
        <p:nvSpPr>
          <p:cNvPr id="32" name="Text 30"/>
          <p:cNvSpPr txBox="1"/>
          <p:nvPr/>
        </p:nvSpPr>
        <p:spPr>
          <a:xfrm>
            <a:off x="5870448" y="3721608"/>
            <a:ext cx="1115568" cy="164592"/>
          </a:xfrm>
          <a:prstGeom prst="rect">
            <a:avLst/>
          </a:prstGeom>
          <a:noFill/>
          <a:ln/>
        </p:spPr>
        <p:txBody>
          <a:bodyPr wrap="square" lIns="0" tIns="0" rIns="0" bIns="0" rtlCol="0" anchor="ctr">
            <a:normAutofit/>
          </a:bodyPr>
          <a:lstStyle/>
          <a:p>
            <a:pPr algn="l" indent="0" marL="0">
              <a:buNone/>
            </a:pPr>
            <a:r>
              <a:rPr lang="en-US" sz="900" b="1" dirty="0">
                <a:solidFill>
                  <a:srgbClr val="D5E0ED"/>
                </a:solidFill>
                <a:latin typeface="Aptos" pitchFamily="34" charset="0"/>
                <a:ea typeface="Aptos" pitchFamily="34" charset="-122"/>
                <a:cs typeface="Aptos" pitchFamily="34" charset="-120"/>
              </a:rPr>
              <a:t>Classify</a:t>
            </a:r>
            <a:endParaRPr lang="en-US" sz="900" dirty="0"/>
          </a:p>
        </p:txBody>
      </p:sp>
      <p:sp>
        <p:nvSpPr>
          <p:cNvPr id="33" name="Shape 31"/>
          <p:cNvSpPr/>
          <p:nvPr/>
        </p:nvSpPr>
        <p:spPr>
          <a:xfrm>
            <a:off x="4050792" y="4187952"/>
            <a:ext cx="219456" cy="219456"/>
          </a:xfrm>
          <a:prstGeom prst="ellipse">
            <a:avLst/>
          </a:prstGeom>
          <a:solidFill>
            <a:srgbClr val="2DD4BF"/>
          </a:solidFill>
          <a:ln w="12700">
            <a:solidFill>
              <a:srgbClr val="2DD4BF"/>
            </a:solidFill>
            <a:prstDash val="solid"/>
          </a:ln>
        </p:spPr>
      </p:sp>
      <p:sp>
        <p:nvSpPr>
          <p:cNvPr id="34" name="Text 32"/>
          <p:cNvSpPr txBox="1"/>
          <p:nvPr/>
        </p:nvSpPr>
        <p:spPr>
          <a:xfrm>
            <a:off x="4050792" y="4233672"/>
            <a:ext cx="219456" cy="109728"/>
          </a:xfrm>
          <a:prstGeom prst="rect">
            <a:avLst/>
          </a:prstGeom>
          <a:noFill/>
          <a:ln/>
        </p:spPr>
        <p:txBody>
          <a:bodyPr wrap="square" lIns="0" tIns="0" rIns="0" bIns="0" rtlCol="0" anchor="ctr">
            <a:normAutofit/>
          </a:bodyPr>
          <a:lstStyle/>
          <a:p>
            <a:pPr algn="ctr" indent="0" marL="0">
              <a:buNone/>
            </a:pPr>
            <a:r>
              <a:rPr lang="en-US" sz="650" b="1" dirty="0">
                <a:solidFill>
                  <a:srgbClr val="0B1220"/>
                </a:solidFill>
                <a:latin typeface="Aptos" pitchFamily="34" charset="0"/>
                <a:ea typeface="Aptos" pitchFamily="34" charset="-122"/>
                <a:cs typeface="Aptos" pitchFamily="34" charset="-120"/>
              </a:rPr>
              <a:t>03</a:t>
            </a:r>
            <a:endParaRPr lang="en-US" sz="650" dirty="0"/>
          </a:p>
        </p:txBody>
      </p:sp>
      <p:sp>
        <p:nvSpPr>
          <p:cNvPr id="35" name="Text 33"/>
          <p:cNvSpPr txBox="1"/>
          <p:nvPr/>
        </p:nvSpPr>
        <p:spPr>
          <a:xfrm>
            <a:off x="4361688" y="4206240"/>
            <a:ext cx="1115568" cy="164592"/>
          </a:xfrm>
          <a:prstGeom prst="rect">
            <a:avLst/>
          </a:prstGeom>
          <a:noFill/>
          <a:ln/>
        </p:spPr>
        <p:txBody>
          <a:bodyPr wrap="square" lIns="0" tIns="0" rIns="0" bIns="0" rtlCol="0" anchor="ctr">
            <a:normAutofit/>
          </a:bodyPr>
          <a:lstStyle/>
          <a:p>
            <a:pPr algn="l" indent="0" marL="0">
              <a:buNone/>
            </a:pPr>
            <a:r>
              <a:rPr lang="en-US" sz="900" b="1" dirty="0">
                <a:solidFill>
                  <a:srgbClr val="D5E0ED"/>
                </a:solidFill>
                <a:latin typeface="Aptos" pitchFamily="34" charset="0"/>
                <a:ea typeface="Aptos" pitchFamily="34" charset="-122"/>
                <a:cs typeface="Aptos" pitchFamily="34" charset="-120"/>
              </a:rPr>
              <a:t>Score</a:t>
            </a:r>
            <a:endParaRPr lang="en-US" sz="900" dirty="0"/>
          </a:p>
        </p:txBody>
      </p:sp>
      <p:sp>
        <p:nvSpPr>
          <p:cNvPr id="36" name="Shape 34"/>
          <p:cNvSpPr/>
          <p:nvPr/>
        </p:nvSpPr>
        <p:spPr>
          <a:xfrm>
            <a:off x="5559552" y="4187952"/>
            <a:ext cx="219456" cy="219456"/>
          </a:xfrm>
          <a:prstGeom prst="ellipse">
            <a:avLst/>
          </a:prstGeom>
          <a:solidFill>
            <a:srgbClr val="2DD4BF"/>
          </a:solidFill>
          <a:ln w="12700">
            <a:solidFill>
              <a:srgbClr val="2DD4BF"/>
            </a:solidFill>
            <a:prstDash val="solid"/>
          </a:ln>
        </p:spPr>
      </p:sp>
      <p:sp>
        <p:nvSpPr>
          <p:cNvPr id="37" name="Text 35"/>
          <p:cNvSpPr txBox="1"/>
          <p:nvPr/>
        </p:nvSpPr>
        <p:spPr>
          <a:xfrm>
            <a:off x="5559552" y="4233672"/>
            <a:ext cx="219456" cy="109728"/>
          </a:xfrm>
          <a:prstGeom prst="rect">
            <a:avLst/>
          </a:prstGeom>
          <a:noFill/>
          <a:ln/>
        </p:spPr>
        <p:txBody>
          <a:bodyPr wrap="square" lIns="0" tIns="0" rIns="0" bIns="0" rtlCol="0" anchor="ctr">
            <a:normAutofit/>
          </a:bodyPr>
          <a:lstStyle/>
          <a:p>
            <a:pPr algn="ctr" indent="0" marL="0">
              <a:buNone/>
            </a:pPr>
            <a:r>
              <a:rPr lang="en-US" sz="650" b="1" dirty="0">
                <a:solidFill>
                  <a:srgbClr val="0B1220"/>
                </a:solidFill>
                <a:latin typeface="Aptos" pitchFamily="34" charset="0"/>
                <a:ea typeface="Aptos" pitchFamily="34" charset="-122"/>
                <a:cs typeface="Aptos" pitchFamily="34" charset="-120"/>
              </a:rPr>
              <a:t>04</a:t>
            </a:r>
            <a:endParaRPr lang="en-US" sz="650" dirty="0"/>
          </a:p>
        </p:txBody>
      </p:sp>
      <p:sp>
        <p:nvSpPr>
          <p:cNvPr id="38" name="Text 36"/>
          <p:cNvSpPr txBox="1"/>
          <p:nvPr/>
        </p:nvSpPr>
        <p:spPr>
          <a:xfrm>
            <a:off x="5870448" y="4206240"/>
            <a:ext cx="1115568" cy="164592"/>
          </a:xfrm>
          <a:prstGeom prst="rect">
            <a:avLst/>
          </a:prstGeom>
          <a:noFill/>
          <a:ln/>
        </p:spPr>
        <p:txBody>
          <a:bodyPr wrap="square" lIns="0" tIns="0" rIns="0" bIns="0" rtlCol="0" anchor="ctr">
            <a:normAutofit/>
          </a:bodyPr>
          <a:lstStyle/>
          <a:p>
            <a:pPr algn="l" indent="0" marL="0">
              <a:buNone/>
            </a:pPr>
            <a:r>
              <a:rPr lang="en-US" sz="900" b="1" dirty="0">
                <a:solidFill>
                  <a:srgbClr val="D5E0ED"/>
                </a:solidFill>
                <a:latin typeface="Aptos" pitchFamily="34" charset="0"/>
                <a:ea typeface="Aptos" pitchFamily="34" charset="-122"/>
                <a:cs typeface="Aptos" pitchFamily="34" charset="-120"/>
              </a:rPr>
              <a:t>Explain uncertainty</a:t>
            </a:r>
            <a:endParaRPr lang="en-US" sz="900" dirty="0"/>
          </a:p>
        </p:txBody>
      </p:sp>
      <p:sp>
        <p:nvSpPr>
          <p:cNvPr id="39" name="Shape 37"/>
          <p:cNvSpPr/>
          <p:nvPr/>
        </p:nvSpPr>
        <p:spPr>
          <a:xfrm>
            <a:off x="8074152" y="1947672"/>
            <a:ext cx="3401568" cy="1371600"/>
          </a:xfrm>
          <a:prstGeom prst="roundRect">
            <a:avLst>
              <a:gd name="adj" fmla="val 10000"/>
            </a:avLst>
          </a:prstGeom>
          <a:solidFill>
            <a:srgbClr val="FFFFFF"/>
          </a:solidFill>
          <a:ln w="12700">
            <a:solidFill>
              <a:srgbClr val="DCE3EA"/>
            </a:solidFill>
            <a:prstDash val="solid"/>
          </a:ln>
        </p:spPr>
      </p:sp>
      <p:sp>
        <p:nvSpPr>
          <p:cNvPr id="40" name="Shape 38"/>
          <p:cNvSpPr/>
          <p:nvPr/>
        </p:nvSpPr>
        <p:spPr>
          <a:xfrm>
            <a:off x="8321040" y="2157984"/>
            <a:ext cx="1078992" cy="274320"/>
          </a:xfrm>
          <a:prstGeom prst="roundRect">
            <a:avLst>
              <a:gd name="adj" fmla="val 40000"/>
            </a:avLst>
          </a:prstGeom>
          <a:solidFill>
            <a:srgbClr val="E0F2FE"/>
          </a:solidFill>
          <a:ln w="12700">
            <a:solidFill>
              <a:srgbClr val="E0F2FE">
                <a:alpha val="0"/>
              </a:srgbClr>
            </a:solidFill>
            <a:prstDash val="solid"/>
          </a:ln>
        </p:spPr>
      </p:sp>
      <p:sp>
        <p:nvSpPr>
          <p:cNvPr id="41" name="Text 39"/>
          <p:cNvSpPr txBox="1"/>
          <p:nvPr/>
        </p:nvSpPr>
        <p:spPr>
          <a:xfrm>
            <a:off x="8394192" y="2176272"/>
            <a:ext cx="932688" cy="228600"/>
          </a:xfrm>
          <a:prstGeom prst="rect">
            <a:avLst/>
          </a:prstGeom>
          <a:noFill/>
          <a:ln/>
        </p:spPr>
        <p:txBody>
          <a:bodyPr wrap="square" lIns="0" tIns="0" rIns="0" bIns="0" rtlCol="0" anchor="ctr">
            <a:normAutofit/>
          </a:bodyPr>
          <a:lstStyle/>
          <a:p>
            <a:pPr algn="ctr" indent="0" marL="0">
              <a:buNone/>
            </a:pPr>
            <a:r>
              <a:rPr lang="en-US" sz="850" b="1" dirty="0">
                <a:solidFill>
                  <a:srgbClr val="075985"/>
                </a:solidFill>
                <a:latin typeface="Aptos" pitchFamily="34" charset="0"/>
                <a:ea typeface="Aptos" pitchFamily="34" charset="-122"/>
                <a:cs typeface="Aptos" pitchFamily="34" charset="-120"/>
              </a:rPr>
              <a:t>GEOSPATIAL</a:t>
            </a:r>
            <a:endParaRPr lang="en-US" sz="850" dirty="0"/>
          </a:p>
        </p:txBody>
      </p:sp>
      <p:sp>
        <p:nvSpPr>
          <p:cNvPr id="42" name="Text 40"/>
          <p:cNvSpPr txBox="1"/>
          <p:nvPr/>
        </p:nvSpPr>
        <p:spPr>
          <a:xfrm>
            <a:off x="8321040" y="2578608"/>
            <a:ext cx="2743200" cy="256032"/>
          </a:xfrm>
          <a:prstGeom prst="rect">
            <a:avLst/>
          </a:prstGeom>
          <a:noFill/>
          <a:ln/>
        </p:spPr>
        <p:txBody>
          <a:bodyPr wrap="square" lIns="0" tIns="0" rIns="0" bIns="0" rtlCol="0" anchor="ctr">
            <a:normAutofit/>
          </a:bodyPr>
          <a:lstStyle/>
          <a:p>
            <a:pPr algn="l" indent="0" marL="0">
              <a:buNone/>
            </a:pPr>
            <a:r>
              <a:rPr lang="en-US" sz="1400" b="1" dirty="0">
                <a:solidFill>
                  <a:srgbClr val="132033"/>
                </a:solidFill>
                <a:latin typeface="Aptos" pitchFamily="34" charset="0"/>
                <a:ea typeface="Aptos" pitchFamily="34" charset="-122"/>
                <a:cs typeface="Aptos" pitchFamily="34" charset="-120"/>
              </a:rPr>
              <a:t>Google Maps + Street View</a:t>
            </a:r>
            <a:endParaRPr lang="en-US" sz="1400" dirty="0"/>
          </a:p>
        </p:txBody>
      </p:sp>
      <p:sp>
        <p:nvSpPr>
          <p:cNvPr id="43" name="Text 41"/>
          <p:cNvSpPr txBox="1"/>
          <p:nvPr/>
        </p:nvSpPr>
        <p:spPr>
          <a:xfrm>
            <a:off x="8321040" y="2916936"/>
            <a:ext cx="2816352" cy="164592"/>
          </a:xfrm>
          <a:prstGeom prst="rect">
            <a:avLst/>
          </a:prstGeom>
          <a:noFill/>
          <a:ln/>
        </p:spPr>
        <p:txBody>
          <a:bodyPr wrap="square" lIns="0" tIns="0" rIns="0" bIns="0" rtlCol="0" anchor="ctr">
            <a:normAutofit/>
          </a:bodyPr>
          <a:lstStyle/>
          <a:p>
            <a:pPr algn="l" indent="0" marL="0">
              <a:buNone/>
            </a:pPr>
            <a:r>
              <a:rPr lang="en-US" sz="850" dirty="0">
                <a:solidFill>
                  <a:srgbClr val="526176"/>
                </a:solidFill>
                <a:latin typeface="Aptos" pitchFamily="34" charset="0"/>
                <a:ea typeface="Aptos" pitchFamily="34" charset="-122"/>
                <a:cs typeface="Aptos" pitchFamily="34" charset="-120"/>
              </a:rPr>
              <a:t>Coordinates, markers, optional panorama</a:t>
            </a:r>
            <a:endParaRPr lang="en-US" sz="850" dirty="0"/>
          </a:p>
        </p:txBody>
      </p:sp>
      <p:sp>
        <p:nvSpPr>
          <p:cNvPr id="44" name="Shape 42"/>
          <p:cNvSpPr/>
          <p:nvPr/>
        </p:nvSpPr>
        <p:spPr>
          <a:xfrm>
            <a:off x="8074152" y="3547872"/>
            <a:ext cx="3401568" cy="1618488"/>
          </a:xfrm>
          <a:prstGeom prst="roundRect">
            <a:avLst>
              <a:gd name="adj" fmla="val 8475"/>
            </a:avLst>
          </a:prstGeom>
          <a:solidFill>
            <a:srgbClr val="FFFFFF"/>
          </a:solidFill>
          <a:ln w="12700">
            <a:solidFill>
              <a:srgbClr val="DCE3EA"/>
            </a:solidFill>
            <a:prstDash val="solid"/>
          </a:ln>
        </p:spPr>
      </p:sp>
      <p:sp>
        <p:nvSpPr>
          <p:cNvPr id="45" name="Shape 43"/>
          <p:cNvSpPr/>
          <p:nvPr/>
        </p:nvSpPr>
        <p:spPr>
          <a:xfrm>
            <a:off x="8321040" y="3749040"/>
            <a:ext cx="1783080" cy="274320"/>
          </a:xfrm>
          <a:prstGeom prst="roundRect">
            <a:avLst>
              <a:gd name="adj" fmla="val 40000"/>
            </a:avLst>
          </a:prstGeom>
          <a:solidFill>
            <a:srgbClr val="DDFBF5"/>
          </a:solidFill>
          <a:ln w="12700">
            <a:solidFill>
              <a:srgbClr val="DDFBF5">
                <a:alpha val="0"/>
              </a:srgbClr>
            </a:solidFill>
            <a:prstDash val="solid"/>
          </a:ln>
        </p:spPr>
      </p:sp>
      <p:sp>
        <p:nvSpPr>
          <p:cNvPr id="46" name="Text 44"/>
          <p:cNvSpPr txBox="1"/>
          <p:nvPr/>
        </p:nvSpPr>
        <p:spPr>
          <a:xfrm>
            <a:off x="8394192" y="3767328"/>
            <a:ext cx="1636776" cy="228600"/>
          </a:xfrm>
          <a:prstGeom prst="rect">
            <a:avLst/>
          </a:prstGeom>
          <a:noFill/>
          <a:ln/>
        </p:spPr>
        <p:txBody>
          <a:bodyPr wrap="square" lIns="0" tIns="0" rIns="0" bIns="0" rtlCol="0" anchor="ctr">
            <a:normAutofit/>
          </a:bodyPr>
          <a:lstStyle/>
          <a:p>
            <a:pPr algn="ctr" indent="0" marL="0">
              <a:buNone/>
            </a:pPr>
            <a:r>
              <a:rPr lang="en-US" sz="850" b="1" dirty="0">
                <a:solidFill>
                  <a:srgbClr val="0F766E"/>
                </a:solidFill>
                <a:latin typeface="Aptos" pitchFamily="34" charset="0"/>
                <a:ea typeface="Aptos" pitchFamily="34" charset="-122"/>
                <a:cs typeface="Aptos" pitchFamily="34" charset="-120"/>
              </a:rPr>
              <a:t>RETRIEVAL + STORAGE</a:t>
            </a:r>
            <a:endParaRPr lang="en-US" sz="850" dirty="0"/>
          </a:p>
        </p:txBody>
      </p:sp>
      <p:sp>
        <p:nvSpPr>
          <p:cNvPr id="47" name="Text 45"/>
          <p:cNvSpPr txBox="1"/>
          <p:nvPr/>
        </p:nvSpPr>
        <p:spPr>
          <a:xfrm>
            <a:off x="8321040" y="4169664"/>
            <a:ext cx="2743200" cy="246888"/>
          </a:xfrm>
          <a:prstGeom prst="rect">
            <a:avLst/>
          </a:prstGeom>
          <a:noFill/>
          <a:ln/>
        </p:spPr>
        <p:txBody>
          <a:bodyPr wrap="square" lIns="0" tIns="0" rIns="0" bIns="0" rtlCol="0" anchor="ctr">
            <a:normAutofit/>
          </a:bodyPr>
          <a:lstStyle/>
          <a:p>
            <a:pPr algn="l" indent="0" marL="0">
              <a:buNone/>
            </a:pPr>
            <a:r>
              <a:rPr lang="en-US" sz="1400" b="1" dirty="0">
                <a:solidFill>
                  <a:srgbClr val="132033"/>
                </a:solidFill>
                <a:latin typeface="Aptos" pitchFamily="34" charset="0"/>
                <a:ea typeface="Aptos" pitchFamily="34" charset="-122"/>
                <a:cs typeface="Aptos" pitchFamily="34" charset="-120"/>
              </a:rPr>
              <a:t>Vector search + database</a:t>
            </a:r>
            <a:endParaRPr lang="en-US" sz="1400" dirty="0"/>
          </a:p>
        </p:txBody>
      </p:sp>
      <p:sp>
        <p:nvSpPr>
          <p:cNvPr id="48" name="Text 46"/>
          <p:cNvSpPr txBox="1"/>
          <p:nvPr/>
        </p:nvSpPr>
        <p:spPr>
          <a:xfrm>
            <a:off x="8321040" y="4526280"/>
            <a:ext cx="2761488" cy="338328"/>
          </a:xfrm>
          <a:prstGeom prst="rect">
            <a:avLst/>
          </a:prstGeom>
          <a:noFill/>
          <a:ln/>
        </p:spPr>
        <p:txBody>
          <a:bodyPr wrap="square" lIns="0" tIns="0" rIns="0" bIns="0" rtlCol="0" anchor="ctr">
            <a:normAutofit/>
          </a:bodyPr>
          <a:lstStyle/>
          <a:p>
            <a:pPr algn="l" indent="0" marL="0">
              <a:buNone/>
            </a:pPr>
            <a:r>
              <a:rPr lang="en-US" sz="950" dirty="0">
                <a:solidFill>
                  <a:srgbClr val="526176"/>
                </a:solidFill>
                <a:latin typeface="Aptos" pitchFamily="34" charset="0"/>
                <a:ea typeface="Aptos" pitchFamily="34" charset="-122"/>
                <a:cs typeface="Aptos" pitchFamily="34" charset="-120"/>
              </a:rPr>
              <a:t>Duplicate candidates • issue clusters • history</a:t>
            </a:r>
            <a:endParaRPr lang="en-US" sz="950" dirty="0"/>
          </a:p>
        </p:txBody>
      </p:sp>
      <p:sp>
        <p:nvSpPr>
          <p:cNvPr id="49" name="Shape 47"/>
          <p:cNvSpPr/>
          <p:nvPr/>
        </p:nvSpPr>
        <p:spPr>
          <a:xfrm>
            <a:off x="731520" y="5404104"/>
            <a:ext cx="10753344" cy="557784"/>
          </a:xfrm>
          <a:prstGeom prst="roundRect">
            <a:avLst>
              <a:gd name="adj" fmla="val 19672"/>
            </a:avLst>
          </a:prstGeom>
          <a:solidFill>
            <a:srgbClr val="FFFFFF"/>
          </a:solidFill>
          <a:ln w="12700">
            <a:solidFill>
              <a:srgbClr val="DCE3EA"/>
            </a:solidFill>
            <a:prstDash val="solid"/>
          </a:ln>
        </p:spPr>
      </p:sp>
      <p:sp>
        <p:nvSpPr>
          <p:cNvPr id="50" name="Text 48"/>
          <p:cNvSpPr txBox="1"/>
          <p:nvPr/>
        </p:nvSpPr>
        <p:spPr>
          <a:xfrm>
            <a:off x="969264" y="5586984"/>
            <a:ext cx="1261872" cy="164592"/>
          </a:xfrm>
          <a:prstGeom prst="rect">
            <a:avLst/>
          </a:prstGeom>
          <a:noFill/>
          <a:ln/>
        </p:spPr>
        <p:txBody>
          <a:bodyPr wrap="square" lIns="0" tIns="0" rIns="0" bIns="0" rtlCol="0" anchor="ctr">
            <a:normAutofit/>
          </a:bodyPr>
          <a:lstStyle/>
          <a:p>
            <a:pPr algn="l" indent="0" marL="0">
              <a:buNone/>
            </a:pPr>
            <a:r>
              <a:rPr lang="en-US" sz="900" b="1" dirty="0">
                <a:solidFill>
                  <a:srgbClr val="0F766E"/>
                </a:solidFill>
                <a:latin typeface="Aptos" pitchFamily="34" charset="0"/>
                <a:ea typeface="Aptos" pitchFamily="34" charset="-122"/>
                <a:cs typeface="Aptos" pitchFamily="34" charset="-120"/>
              </a:rPr>
              <a:t>Implementation note:</a:t>
            </a:r>
            <a:endParaRPr lang="en-US" sz="900" dirty="0"/>
          </a:p>
        </p:txBody>
      </p:sp>
      <p:sp>
        <p:nvSpPr>
          <p:cNvPr id="51" name="Text 49"/>
          <p:cNvSpPr txBox="1"/>
          <p:nvPr/>
        </p:nvSpPr>
        <p:spPr>
          <a:xfrm>
            <a:off x="2286000" y="5559552"/>
            <a:ext cx="8851392" cy="228600"/>
          </a:xfrm>
          <a:prstGeom prst="rect">
            <a:avLst/>
          </a:prstGeom>
          <a:noFill/>
          <a:ln/>
        </p:spPr>
        <p:txBody>
          <a:bodyPr wrap="square" lIns="0" tIns="0" rIns="0" bIns="0" rtlCol="0" anchor="ctr">
            <a:normAutofit/>
          </a:bodyPr>
          <a:lstStyle/>
          <a:p>
            <a:pPr algn="l" indent="0" marL="0">
              <a:buNone/>
            </a:pPr>
            <a:r>
              <a:rPr lang="en-US" sz="920" dirty="0">
                <a:solidFill>
                  <a:srgbClr val="132033"/>
                </a:solidFill>
                <a:latin typeface="Aptos" pitchFamily="34" charset="0"/>
                <a:ea typeface="Aptos" pitchFamily="34" charset="-122"/>
                <a:cs typeface="Aptos" pitchFamily="34" charset="-120"/>
              </a:rPr>
              <a:t>Use a model whose weights and license meet the open-source AI challenge requirements; document the exact model and license.</a:t>
            </a:r>
            <a:endParaRPr lang="en-US" sz="920" dirty="0"/>
          </a:p>
        </p:txBody>
      </p:sp>
      <p:sp>
        <p:nvSpPr>
          <p:cNvPr id="52" name="Shape 50"/>
          <p:cNvSpPr/>
          <p:nvPr/>
        </p:nvSpPr>
        <p:spPr>
          <a:xfrm>
            <a:off x="566928" y="6510528"/>
            <a:ext cx="11064240" cy="0"/>
          </a:xfrm>
          <a:prstGeom prst="line">
            <a:avLst/>
          </a:prstGeom>
          <a:noFill/>
          <a:ln w="8890">
            <a:solidFill>
              <a:srgbClr val="DCE3EA"/>
            </a:solidFill>
            <a:prstDash val="solid"/>
            <a:headEnd type="none"/>
            <a:tailEnd type="none"/>
          </a:ln>
        </p:spPr>
      </p:sp>
      <p:sp>
        <p:nvSpPr>
          <p:cNvPr id="53" name="Text 51"/>
          <p:cNvSpPr txBox="1"/>
          <p:nvPr/>
        </p:nvSpPr>
        <p:spPr>
          <a:xfrm>
            <a:off x="585216" y="6556248"/>
            <a:ext cx="5120640" cy="137160"/>
          </a:xfrm>
          <a:prstGeom prst="rect">
            <a:avLst/>
          </a:prstGeom>
          <a:noFill/>
          <a:ln/>
        </p:spPr>
        <p:txBody>
          <a:bodyPr wrap="square" lIns="0" tIns="0" rIns="0" bIns="0" rtlCol="0" anchor="ctr">
            <a:normAutofit/>
          </a:bodyPr>
          <a:lstStyle/>
          <a:p>
            <a:pPr algn="l" indent="0" marL="0">
              <a:buNone/>
            </a:pPr>
            <a:r>
              <a:rPr lang="en-US" sz="700" b="1" spc="50" kern="0" dirty="0">
                <a:solidFill>
                  <a:srgbClr val="7C8A9A"/>
                </a:solidFill>
                <a:latin typeface="Aptos" pitchFamily="34" charset="0"/>
                <a:ea typeface="Aptos" pitchFamily="34" charset="-122"/>
                <a:cs typeface="Aptos" pitchFamily="34" charset="-120"/>
              </a:rPr>
              <a:t>CIVICFIX AI  •  CONCEPT / PROTOTYPE PITCH</a:t>
            </a:r>
            <a:endParaRPr lang="en-US" sz="700" dirty="0"/>
          </a:p>
        </p:txBody>
      </p:sp>
      <p:sp>
        <p:nvSpPr>
          <p:cNvPr id="54" name="Text 52"/>
          <p:cNvSpPr txBox="1"/>
          <p:nvPr/>
        </p:nvSpPr>
        <p:spPr>
          <a:xfrm>
            <a:off x="11064240" y="6547104"/>
            <a:ext cx="502920" cy="146304"/>
          </a:xfrm>
          <a:prstGeom prst="rect">
            <a:avLst/>
          </a:prstGeom>
          <a:noFill/>
          <a:ln/>
        </p:spPr>
        <p:txBody>
          <a:bodyPr wrap="square" lIns="0" tIns="0" rIns="0" bIns="0" rtlCol="0" anchor="ctr">
            <a:normAutofit/>
          </a:bodyPr>
          <a:lstStyle/>
          <a:p>
            <a:pPr algn="r" indent="0" marL="0">
              <a:buNone/>
            </a:pPr>
            <a:r>
              <a:rPr lang="en-US" sz="800" b="1" dirty="0">
                <a:solidFill>
                  <a:srgbClr val="7C8A9A"/>
                </a:solidFill>
                <a:latin typeface="Aptos" pitchFamily="34" charset="0"/>
                <a:ea typeface="Aptos" pitchFamily="34" charset="-122"/>
                <a:cs typeface="Aptos" pitchFamily="34" charset="-120"/>
              </a:rPr>
              <a:t>10</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220"/>
          </a:solidFill>
          <a:ln w="12700">
            <a:solidFill>
              <a:srgbClr val="0B1220">
                <a:alpha val="0"/>
              </a:srgbClr>
            </a:solidFill>
            <a:prstDash val="solid"/>
          </a:ln>
        </p:spPr>
      </p:sp>
      <p:sp>
        <p:nvSpPr>
          <p:cNvPr id="3" name="Shape 1"/>
          <p:cNvSpPr/>
          <p:nvPr/>
        </p:nvSpPr>
        <p:spPr>
          <a:xfrm>
            <a:off x="566928" y="384048"/>
            <a:ext cx="1417320" cy="274320"/>
          </a:xfrm>
          <a:prstGeom prst="roundRect">
            <a:avLst>
              <a:gd name="adj" fmla="val 36667"/>
            </a:avLst>
          </a:prstGeom>
          <a:solidFill>
            <a:srgbClr val="17263A"/>
          </a:solidFill>
          <a:ln w="12700">
            <a:solidFill>
              <a:srgbClr val="17263A">
                <a:alpha val="0"/>
              </a:srgbClr>
            </a:solidFill>
            <a:prstDash val="solid"/>
          </a:ln>
        </p:spPr>
      </p:sp>
      <p:sp>
        <p:nvSpPr>
          <p:cNvPr id="4" name="Shape 2"/>
          <p:cNvSpPr/>
          <p:nvPr/>
        </p:nvSpPr>
        <p:spPr>
          <a:xfrm>
            <a:off x="658368" y="480060"/>
            <a:ext cx="82296" cy="82296"/>
          </a:xfrm>
          <a:prstGeom prst="ellipse">
            <a:avLst/>
          </a:prstGeom>
          <a:solidFill>
            <a:srgbClr val="2DD4BF"/>
          </a:solidFill>
          <a:ln w="12700">
            <a:solidFill>
              <a:srgbClr val="2DD4BF"/>
            </a:solidFill>
            <a:prstDash val="solid"/>
          </a:ln>
        </p:spPr>
      </p:sp>
      <p:sp>
        <p:nvSpPr>
          <p:cNvPr id="5" name="Text 3"/>
          <p:cNvSpPr txBox="1"/>
          <p:nvPr/>
        </p:nvSpPr>
        <p:spPr>
          <a:xfrm>
            <a:off x="795528" y="402336"/>
            <a:ext cx="1133856" cy="219456"/>
          </a:xfrm>
          <a:prstGeom prst="rect">
            <a:avLst/>
          </a:prstGeom>
          <a:noFill/>
          <a:ln/>
        </p:spPr>
        <p:txBody>
          <a:bodyPr wrap="square" lIns="0" tIns="0" rIns="0" bIns="0" rtlCol="0" anchor="ctr">
            <a:normAutofit/>
          </a:bodyPr>
          <a:lstStyle/>
          <a:p>
            <a:pPr algn="l" indent="0" marL="0">
              <a:buNone/>
            </a:pPr>
            <a:r>
              <a:rPr lang="en-US" sz="850" b="1" spc="50" kern="0" dirty="0">
                <a:solidFill>
                  <a:srgbClr val="D9E3EF"/>
                </a:solidFill>
                <a:latin typeface="Aptos" pitchFamily="34" charset="0"/>
                <a:ea typeface="Aptos" pitchFamily="34" charset="-122"/>
                <a:cs typeface="Aptos" pitchFamily="34" charset="-120"/>
              </a:rPr>
              <a:t>CIVICFIX AI  /  10</a:t>
            </a:r>
            <a:endParaRPr lang="en-US" sz="850" dirty="0"/>
          </a:p>
        </p:txBody>
      </p:sp>
      <p:sp>
        <p:nvSpPr>
          <p:cNvPr id="6" name="Text 4"/>
          <p:cNvSpPr txBox="1"/>
          <p:nvPr/>
        </p:nvSpPr>
        <p:spPr>
          <a:xfrm>
            <a:off x="566928" y="804672"/>
            <a:ext cx="10972800" cy="475488"/>
          </a:xfrm>
          <a:prstGeom prst="rect">
            <a:avLst/>
          </a:prstGeom>
          <a:noFill/>
          <a:ln/>
        </p:spPr>
        <p:txBody>
          <a:bodyPr wrap="square" lIns="0" tIns="0" rIns="0" bIns="0" rtlCol="0" anchor="ctr">
            <a:normAutofit/>
          </a:bodyPr>
          <a:lstStyle/>
          <a:p>
            <a:pPr algn="l" indent="0" marL="0">
              <a:buNone/>
            </a:pPr>
            <a:r>
              <a:rPr lang="en-US" sz="2700" b="1" dirty="0">
                <a:solidFill>
                  <a:srgbClr val="FFFFFF"/>
                </a:solidFill>
                <a:latin typeface="Aptos Display" pitchFamily="34" charset="0"/>
                <a:ea typeface="Aptos Display" pitchFamily="34" charset="-122"/>
                <a:cs typeface="Aptos Display" pitchFamily="34" charset="-120"/>
              </a:rPr>
              <a:t>Trust is a feature. Uncertainty is a valid result.</a:t>
            </a:r>
            <a:endParaRPr lang="en-US" sz="2700" dirty="0"/>
          </a:p>
        </p:txBody>
      </p:sp>
      <p:sp>
        <p:nvSpPr>
          <p:cNvPr id="7" name="Text 5"/>
          <p:cNvSpPr txBox="1"/>
          <p:nvPr/>
        </p:nvSpPr>
        <p:spPr>
          <a:xfrm>
            <a:off x="585216" y="1335024"/>
            <a:ext cx="10881360" cy="347472"/>
          </a:xfrm>
          <a:prstGeom prst="rect">
            <a:avLst/>
          </a:prstGeom>
          <a:noFill/>
          <a:ln/>
        </p:spPr>
        <p:txBody>
          <a:bodyPr wrap="square" lIns="0" tIns="0" rIns="0" bIns="0" rtlCol="0" anchor="ctr">
            <a:normAutofit/>
          </a:bodyPr>
          <a:lstStyle/>
          <a:p>
            <a:pPr algn="l" indent="0" marL="0">
              <a:buNone/>
            </a:pPr>
            <a:r>
              <a:rPr lang="en-US" sz="1200" dirty="0">
                <a:solidFill>
                  <a:srgbClr val="B8C4D4"/>
                </a:solidFill>
                <a:latin typeface="Aptos" pitchFamily="34" charset="0"/>
                <a:ea typeface="Aptos" pitchFamily="34" charset="-122"/>
                <a:cs typeface="Aptos" pitchFamily="34" charset="-120"/>
              </a:rPr>
              <a:t>Reliability comes from visible evidence, conservative decisions and measurable evaluation.</a:t>
            </a:r>
            <a:endParaRPr lang="en-US" sz="1200" dirty="0"/>
          </a:p>
        </p:txBody>
      </p:sp>
      <p:sp>
        <p:nvSpPr>
          <p:cNvPr id="8" name="Shape 6"/>
          <p:cNvSpPr/>
          <p:nvPr/>
        </p:nvSpPr>
        <p:spPr>
          <a:xfrm>
            <a:off x="658368" y="1874520"/>
            <a:ext cx="3703320" cy="4096512"/>
          </a:xfrm>
          <a:prstGeom prst="roundRect">
            <a:avLst>
              <a:gd name="adj" fmla="val 3704"/>
            </a:avLst>
          </a:prstGeom>
          <a:solidFill>
            <a:srgbClr val="111C2E"/>
          </a:solidFill>
          <a:ln w="12700">
            <a:solidFill>
              <a:srgbClr val="17263A"/>
            </a:solidFill>
            <a:prstDash val="solid"/>
          </a:ln>
        </p:spPr>
      </p:sp>
      <p:sp>
        <p:nvSpPr>
          <p:cNvPr id="9" name="Text 7"/>
          <p:cNvSpPr txBox="1"/>
          <p:nvPr/>
        </p:nvSpPr>
        <p:spPr>
          <a:xfrm>
            <a:off x="932688" y="2157984"/>
            <a:ext cx="2944368" cy="201168"/>
          </a:xfrm>
          <a:prstGeom prst="rect">
            <a:avLst/>
          </a:prstGeom>
          <a:noFill/>
          <a:ln/>
        </p:spPr>
        <p:txBody>
          <a:bodyPr wrap="square" lIns="0" tIns="0" rIns="0" bIns="0" rtlCol="0" anchor="ctr">
            <a:normAutofit/>
          </a:bodyPr>
          <a:lstStyle/>
          <a:p>
            <a:pPr algn="l" indent="0" marL="0">
              <a:buNone/>
            </a:pPr>
            <a:r>
              <a:rPr lang="en-US" sz="1000" b="1" spc="80" kern="0" dirty="0">
                <a:solidFill>
                  <a:srgbClr val="2DD4BF"/>
                </a:solidFill>
                <a:latin typeface="Aptos" pitchFamily="34" charset="0"/>
                <a:ea typeface="Aptos" pitchFamily="34" charset="-122"/>
                <a:cs typeface="Aptos" pitchFamily="34" charset="-120"/>
              </a:rPr>
              <a:t>INPUT QUALITY GATE</a:t>
            </a:r>
            <a:endParaRPr lang="en-US" sz="1000" dirty="0"/>
          </a:p>
        </p:txBody>
      </p:sp>
      <p:sp>
        <p:nvSpPr>
          <p:cNvPr id="10" name="Shape 8"/>
          <p:cNvSpPr/>
          <p:nvPr/>
        </p:nvSpPr>
        <p:spPr>
          <a:xfrm>
            <a:off x="932688" y="2660904"/>
            <a:ext cx="329184" cy="329184"/>
          </a:xfrm>
          <a:prstGeom prst="ellipse">
            <a:avLst/>
          </a:prstGeom>
          <a:solidFill>
            <a:srgbClr val="34D399"/>
          </a:solidFill>
          <a:ln w="12700">
            <a:solidFill>
              <a:srgbClr val="34D399"/>
            </a:solidFill>
            <a:prstDash val="solid"/>
          </a:ln>
        </p:spPr>
      </p:sp>
      <p:sp>
        <p:nvSpPr>
          <p:cNvPr id="11" name="Text 9"/>
          <p:cNvSpPr txBox="1"/>
          <p:nvPr/>
        </p:nvSpPr>
        <p:spPr>
          <a:xfrm>
            <a:off x="932688" y="2697480"/>
            <a:ext cx="329184" cy="201168"/>
          </a:xfrm>
          <a:prstGeom prst="rect">
            <a:avLst/>
          </a:prstGeom>
          <a:noFill/>
          <a:ln/>
        </p:spPr>
        <p:txBody>
          <a:bodyPr wrap="square" lIns="0" tIns="0" rIns="0" bIns="0" rtlCol="0" anchor="ctr">
            <a:normAutofit/>
          </a:bodyPr>
          <a:lstStyle/>
          <a:p>
            <a:pPr algn="ctr" indent="0" marL="0">
              <a:buNone/>
            </a:pPr>
            <a:r>
              <a:rPr lang="en-US" sz="1500" b="1" dirty="0">
                <a:solidFill>
                  <a:srgbClr val="0B1220"/>
                </a:solidFill>
                <a:latin typeface="Aptos" pitchFamily="34" charset="0"/>
                <a:ea typeface="Aptos" pitchFamily="34" charset="-122"/>
                <a:cs typeface="Aptos" pitchFamily="34" charset="-120"/>
              </a:rPr>
              <a:t>✓</a:t>
            </a:r>
            <a:endParaRPr lang="en-US" sz="1500" dirty="0"/>
          </a:p>
        </p:txBody>
      </p:sp>
      <p:sp>
        <p:nvSpPr>
          <p:cNvPr id="12" name="Text 10"/>
          <p:cNvSpPr txBox="1"/>
          <p:nvPr/>
        </p:nvSpPr>
        <p:spPr>
          <a:xfrm>
            <a:off x="1426464" y="2670048"/>
            <a:ext cx="1097280" cy="182880"/>
          </a:xfrm>
          <a:prstGeom prst="rect">
            <a:avLst/>
          </a:prstGeom>
          <a:noFill/>
          <a:ln/>
        </p:spPr>
        <p:txBody>
          <a:bodyPr wrap="square" lIns="0" tIns="0" rIns="0" bIns="0" rtlCol="0" anchor="ctr">
            <a:normAutofit/>
          </a:bodyPr>
          <a:lstStyle/>
          <a:p>
            <a:pPr algn="l" indent="0" marL="0">
              <a:buNone/>
            </a:pPr>
            <a:r>
              <a:rPr lang="en-US" sz="1000" b="1" dirty="0">
                <a:solidFill>
                  <a:srgbClr val="FFFFFF"/>
                </a:solidFill>
                <a:latin typeface="Aptos" pitchFamily="34" charset="0"/>
                <a:ea typeface="Aptos" pitchFamily="34" charset="-122"/>
                <a:cs typeface="Aptos" pitchFamily="34" charset="-120"/>
              </a:rPr>
              <a:t>CLEAR</a:t>
            </a:r>
            <a:endParaRPr lang="en-US" sz="1000" dirty="0"/>
          </a:p>
        </p:txBody>
      </p:sp>
      <p:sp>
        <p:nvSpPr>
          <p:cNvPr id="13" name="Text 11"/>
          <p:cNvSpPr txBox="1"/>
          <p:nvPr/>
        </p:nvSpPr>
        <p:spPr>
          <a:xfrm>
            <a:off x="1426464" y="2935224"/>
            <a:ext cx="2423160" cy="192024"/>
          </a:xfrm>
          <a:prstGeom prst="rect">
            <a:avLst/>
          </a:prstGeom>
          <a:noFill/>
          <a:ln/>
        </p:spPr>
        <p:txBody>
          <a:bodyPr wrap="square" lIns="0" tIns="0" rIns="0" bIns="0" rtlCol="0" anchor="ctr">
            <a:normAutofit/>
          </a:bodyPr>
          <a:lstStyle/>
          <a:p>
            <a:pPr algn="l" indent="0" marL="0">
              <a:buNone/>
            </a:pPr>
            <a:r>
              <a:rPr lang="en-US" sz="950" dirty="0">
                <a:solidFill>
                  <a:srgbClr val="AEBFD1"/>
                </a:solidFill>
                <a:latin typeface="Aptos" pitchFamily="34" charset="0"/>
                <a:ea typeface="Aptos" pitchFamily="34" charset="-122"/>
                <a:cs typeface="Aptos" pitchFamily="34" charset="-120"/>
              </a:rPr>
              <a:t>Continue with analysis</a:t>
            </a:r>
            <a:endParaRPr lang="en-US" sz="950" dirty="0"/>
          </a:p>
        </p:txBody>
      </p:sp>
      <p:sp>
        <p:nvSpPr>
          <p:cNvPr id="14" name="Shape 12"/>
          <p:cNvSpPr/>
          <p:nvPr/>
        </p:nvSpPr>
        <p:spPr>
          <a:xfrm>
            <a:off x="932688" y="3456432"/>
            <a:ext cx="329184" cy="329184"/>
          </a:xfrm>
          <a:prstGeom prst="ellipse">
            <a:avLst/>
          </a:prstGeom>
          <a:solidFill>
            <a:srgbClr val="FFC66D"/>
          </a:solidFill>
          <a:ln w="12700">
            <a:solidFill>
              <a:srgbClr val="FFC66D"/>
            </a:solidFill>
            <a:prstDash val="solid"/>
          </a:ln>
        </p:spPr>
      </p:sp>
      <p:sp>
        <p:nvSpPr>
          <p:cNvPr id="15" name="Text 13"/>
          <p:cNvSpPr txBox="1"/>
          <p:nvPr/>
        </p:nvSpPr>
        <p:spPr>
          <a:xfrm>
            <a:off x="932688" y="3493008"/>
            <a:ext cx="329184" cy="201168"/>
          </a:xfrm>
          <a:prstGeom prst="rect">
            <a:avLst/>
          </a:prstGeom>
          <a:noFill/>
          <a:ln/>
        </p:spPr>
        <p:txBody>
          <a:bodyPr wrap="square" lIns="0" tIns="0" rIns="0" bIns="0" rtlCol="0" anchor="ctr">
            <a:normAutofit/>
          </a:bodyPr>
          <a:lstStyle/>
          <a:p>
            <a:pPr algn="ctr" indent="0" marL="0">
              <a:buNone/>
            </a:pPr>
            <a:r>
              <a:rPr lang="en-US" sz="1500" b="1" dirty="0">
                <a:solidFill>
                  <a:srgbClr val="0B1220"/>
                </a:solidFill>
                <a:latin typeface="Aptos" pitchFamily="34" charset="0"/>
                <a:ea typeface="Aptos" pitchFamily="34" charset="-122"/>
                <a:cs typeface="Aptos" pitchFamily="34" charset="-120"/>
              </a:rPr>
              <a:t>?</a:t>
            </a:r>
            <a:endParaRPr lang="en-US" sz="1500" dirty="0"/>
          </a:p>
        </p:txBody>
      </p:sp>
      <p:sp>
        <p:nvSpPr>
          <p:cNvPr id="16" name="Text 14"/>
          <p:cNvSpPr txBox="1"/>
          <p:nvPr/>
        </p:nvSpPr>
        <p:spPr>
          <a:xfrm>
            <a:off x="1426464" y="3465576"/>
            <a:ext cx="1097280" cy="182880"/>
          </a:xfrm>
          <a:prstGeom prst="rect">
            <a:avLst/>
          </a:prstGeom>
          <a:noFill/>
          <a:ln/>
        </p:spPr>
        <p:txBody>
          <a:bodyPr wrap="square" lIns="0" tIns="0" rIns="0" bIns="0" rtlCol="0" anchor="ctr">
            <a:normAutofit/>
          </a:bodyPr>
          <a:lstStyle/>
          <a:p>
            <a:pPr algn="l" indent="0" marL="0">
              <a:buNone/>
            </a:pPr>
            <a:r>
              <a:rPr lang="en-US" sz="1000" b="1" dirty="0">
                <a:solidFill>
                  <a:srgbClr val="FFFFFF"/>
                </a:solidFill>
                <a:latin typeface="Aptos" pitchFamily="34" charset="0"/>
                <a:ea typeface="Aptos" pitchFamily="34" charset="-122"/>
                <a:cs typeface="Aptos" pitchFamily="34" charset="-120"/>
              </a:rPr>
              <a:t>AMBIGUOUS</a:t>
            </a:r>
            <a:endParaRPr lang="en-US" sz="1000" dirty="0"/>
          </a:p>
        </p:txBody>
      </p:sp>
      <p:sp>
        <p:nvSpPr>
          <p:cNvPr id="17" name="Text 15"/>
          <p:cNvSpPr txBox="1"/>
          <p:nvPr/>
        </p:nvSpPr>
        <p:spPr>
          <a:xfrm>
            <a:off x="1426464" y="3730752"/>
            <a:ext cx="2423160" cy="192024"/>
          </a:xfrm>
          <a:prstGeom prst="rect">
            <a:avLst/>
          </a:prstGeom>
          <a:noFill/>
          <a:ln/>
        </p:spPr>
        <p:txBody>
          <a:bodyPr wrap="square" lIns="0" tIns="0" rIns="0" bIns="0" rtlCol="0" anchor="ctr">
            <a:normAutofit/>
          </a:bodyPr>
          <a:lstStyle/>
          <a:p>
            <a:pPr algn="l" indent="0" marL="0">
              <a:buNone/>
            </a:pPr>
            <a:r>
              <a:rPr lang="en-US" sz="950" dirty="0">
                <a:solidFill>
                  <a:srgbClr val="AEBFD1"/>
                </a:solidFill>
                <a:latin typeface="Aptos" pitchFamily="34" charset="0"/>
                <a:ea typeface="Aptos" pitchFamily="34" charset="-122"/>
                <a:cs typeface="Aptos" pitchFamily="34" charset="-120"/>
              </a:rPr>
              <a:t>Ask a targeted question</a:t>
            </a:r>
            <a:endParaRPr lang="en-US" sz="950" dirty="0"/>
          </a:p>
        </p:txBody>
      </p:sp>
      <p:sp>
        <p:nvSpPr>
          <p:cNvPr id="18" name="Shape 16"/>
          <p:cNvSpPr/>
          <p:nvPr/>
        </p:nvSpPr>
        <p:spPr>
          <a:xfrm>
            <a:off x="932688" y="4251960"/>
            <a:ext cx="329184" cy="329184"/>
          </a:xfrm>
          <a:prstGeom prst="ellipse">
            <a:avLst/>
          </a:prstGeom>
          <a:solidFill>
            <a:srgbClr val="FB7185"/>
          </a:solidFill>
          <a:ln w="12700">
            <a:solidFill>
              <a:srgbClr val="FB7185"/>
            </a:solidFill>
            <a:prstDash val="solid"/>
          </a:ln>
        </p:spPr>
      </p:sp>
      <p:sp>
        <p:nvSpPr>
          <p:cNvPr id="19" name="Text 17"/>
          <p:cNvSpPr txBox="1"/>
          <p:nvPr/>
        </p:nvSpPr>
        <p:spPr>
          <a:xfrm>
            <a:off x="932688" y="4288536"/>
            <a:ext cx="329184" cy="201168"/>
          </a:xfrm>
          <a:prstGeom prst="rect">
            <a:avLst/>
          </a:prstGeom>
          <a:noFill/>
          <a:ln/>
        </p:spPr>
        <p:txBody>
          <a:bodyPr wrap="square" lIns="0" tIns="0" rIns="0" bIns="0" rtlCol="0" anchor="ctr">
            <a:normAutofit/>
          </a:bodyPr>
          <a:lstStyle/>
          <a:p>
            <a:pPr algn="ctr" indent="0" marL="0">
              <a:buNone/>
            </a:pPr>
            <a:r>
              <a:rPr lang="en-US" sz="1500" b="1" dirty="0">
                <a:solidFill>
                  <a:srgbClr val="0B1220"/>
                </a:solidFill>
                <a:latin typeface="Aptos" pitchFamily="34" charset="0"/>
                <a:ea typeface="Aptos" pitchFamily="34" charset="-122"/>
                <a:cs typeface="Aptos" pitchFamily="34" charset="-120"/>
              </a:rPr>
              <a:t>×</a:t>
            </a:r>
            <a:endParaRPr lang="en-US" sz="1500" dirty="0"/>
          </a:p>
        </p:txBody>
      </p:sp>
      <p:sp>
        <p:nvSpPr>
          <p:cNvPr id="20" name="Text 18"/>
          <p:cNvSpPr txBox="1"/>
          <p:nvPr/>
        </p:nvSpPr>
        <p:spPr>
          <a:xfrm>
            <a:off x="1426464" y="4261104"/>
            <a:ext cx="1097280" cy="182880"/>
          </a:xfrm>
          <a:prstGeom prst="rect">
            <a:avLst/>
          </a:prstGeom>
          <a:noFill/>
          <a:ln/>
        </p:spPr>
        <p:txBody>
          <a:bodyPr wrap="square" lIns="0" tIns="0" rIns="0" bIns="0" rtlCol="0" anchor="ctr">
            <a:normAutofit/>
          </a:bodyPr>
          <a:lstStyle/>
          <a:p>
            <a:pPr algn="l" indent="0" marL="0">
              <a:buNone/>
            </a:pPr>
            <a:r>
              <a:rPr lang="en-US" sz="1000" b="1" dirty="0">
                <a:solidFill>
                  <a:srgbClr val="FFFFFF"/>
                </a:solidFill>
                <a:latin typeface="Aptos" pitchFamily="34" charset="0"/>
                <a:ea typeface="Aptos" pitchFamily="34" charset="-122"/>
                <a:cs typeface="Aptos" pitchFamily="34" charset="-120"/>
              </a:rPr>
              <a:t>IRRELEVANT</a:t>
            </a:r>
            <a:endParaRPr lang="en-US" sz="1000" dirty="0"/>
          </a:p>
        </p:txBody>
      </p:sp>
      <p:sp>
        <p:nvSpPr>
          <p:cNvPr id="21" name="Text 19"/>
          <p:cNvSpPr txBox="1"/>
          <p:nvPr/>
        </p:nvSpPr>
        <p:spPr>
          <a:xfrm>
            <a:off x="1426464" y="4526280"/>
            <a:ext cx="2423160" cy="192024"/>
          </a:xfrm>
          <a:prstGeom prst="rect">
            <a:avLst/>
          </a:prstGeom>
          <a:noFill/>
          <a:ln/>
        </p:spPr>
        <p:txBody>
          <a:bodyPr wrap="square" lIns="0" tIns="0" rIns="0" bIns="0" rtlCol="0" anchor="ctr">
            <a:normAutofit/>
          </a:bodyPr>
          <a:lstStyle/>
          <a:p>
            <a:pPr algn="l" indent="0" marL="0">
              <a:buNone/>
            </a:pPr>
            <a:r>
              <a:rPr lang="en-US" sz="950" dirty="0">
                <a:solidFill>
                  <a:srgbClr val="AEBFD1"/>
                </a:solidFill>
                <a:latin typeface="Aptos" pitchFamily="34" charset="0"/>
                <a:ea typeface="Aptos" pitchFamily="34" charset="-122"/>
                <a:cs typeface="Aptos" pitchFamily="34" charset="-120"/>
              </a:rPr>
              <a:t>Reject with explanation</a:t>
            </a:r>
            <a:endParaRPr lang="en-US" sz="950" dirty="0"/>
          </a:p>
        </p:txBody>
      </p:sp>
      <p:sp>
        <p:nvSpPr>
          <p:cNvPr id="22" name="Shape 20"/>
          <p:cNvSpPr/>
          <p:nvPr/>
        </p:nvSpPr>
        <p:spPr>
          <a:xfrm>
            <a:off x="932688" y="5212080"/>
            <a:ext cx="2971800" cy="448056"/>
          </a:xfrm>
          <a:prstGeom prst="roundRect">
            <a:avLst>
              <a:gd name="adj" fmla="val 16327"/>
            </a:avLst>
          </a:prstGeom>
          <a:solidFill>
            <a:srgbClr val="27384D"/>
          </a:solidFill>
          <a:ln w="12700">
            <a:solidFill>
              <a:srgbClr val="27384D">
                <a:alpha val="0"/>
              </a:srgbClr>
            </a:solidFill>
            <a:prstDash val="solid"/>
          </a:ln>
        </p:spPr>
      </p:sp>
      <p:sp>
        <p:nvSpPr>
          <p:cNvPr id="23" name="Text 21"/>
          <p:cNvSpPr txBox="1"/>
          <p:nvPr/>
        </p:nvSpPr>
        <p:spPr>
          <a:xfrm>
            <a:off x="1060704" y="5330952"/>
            <a:ext cx="2715768" cy="164592"/>
          </a:xfrm>
          <a:prstGeom prst="rect">
            <a:avLst/>
          </a:prstGeom>
          <a:noFill/>
          <a:ln/>
        </p:spPr>
        <p:txBody>
          <a:bodyPr wrap="square" lIns="0" tIns="0" rIns="0" bIns="0" rtlCol="0" anchor="ctr">
            <a:normAutofit/>
          </a:bodyPr>
          <a:lstStyle/>
          <a:p>
            <a:pPr algn="ctr" indent="0" marL="0">
              <a:buNone/>
            </a:pPr>
            <a:r>
              <a:rPr lang="en-US" sz="900" b="1" dirty="0">
                <a:solidFill>
                  <a:srgbClr val="D5FF74"/>
                </a:solidFill>
                <a:latin typeface="Aptos" pitchFamily="34" charset="0"/>
                <a:ea typeface="Aptos" pitchFamily="34" charset="-122"/>
                <a:cs typeface="Aptos" pitchFamily="34" charset="-120"/>
              </a:rPr>
              <a:t>Never invent location or repair status.</a:t>
            </a:r>
            <a:endParaRPr lang="en-US" sz="900" dirty="0"/>
          </a:p>
        </p:txBody>
      </p:sp>
      <p:sp>
        <p:nvSpPr>
          <p:cNvPr id="24" name="Shape 22"/>
          <p:cNvSpPr/>
          <p:nvPr/>
        </p:nvSpPr>
        <p:spPr>
          <a:xfrm>
            <a:off x="4617720" y="1874520"/>
            <a:ext cx="6903720" cy="4096512"/>
          </a:xfrm>
          <a:prstGeom prst="roundRect">
            <a:avLst>
              <a:gd name="adj" fmla="val 3348"/>
            </a:avLst>
          </a:prstGeom>
          <a:solidFill>
            <a:srgbClr val="111C2E"/>
          </a:solidFill>
          <a:ln w="12700">
            <a:solidFill>
              <a:srgbClr val="17263A"/>
            </a:solidFill>
            <a:prstDash val="solid"/>
          </a:ln>
        </p:spPr>
      </p:sp>
      <p:sp>
        <p:nvSpPr>
          <p:cNvPr id="25" name="Text 23"/>
          <p:cNvSpPr txBox="1"/>
          <p:nvPr/>
        </p:nvSpPr>
        <p:spPr>
          <a:xfrm>
            <a:off x="4910328" y="2167128"/>
            <a:ext cx="6035040" cy="219456"/>
          </a:xfrm>
          <a:prstGeom prst="rect">
            <a:avLst/>
          </a:prstGeom>
          <a:noFill/>
          <a:ln/>
        </p:spPr>
        <p:txBody>
          <a:bodyPr wrap="square" lIns="0" tIns="0" rIns="0" bIns="0" rtlCol="0" anchor="ctr">
            <a:normAutofit/>
          </a:bodyPr>
          <a:lstStyle/>
          <a:p>
            <a:pPr algn="l" indent="0" marL="0">
              <a:buNone/>
            </a:pPr>
            <a:r>
              <a:rPr lang="en-US" sz="1000" b="1" spc="60" kern="0" dirty="0">
                <a:solidFill>
                  <a:srgbClr val="2DD4BF"/>
                </a:solidFill>
                <a:latin typeface="Aptos" pitchFamily="34" charset="0"/>
                <a:ea typeface="Aptos" pitchFamily="34" charset="-122"/>
                <a:cs typeface="Aptos" pitchFamily="34" charset="-120"/>
              </a:rPr>
              <a:t>EVALUATE THE SYSTEM, NOT JUST THE DEMO</a:t>
            </a:r>
            <a:endParaRPr lang="en-US" sz="1000" dirty="0"/>
          </a:p>
        </p:txBody>
      </p:sp>
      <p:sp>
        <p:nvSpPr>
          <p:cNvPr id="26" name="Shape 24"/>
          <p:cNvSpPr/>
          <p:nvPr/>
        </p:nvSpPr>
        <p:spPr>
          <a:xfrm>
            <a:off x="4910328" y="2935224"/>
            <a:ext cx="6263640" cy="0"/>
          </a:xfrm>
          <a:prstGeom prst="line">
            <a:avLst/>
          </a:prstGeom>
          <a:noFill/>
          <a:ln w="7620">
            <a:solidFill>
              <a:srgbClr val="29394E"/>
            </a:solidFill>
            <a:prstDash val="solid"/>
            <a:headEnd type="none"/>
            <a:tailEnd type="none"/>
          </a:ln>
        </p:spPr>
      </p:sp>
      <p:sp>
        <p:nvSpPr>
          <p:cNvPr id="27" name="Text 25"/>
          <p:cNvSpPr txBox="1"/>
          <p:nvPr/>
        </p:nvSpPr>
        <p:spPr>
          <a:xfrm>
            <a:off x="4910328" y="2587752"/>
            <a:ext cx="1874520" cy="182880"/>
          </a:xfrm>
          <a:prstGeom prst="rect">
            <a:avLst/>
          </a:prstGeom>
          <a:noFill/>
          <a:ln/>
        </p:spPr>
        <p:txBody>
          <a:bodyPr wrap="square" lIns="0" tIns="0" rIns="0" bIns="0" rtlCol="0" anchor="ctr">
            <a:normAutofit/>
          </a:bodyPr>
          <a:lstStyle/>
          <a:p>
            <a:pPr algn="l" indent="0" marL="0">
              <a:buNone/>
            </a:pPr>
            <a:r>
              <a:rPr lang="en-US" sz="970" b="1" dirty="0">
                <a:solidFill>
                  <a:srgbClr val="FFFFFF"/>
                </a:solidFill>
                <a:latin typeface="Aptos" pitchFamily="34" charset="0"/>
                <a:ea typeface="Aptos" pitchFamily="34" charset="-122"/>
                <a:cs typeface="Aptos" pitchFamily="34" charset="-120"/>
              </a:rPr>
              <a:t>Classification</a:t>
            </a:r>
            <a:endParaRPr lang="en-US" sz="970" dirty="0"/>
          </a:p>
        </p:txBody>
      </p:sp>
      <p:sp>
        <p:nvSpPr>
          <p:cNvPr id="28" name="Text 26"/>
          <p:cNvSpPr txBox="1"/>
          <p:nvPr/>
        </p:nvSpPr>
        <p:spPr>
          <a:xfrm>
            <a:off x="6858000" y="2587752"/>
            <a:ext cx="4160520" cy="201168"/>
          </a:xfrm>
          <a:prstGeom prst="rect">
            <a:avLst/>
          </a:prstGeom>
          <a:noFill/>
          <a:ln/>
        </p:spPr>
        <p:txBody>
          <a:bodyPr wrap="square" lIns="0" tIns="0" rIns="0" bIns="0" rtlCol="0" anchor="ctr">
            <a:normAutofit/>
          </a:bodyPr>
          <a:lstStyle/>
          <a:p>
            <a:pPr algn="l" indent="0" marL="0">
              <a:buNone/>
            </a:pPr>
            <a:r>
              <a:rPr lang="en-US" sz="880" dirty="0">
                <a:solidFill>
                  <a:srgbClr val="B4C2D2"/>
                </a:solidFill>
                <a:latin typeface="Aptos" pitchFamily="34" charset="0"/>
                <a:ea typeface="Aptos" pitchFamily="34" charset="-122"/>
                <a:cs typeface="Aptos" pitchFamily="34" charset="-120"/>
              </a:rPr>
              <a:t>Valid vs invalid sample cases</a:t>
            </a:r>
            <a:endParaRPr lang="en-US" sz="880" dirty="0"/>
          </a:p>
        </p:txBody>
      </p:sp>
      <p:sp>
        <p:nvSpPr>
          <p:cNvPr id="29" name="Shape 27"/>
          <p:cNvSpPr/>
          <p:nvPr/>
        </p:nvSpPr>
        <p:spPr>
          <a:xfrm>
            <a:off x="4910328" y="3374136"/>
            <a:ext cx="6263640" cy="0"/>
          </a:xfrm>
          <a:prstGeom prst="line">
            <a:avLst/>
          </a:prstGeom>
          <a:noFill/>
          <a:ln w="7620">
            <a:solidFill>
              <a:srgbClr val="29394E"/>
            </a:solidFill>
            <a:prstDash val="solid"/>
            <a:headEnd type="none"/>
            <a:tailEnd type="none"/>
          </a:ln>
        </p:spPr>
      </p:sp>
      <p:sp>
        <p:nvSpPr>
          <p:cNvPr id="30" name="Text 28"/>
          <p:cNvSpPr txBox="1"/>
          <p:nvPr/>
        </p:nvSpPr>
        <p:spPr>
          <a:xfrm>
            <a:off x="4910328" y="3026664"/>
            <a:ext cx="1874520" cy="182880"/>
          </a:xfrm>
          <a:prstGeom prst="rect">
            <a:avLst/>
          </a:prstGeom>
          <a:noFill/>
          <a:ln/>
        </p:spPr>
        <p:txBody>
          <a:bodyPr wrap="square" lIns="0" tIns="0" rIns="0" bIns="0" rtlCol="0" anchor="ctr">
            <a:normAutofit/>
          </a:bodyPr>
          <a:lstStyle/>
          <a:p>
            <a:pPr algn="l" indent="0" marL="0">
              <a:buNone/>
            </a:pPr>
            <a:r>
              <a:rPr lang="en-US" sz="970" b="1" dirty="0">
                <a:solidFill>
                  <a:srgbClr val="FFFFFF"/>
                </a:solidFill>
                <a:latin typeface="Aptos" pitchFamily="34" charset="0"/>
                <a:ea typeface="Aptos" pitchFamily="34" charset="-122"/>
                <a:cs typeface="Aptos" pitchFamily="34" charset="-120"/>
              </a:rPr>
              <a:t>Structured extraction</a:t>
            </a:r>
            <a:endParaRPr lang="en-US" sz="970" dirty="0"/>
          </a:p>
        </p:txBody>
      </p:sp>
      <p:sp>
        <p:nvSpPr>
          <p:cNvPr id="31" name="Text 29"/>
          <p:cNvSpPr txBox="1"/>
          <p:nvPr/>
        </p:nvSpPr>
        <p:spPr>
          <a:xfrm>
            <a:off x="6858000" y="3026664"/>
            <a:ext cx="4160520" cy="201168"/>
          </a:xfrm>
          <a:prstGeom prst="rect">
            <a:avLst/>
          </a:prstGeom>
          <a:noFill/>
          <a:ln/>
        </p:spPr>
        <p:txBody>
          <a:bodyPr wrap="square" lIns="0" tIns="0" rIns="0" bIns="0" rtlCol="0" anchor="ctr">
            <a:normAutofit/>
          </a:bodyPr>
          <a:lstStyle/>
          <a:p>
            <a:pPr algn="l" indent="0" marL="0">
              <a:buNone/>
            </a:pPr>
            <a:r>
              <a:rPr lang="en-US" sz="880" dirty="0">
                <a:solidFill>
                  <a:srgbClr val="B4C2D2"/>
                </a:solidFill>
                <a:latin typeface="Aptos" pitchFamily="34" charset="0"/>
                <a:ea typeface="Aptos" pitchFamily="34" charset="-122"/>
                <a:cs typeface="Aptos" pitchFamily="34" charset="-120"/>
              </a:rPr>
              <a:t>Category and fields vs labels</a:t>
            </a:r>
            <a:endParaRPr lang="en-US" sz="880" dirty="0"/>
          </a:p>
        </p:txBody>
      </p:sp>
      <p:sp>
        <p:nvSpPr>
          <p:cNvPr id="32" name="Shape 30"/>
          <p:cNvSpPr/>
          <p:nvPr/>
        </p:nvSpPr>
        <p:spPr>
          <a:xfrm>
            <a:off x="4910328" y="3813048"/>
            <a:ext cx="6263640" cy="0"/>
          </a:xfrm>
          <a:prstGeom prst="line">
            <a:avLst/>
          </a:prstGeom>
          <a:noFill/>
          <a:ln w="7620">
            <a:solidFill>
              <a:srgbClr val="29394E"/>
            </a:solidFill>
            <a:prstDash val="solid"/>
            <a:headEnd type="none"/>
            <a:tailEnd type="none"/>
          </a:ln>
        </p:spPr>
      </p:sp>
      <p:sp>
        <p:nvSpPr>
          <p:cNvPr id="33" name="Text 31"/>
          <p:cNvSpPr txBox="1"/>
          <p:nvPr/>
        </p:nvSpPr>
        <p:spPr>
          <a:xfrm>
            <a:off x="4910328" y="3465576"/>
            <a:ext cx="1874520" cy="182880"/>
          </a:xfrm>
          <a:prstGeom prst="rect">
            <a:avLst/>
          </a:prstGeom>
          <a:noFill/>
          <a:ln/>
        </p:spPr>
        <p:txBody>
          <a:bodyPr wrap="square" lIns="0" tIns="0" rIns="0" bIns="0" rtlCol="0" anchor="ctr">
            <a:normAutofit/>
          </a:bodyPr>
          <a:lstStyle/>
          <a:p>
            <a:pPr algn="l" indent="0" marL="0">
              <a:buNone/>
            </a:pPr>
            <a:r>
              <a:rPr lang="en-US" sz="970" b="1" dirty="0">
                <a:solidFill>
                  <a:srgbClr val="FFFFFF"/>
                </a:solidFill>
                <a:latin typeface="Aptos" pitchFamily="34" charset="0"/>
                <a:ea typeface="Aptos" pitchFamily="34" charset="-122"/>
                <a:cs typeface="Aptos" pitchFamily="34" charset="-120"/>
              </a:rPr>
              <a:t>Duplicate detection</a:t>
            </a:r>
            <a:endParaRPr lang="en-US" sz="970" dirty="0"/>
          </a:p>
        </p:txBody>
      </p:sp>
      <p:sp>
        <p:nvSpPr>
          <p:cNvPr id="34" name="Text 32"/>
          <p:cNvSpPr txBox="1"/>
          <p:nvPr/>
        </p:nvSpPr>
        <p:spPr>
          <a:xfrm>
            <a:off x="6858000" y="3465576"/>
            <a:ext cx="4160520" cy="201168"/>
          </a:xfrm>
          <a:prstGeom prst="rect">
            <a:avLst/>
          </a:prstGeom>
          <a:noFill/>
          <a:ln/>
        </p:spPr>
        <p:txBody>
          <a:bodyPr wrap="square" lIns="0" tIns="0" rIns="0" bIns="0" rtlCol="0" anchor="ctr">
            <a:normAutofit/>
          </a:bodyPr>
          <a:lstStyle/>
          <a:p>
            <a:pPr algn="l" indent="0" marL="0">
              <a:buNone/>
            </a:pPr>
            <a:r>
              <a:rPr lang="en-US" sz="880" dirty="0">
                <a:solidFill>
                  <a:srgbClr val="B4C2D2"/>
                </a:solidFill>
                <a:latin typeface="Aptos" pitchFamily="34" charset="0"/>
                <a:ea typeface="Aptos" pitchFamily="34" charset="-122"/>
                <a:cs typeface="Aptos" pitchFamily="34" charset="-120"/>
              </a:rPr>
              <a:t>Precision on duplicate/non-duplicate pairs</a:t>
            </a:r>
            <a:endParaRPr lang="en-US" sz="880" dirty="0"/>
          </a:p>
        </p:txBody>
      </p:sp>
      <p:sp>
        <p:nvSpPr>
          <p:cNvPr id="35" name="Shape 33"/>
          <p:cNvSpPr/>
          <p:nvPr/>
        </p:nvSpPr>
        <p:spPr>
          <a:xfrm>
            <a:off x="4910328" y="4251960"/>
            <a:ext cx="6263640" cy="0"/>
          </a:xfrm>
          <a:prstGeom prst="line">
            <a:avLst/>
          </a:prstGeom>
          <a:noFill/>
          <a:ln w="7620">
            <a:solidFill>
              <a:srgbClr val="29394E"/>
            </a:solidFill>
            <a:prstDash val="solid"/>
            <a:headEnd type="none"/>
            <a:tailEnd type="none"/>
          </a:ln>
        </p:spPr>
      </p:sp>
      <p:sp>
        <p:nvSpPr>
          <p:cNvPr id="36" name="Text 34"/>
          <p:cNvSpPr txBox="1"/>
          <p:nvPr/>
        </p:nvSpPr>
        <p:spPr>
          <a:xfrm>
            <a:off x="4910328" y="3904488"/>
            <a:ext cx="1874520" cy="182880"/>
          </a:xfrm>
          <a:prstGeom prst="rect">
            <a:avLst/>
          </a:prstGeom>
          <a:noFill/>
          <a:ln/>
        </p:spPr>
        <p:txBody>
          <a:bodyPr wrap="square" lIns="0" tIns="0" rIns="0" bIns="0" rtlCol="0" anchor="ctr">
            <a:normAutofit/>
          </a:bodyPr>
          <a:lstStyle/>
          <a:p>
            <a:pPr algn="l" indent="0" marL="0">
              <a:buNone/>
            </a:pPr>
            <a:r>
              <a:rPr lang="en-US" sz="970" b="1" dirty="0">
                <a:solidFill>
                  <a:srgbClr val="FFFFFF"/>
                </a:solidFill>
                <a:latin typeface="Aptos" pitchFamily="34" charset="0"/>
                <a:ea typeface="Aptos" pitchFamily="34" charset="-122"/>
                <a:cs typeface="Aptos" pitchFamily="34" charset="-120"/>
              </a:rPr>
              <a:t>Priority consistency</a:t>
            </a:r>
            <a:endParaRPr lang="en-US" sz="970" dirty="0"/>
          </a:p>
        </p:txBody>
      </p:sp>
      <p:sp>
        <p:nvSpPr>
          <p:cNvPr id="37" name="Text 35"/>
          <p:cNvSpPr txBox="1"/>
          <p:nvPr/>
        </p:nvSpPr>
        <p:spPr>
          <a:xfrm>
            <a:off x="6858000" y="3904488"/>
            <a:ext cx="4160520" cy="201168"/>
          </a:xfrm>
          <a:prstGeom prst="rect">
            <a:avLst/>
          </a:prstGeom>
          <a:noFill/>
          <a:ln/>
        </p:spPr>
        <p:txBody>
          <a:bodyPr wrap="square" lIns="0" tIns="0" rIns="0" bIns="0" rtlCol="0" anchor="ctr">
            <a:normAutofit/>
          </a:bodyPr>
          <a:lstStyle/>
          <a:p>
            <a:pPr algn="l" indent="0" marL="0">
              <a:buNone/>
            </a:pPr>
            <a:r>
              <a:rPr lang="en-US" sz="880" dirty="0">
                <a:solidFill>
                  <a:srgbClr val="B4C2D2"/>
                </a:solidFill>
                <a:latin typeface="Aptos" pitchFamily="34" charset="0"/>
                <a:ea typeface="Aptos" pitchFamily="34" charset="-122"/>
                <a:cs typeface="Aptos" pitchFamily="34" charset="-120"/>
              </a:rPr>
              <a:t>Higher-risk cases rank higher</a:t>
            </a:r>
            <a:endParaRPr lang="en-US" sz="880" dirty="0"/>
          </a:p>
        </p:txBody>
      </p:sp>
      <p:sp>
        <p:nvSpPr>
          <p:cNvPr id="38" name="Shape 36"/>
          <p:cNvSpPr/>
          <p:nvPr/>
        </p:nvSpPr>
        <p:spPr>
          <a:xfrm>
            <a:off x="4910328" y="4690872"/>
            <a:ext cx="6263640" cy="0"/>
          </a:xfrm>
          <a:prstGeom prst="line">
            <a:avLst/>
          </a:prstGeom>
          <a:noFill/>
          <a:ln w="7620">
            <a:solidFill>
              <a:srgbClr val="29394E"/>
            </a:solidFill>
            <a:prstDash val="solid"/>
            <a:headEnd type="none"/>
            <a:tailEnd type="none"/>
          </a:ln>
        </p:spPr>
      </p:sp>
      <p:sp>
        <p:nvSpPr>
          <p:cNvPr id="39" name="Text 37"/>
          <p:cNvSpPr txBox="1"/>
          <p:nvPr/>
        </p:nvSpPr>
        <p:spPr>
          <a:xfrm>
            <a:off x="4910328" y="4343400"/>
            <a:ext cx="1874520" cy="182880"/>
          </a:xfrm>
          <a:prstGeom prst="rect">
            <a:avLst/>
          </a:prstGeom>
          <a:noFill/>
          <a:ln/>
        </p:spPr>
        <p:txBody>
          <a:bodyPr wrap="square" lIns="0" tIns="0" rIns="0" bIns="0" rtlCol="0" anchor="ctr">
            <a:normAutofit/>
          </a:bodyPr>
          <a:lstStyle/>
          <a:p>
            <a:pPr algn="l" indent="0" marL="0">
              <a:buNone/>
            </a:pPr>
            <a:r>
              <a:rPr lang="en-US" sz="970" b="1" dirty="0">
                <a:solidFill>
                  <a:srgbClr val="FFFFFF"/>
                </a:solidFill>
                <a:latin typeface="Aptos" pitchFamily="34" charset="0"/>
                <a:ea typeface="Aptos" pitchFamily="34" charset="-122"/>
                <a:cs typeface="Aptos" pitchFamily="34" charset="-120"/>
              </a:rPr>
              <a:t>Resolution assessment</a:t>
            </a:r>
            <a:endParaRPr lang="en-US" sz="970" dirty="0"/>
          </a:p>
        </p:txBody>
      </p:sp>
      <p:sp>
        <p:nvSpPr>
          <p:cNvPr id="40" name="Text 38"/>
          <p:cNvSpPr txBox="1"/>
          <p:nvPr/>
        </p:nvSpPr>
        <p:spPr>
          <a:xfrm>
            <a:off x="6858000" y="4343400"/>
            <a:ext cx="4160520" cy="201168"/>
          </a:xfrm>
          <a:prstGeom prst="rect">
            <a:avLst/>
          </a:prstGeom>
          <a:noFill/>
          <a:ln/>
        </p:spPr>
        <p:txBody>
          <a:bodyPr wrap="square" lIns="0" tIns="0" rIns="0" bIns="0" rtlCol="0" anchor="ctr">
            <a:normAutofit/>
          </a:bodyPr>
          <a:lstStyle/>
          <a:p>
            <a:pPr algn="l" indent="0" marL="0">
              <a:buNone/>
            </a:pPr>
            <a:r>
              <a:rPr lang="en-US" sz="880" dirty="0">
                <a:solidFill>
                  <a:srgbClr val="B4C2D2"/>
                </a:solidFill>
                <a:latin typeface="Aptos" pitchFamily="34" charset="0"/>
                <a:ea typeface="Aptos" pitchFamily="34" charset="-122"/>
                <a:cs typeface="Aptos" pitchFamily="34" charset="-120"/>
              </a:rPr>
              <a:t>Before/after decisions vs reviewed cases</a:t>
            </a:r>
            <a:endParaRPr lang="en-US" sz="880" dirty="0"/>
          </a:p>
        </p:txBody>
      </p:sp>
      <p:sp>
        <p:nvSpPr>
          <p:cNvPr id="41" name="Shape 39"/>
          <p:cNvSpPr/>
          <p:nvPr/>
        </p:nvSpPr>
        <p:spPr>
          <a:xfrm>
            <a:off x="4910328" y="5129784"/>
            <a:ext cx="6263640" cy="0"/>
          </a:xfrm>
          <a:prstGeom prst="line">
            <a:avLst/>
          </a:prstGeom>
          <a:noFill/>
          <a:ln w="7620">
            <a:solidFill>
              <a:srgbClr val="29394E"/>
            </a:solidFill>
            <a:prstDash val="solid"/>
            <a:headEnd type="none"/>
            <a:tailEnd type="none"/>
          </a:ln>
        </p:spPr>
      </p:sp>
      <p:sp>
        <p:nvSpPr>
          <p:cNvPr id="42" name="Text 40"/>
          <p:cNvSpPr txBox="1"/>
          <p:nvPr/>
        </p:nvSpPr>
        <p:spPr>
          <a:xfrm>
            <a:off x="4910328" y="4782312"/>
            <a:ext cx="1874520" cy="182880"/>
          </a:xfrm>
          <a:prstGeom prst="rect">
            <a:avLst/>
          </a:prstGeom>
          <a:noFill/>
          <a:ln/>
        </p:spPr>
        <p:txBody>
          <a:bodyPr wrap="square" lIns="0" tIns="0" rIns="0" bIns="0" rtlCol="0" anchor="ctr">
            <a:normAutofit/>
          </a:bodyPr>
          <a:lstStyle/>
          <a:p>
            <a:pPr algn="l" indent="0" marL="0">
              <a:buNone/>
            </a:pPr>
            <a:r>
              <a:rPr lang="en-US" sz="970" b="1" dirty="0">
                <a:solidFill>
                  <a:srgbClr val="FFFFFF"/>
                </a:solidFill>
                <a:latin typeface="Aptos" pitchFamily="34" charset="0"/>
                <a:ea typeface="Aptos" pitchFamily="34" charset="-122"/>
                <a:cs typeface="Aptos" pitchFamily="34" charset="-120"/>
              </a:rPr>
              <a:t>Latency</a:t>
            </a:r>
            <a:endParaRPr lang="en-US" sz="970" dirty="0"/>
          </a:p>
        </p:txBody>
      </p:sp>
      <p:sp>
        <p:nvSpPr>
          <p:cNvPr id="43" name="Text 41"/>
          <p:cNvSpPr txBox="1"/>
          <p:nvPr/>
        </p:nvSpPr>
        <p:spPr>
          <a:xfrm>
            <a:off x="6858000" y="4782312"/>
            <a:ext cx="4160520" cy="201168"/>
          </a:xfrm>
          <a:prstGeom prst="rect">
            <a:avLst/>
          </a:prstGeom>
          <a:noFill/>
          <a:ln/>
        </p:spPr>
        <p:txBody>
          <a:bodyPr wrap="square" lIns="0" tIns="0" rIns="0" bIns="0" rtlCol="0" anchor="ctr">
            <a:normAutofit/>
          </a:bodyPr>
          <a:lstStyle/>
          <a:p>
            <a:pPr algn="l" indent="0" marL="0">
              <a:buNone/>
            </a:pPr>
            <a:r>
              <a:rPr lang="en-US" sz="880" dirty="0">
                <a:solidFill>
                  <a:srgbClr val="B4C2D2"/>
                </a:solidFill>
                <a:latin typeface="Aptos" pitchFamily="34" charset="0"/>
                <a:ea typeface="Aptos" pitchFamily="34" charset="-122"/>
                <a:cs typeface="Aptos" pitchFamily="34" charset="-120"/>
              </a:rPr>
              <a:t>Time from upload to validated result</a:t>
            </a:r>
            <a:endParaRPr lang="en-US" sz="880" dirty="0"/>
          </a:p>
        </p:txBody>
      </p:sp>
      <p:sp>
        <p:nvSpPr>
          <p:cNvPr id="44" name="Text 42"/>
          <p:cNvSpPr txBox="1"/>
          <p:nvPr/>
        </p:nvSpPr>
        <p:spPr>
          <a:xfrm>
            <a:off x="4910328" y="5440680"/>
            <a:ext cx="5897880" cy="201168"/>
          </a:xfrm>
          <a:prstGeom prst="rect">
            <a:avLst/>
          </a:prstGeom>
          <a:noFill/>
          <a:ln/>
        </p:spPr>
        <p:txBody>
          <a:bodyPr wrap="square" lIns="0" tIns="0" rIns="0" bIns="0" rtlCol="0" anchor="ctr">
            <a:normAutofit/>
          </a:bodyPr>
          <a:lstStyle/>
          <a:p>
            <a:pPr algn="l" indent="0" marL="0">
              <a:buNone/>
            </a:pPr>
            <a:r>
              <a:rPr lang="en-US" sz="1100" b="1" dirty="0">
                <a:solidFill>
                  <a:srgbClr val="D5FF74"/>
                </a:solidFill>
                <a:latin typeface="Aptos" pitchFamily="34" charset="0"/>
                <a:ea typeface="Aptos" pitchFamily="34" charset="-122"/>
                <a:cs typeface="Aptos" pitchFamily="34" charset="-120"/>
              </a:rPr>
              <a:t>Separate model output from validated application state.</a:t>
            </a:r>
            <a:endParaRPr lang="en-US" sz="1100" dirty="0"/>
          </a:p>
        </p:txBody>
      </p:sp>
      <p:sp>
        <p:nvSpPr>
          <p:cNvPr id="45" name="Shape 43"/>
          <p:cNvSpPr/>
          <p:nvPr/>
        </p:nvSpPr>
        <p:spPr>
          <a:xfrm>
            <a:off x="566928" y="6510528"/>
            <a:ext cx="11064240" cy="0"/>
          </a:xfrm>
          <a:prstGeom prst="line">
            <a:avLst/>
          </a:prstGeom>
          <a:noFill/>
          <a:ln w="8890">
            <a:solidFill>
              <a:srgbClr val="243248"/>
            </a:solidFill>
            <a:prstDash val="solid"/>
            <a:headEnd type="none"/>
            <a:tailEnd type="none"/>
          </a:ln>
        </p:spPr>
      </p:sp>
      <p:sp>
        <p:nvSpPr>
          <p:cNvPr id="46" name="Text 44"/>
          <p:cNvSpPr txBox="1"/>
          <p:nvPr/>
        </p:nvSpPr>
        <p:spPr>
          <a:xfrm>
            <a:off x="585216" y="6556248"/>
            <a:ext cx="5120640" cy="137160"/>
          </a:xfrm>
          <a:prstGeom prst="rect">
            <a:avLst/>
          </a:prstGeom>
          <a:noFill/>
          <a:ln/>
        </p:spPr>
        <p:txBody>
          <a:bodyPr wrap="square" lIns="0" tIns="0" rIns="0" bIns="0" rtlCol="0" anchor="ctr">
            <a:normAutofit/>
          </a:bodyPr>
          <a:lstStyle/>
          <a:p>
            <a:pPr algn="l" indent="0" marL="0">
              <a:buNone/>
            </a:pPr>
            <a:r>
              <a:rPr lang="en-US" sz="700" b="1" spc="50" kern="0" dirty="0">
                <a:solidFill>
                  <a:srgbClr val="6E8097"/>
                </a:solidFill>
                <a:latin typeface="Aptos" pitchFamily="34" charset="0"/>
                <a:ea typeface="Aptos" pitchFamily="34" charset="-122"/>
                <a:cs typeface="Aptos" pitchFamily="34" charset="-120"/>
              </a:rPr>
              <a:t>CIVICFIX AI  •  CONCEPT / PROTOTYPE PITCH</a:t>
            </a:r>
            <a:endParaRPr lang="en-US" sz="700" dirty="0"/>
          </a:p>
        </p:txBody>
      </p:sp>
      <p:sp>
        <p:nvSpPr>
          <p:cNvPr id="47" name="Text 45"/>
          <p:cNvSpPr txBox="1"/>
          <p:nvPr/>
        </p:nvSpPr>
        <p:spPr>
          <a:xfrm>
            <a:off x="11064240" y="6547104"/>
            <a:ext cx="502920" cy="146304"/>
          </a:xfrm>
          <a:prstGeom prst="rect">
            <a:avLst/>
          </a:prstGeom>
          <a:noFill/>
          <a:ln/>
        </p:spPr>
        <p:txBody>
          <a:bodyPr wrap="square" lIns="0" tIns="0" rIns="0" bIns="0" rtlCol="0" anchor="ctr">
            <a:normAutofit/>
          </a:bodyPr>
          <a:lstStyle/>
          <a:p>
            <a:pPr algn="r" indent="0" marL="0">
              <a:buNone/>
            </a:pPr>
            <a:r>
              <a:rPr lang="en-US" sz="800" b="1" dirty="0">
                <a:solidFill>
                  <a:srgbClr val="6E8097"/>
                </a:solidFill>
                <a:latin typeface="Aptos" pitchFamily="34" charset="0"/>
                <a:ea typeface="Aptos" pitchFamily="34" charset="-122"/>
                <a:cs typeface="Aptos" pitchFamily="34" charset="-120"/>
              </a:rPr>
              <a:t>11</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5F7FA"/>
          </a:solidFill>
          <a:ln w="12700">
            <a:solidFill>
              <a:srgbClr val="F5F7FA">
                <a:alpha val="0"/>
              </a:srgbClr>
            </a:solidFill>
            <a:prstDash val="solid"/>
          </a:ln>
        </p:spPr>
      </p:sp>
      <p:sp>
        <p:nvSpPr>
          <p:cNvPr id="3" name="Shape 1"/>
          <p:cNvSpPr/>
          <p:nvPr/>
        </p:nvSpPr>
        <p:spPr>
          <a:xfrm>
            <a:off x="566928" y="384048"/>
            <a:ext cx="1417320" cy="274320"/>
          </a:xfrm>
          <a:prstGeom prst="roundRect">
            <a:avLst>
              <a:gd name="adj" fmla="val 36667"/>
            </a:avLst>
          </a:prstGeom>
          <a:solidFill>
            <a:srgbClr val="FFFFFF"/>
          </a:solidFill>
          <a:ln w="12700">
            <a:solidFill>
              <a:srgbClr val="DCE3EA"/>
            </a:solidFill>
            <a:prstDash val="solid"/>
          </a:ln>
        </p:spPr>
      </p:sp>
      <p:sp>
        <p:nvSpPr>
          <p:cNvPr id="4" name="Shape 2"/>
          <p:cNvSpPr/>
          <p:nvPr/>
        </p:nvSpPr>
        <p:spPr>
          <a:xfrm>
            <a:off x="658368" y="480060"/>
            <a:ext cx="82296" cy="82296"/>
          </a:xfrm>
          <a:prstGeom prst="ellipse">
            <a:avLst/>
          </a:prstGeom>
          <a:solidFill>
            <a:srgbClr val="2DD4BF"/>
          </a:solidFill>
          <a:ln w="12700">
            <a:solidFill>
              <a:srgbClr val="2DD4BF"/>
            </a:solidFill>
            <a:prstDash val="solid"/>
          </a:ln>
        </p:spPr>
      </p:sp>
      <p:sp>
        <p:nvSpPr>
          <p:cNvPr id="5" name="Text 3"/>
          <p:cNvSpPr txBox="1"/>
          <p:nvPr/>
        </p:nvSpPr>
        <p:spPr>
          <a:xfrm>
            <a:off x="795528" y="402336"/>
            <a:ext cx="1133856" cy="219456"/>
          </a:xfrm>
          <a:prstGeom prst="rect">
            <a:avLst/>
          </a:prstGeom>
          <a:noFill/>
          <a:ln/>
        </p:spPr>
        <p:txBody>
          <a:bodyPr wrap="square" lIns="0" tIns="0" rIns="0" bIns="0" rtlCol="0" anchor="ctr">
            <a:normAutofit/>
          </a:bodyPr>
          <a:lstStyle/>
          <a:p>
            <a:pPr algn="l" indent="0" marL="0">
              <a:buNone/>
            </a:pPr>
            <a:r>
              <a:rPr lang="en-US" sz="850" b="1" spc="50" kern="0" dirty="0">
                <a:solidFill>
                  <a:srgbClr val="526176"/>
                </a:solidFill>
                <a:latin typeface="Aptos" pitchFamily="34" charset="0"/>
                <a:ea typeface="Aptos" pitchFamily="34" charset="-122"/>
                <a:cs typeface="Aptos" pitchFamily="34" charset="-120"/>
              </a:rPr>
              <a:t>CIVICFIX AI  /  11</a:t>
            </a:r>
            <a:endParaRPr lang="en-US" sz="850" dirty="0"/>
          </a:p>
        </p:txBody>
      </p:sp>
      <p:sp>
        <p:nvSpPr>
          <p:cNvPr id="6" name="Text 4"/>
          <p:cNvSpPr txBox="1"/>
          <p:nvPr/>
        </p:nvSpPr>
        <p:spPr>
          <a:xfrm>
            <a:off x="566928" y="804672"/>
            <a:ext cx="10972800" cy="475488"/>
          </a:xfrm>
          <a:prstGeom prst="rect">
            <a:avLst/>
          </a:prstGeom>
          <a:noFill/>
          <a:ln/>
        </p:spPr>
        <p:txBody>
          <a:bodyPr wrap="square" lIns="0" tIns="0" rIns="0" bIns="0" rtlCol="0" anchor="ctr">
            <a:normAutofit/>
          </a:bodyPr>
          <a:lstStyle/>
          <a:p>
            <a:pPr algn="l" indent="0" marL="0">
              <a:buNone/>
            </a:pPr>
            <a:r>
              <a:rPr lang="en-US" sz="2700" b="1" dirty="0">
                <a:solidFill>
                  <a:srgbClr val="132033"/>
                </a:solidFill>
                <a:latin typeface="Aptos Display" pitchFamily="34" charset="0"/>
                <a:ea typeface="Aptos Display" pitchFamily="34" charset="-122"/>
                <a:cs typeface="Aptos Display" pitchFamily="34" charset="-120"/>
              </a:rPr>
              <a:t>Show one issue from scan to resolution.</a:t>
            </a:r>
            <a:endParaRPr lang="en-US" sz="2700" dirty="0"/>
          </a:p>
        </p:txBody>
      </p:sp>
      <p:sp>
        <p:nvSpPr>
          <p:cNvPr id="7" name="Text 5"/>
          <p:cNvSpPr txBox="1"/>
          <p:nvPr/>
        </p:nvSpPr>
        <p:spPr>
          <a:xfrm>
            <a:off x="585216" y="1335024"/>
            <a:ext cx="10881360" cy="347472"/>
          </a:xfrm>
          <a:prstGeom prst="rect">
            <a:avLst/>
          </a:prstGeom>
          <a:noFill/>
          <a:ln/>
        </p:spPr>
        <p:txBody>
          <a:bodyPr wrap="square" lIns="0" tIns="0" rIns="0" bIns="0" rtlCol="0" anchor="ctr">
            <a:normAutofit/>
          </a:bodyPr>
          <a:lstStyle/>
          <a:p>
            <a:pPr algn="l" indent="0" marL="0">
              <a:buNone/>
            </a:pPr>
            <a:r>
              <a:rPr lang="en-US" sz="1200" dirty="0">
                <a:solidFill>
                  <a:srgbClr val="526176"/>
                </a:solidFill>
                <a:latin typeface="Aptos" pitchFamily="34" charset="0"/>
                <a:ea typeface="Aptos" pitchFamily="34" charset="-122"/>
                <a:cs typeface="Aptos" pitchFamily="34" charset="-120"/>
              </a:rPr>
              <a:t>One coherent story is more memorable than a tour of disconnected screens.</a:t>
            </a:r>
            <a:endParaRPr lang="en-US" sz="1200" dirty="0"/>
          </a:p>
        </p:txBody>
      </p:sp>
      <p:sp>
        <p:nvSpPr>
          <p:cNvPr id="8" name="Shape 6"/>
          <p:cNvSpPr/>
          <p:nvPr/>
        </p:nvSpPr>
        <p:spPr>
          <a:xfrm>
            <a:off x="960120" y="2423160"/>
            <a:ext cx="10195560" cy="0"/>
          </a:xfrm>
          <a:prstGeom prst="line">
            <a:avLst/>
          </a:prstGeom>
          <a:noFill/>
          <a:ln w="25400">
            <a:solidFill>
              <a:srgbClr val="DCE3EA"/>
            </a:solidFill>
            <a:prstDash val="solid"/>
            <a:headEnd type="none"/>
            <a:tailEnd type="none"/>
          </a:ln>
        </p:spPr>
      </p:sp>
      <p:sp>
        <p:nvSpPr>
          <p:cNvPr id="9" name="Shape 7"/>
          <p:cNvSpPr/>
          <p:nvPr/>
        </p:nvSpPr>
        <p:spPr>
          <a:xfrm>
            <a:off x="1033272" y="2139696"/>
            <a:ext cx="548640" cy="548640"/>
          </a:xfrm>
          <a:prstGeom prst="ellipse">
            <a:avLst/>
          </a:prstGeom>
          <a:solidFill>
            <a:srgbClr val="2DD4BF"/>
          </a:solidFill>
          <a:ln w="12700">
            <a:solidFill>
              <a:srgbClr val="FFFFFF"/>
            </a:solidFill>
            <a:prstDash val="solid"/>
          </a:ln>
        </p:spPr>
      </p:sp>
      <p:sp>
        <p:nvSpPr>
          <p:cNvPr id="10" name="Text 8"/>
          <p:cNvSpPr txBox="1"/>
          <p:nvPr/>
        </p:nvSpPr>
        <p:spPr>
          <a:xfrm>
            <a:off x="1033272" y="2313432"/>
            <a:ext cx="548640" cy="164592"/>
          </a:xfrm>
          <a:prstGeom prst="rect">
            <a:avLst/>
          </a:prstGeom>
          <a:noFill/>
          <a:ln/>
        </p:spPr>
        <p:txBody>
          <a:bodyPr wrap="square" lIns="0" tIns="0" rIns="0" bIns="0" rtlCol="0" anchor="ctr">
            <a:normAutofit/>
          </a:bodyPr>
          <a:lstStyle/>
          <a:p>
            <a:pPr algn="ctr" indent="0" marL="0">
              <a:buNone/>
            </a:pPr>
            <a:r>
              <a:rPr lang="en-US" sz="1000" b="1" dirty="0">
                <a:solidFill>
                  <a:srgbClr val="0B1220"/>
                </a:solidFill>
                <a:latin typeface="Aptos" pitchFamily="34" charset="0"/>
                <a:ea typeface="Aptos" pitchFamily="34" charset="-122"/>
                <a:cs typeface="Aptos" pitchFamily="34" charset="-120"/>
              </a:rPr>
              <a:t>01</a:t>
            </a:r>
            <a:endParaRPr lang="en-US" sz="1000" dirty="0"/>
          </a:p>
        </p:txBody>
      </p:sp>
      <p:sp>
        <p:nvSpPr>
          <p:cNvPr id="11" name="Text 9"/>
          <p:cNvSpPr txBox="1"/>
          <p:nvPr/>
        </p:nvSpPr>
        <p:spPr>
          <a:xfrm>
            <a:off x="731520" y="2862072"/>
            <a:ext cx="1170432" cy="164592"/>
          </a:xfrm>
          <a:prstGeom prst="rect">
            <a:avLst/>
          </a:prstGeom>
          <a:noFill/>
          <a:ln/>
        </p:spPr>
        <p:txBody>
          <a:bodyPr wrap="square" lIns="0" tIns="0" rIns="0" bIns="0" rtlCol="0" anchor="ctr">
            <a:normAutofit/>
          </a:bodyPr>
          <a:lstStyle/>
          <a:p>
            <a:pPr algn="ctr" indent="0" marL="0">
              <a:buNone/>
            </a:pPr>
            <a:r>
              <a:rPr lang="en-US" sz="900" b="1" dirty="0">
                <a:solidFill>
                  <a:srgbClr val="0F766E"/>
                </a:solidFill>
                <a:latin typeface="Aptos" pitchFamily="34" charset="0"/>
                <a:ea typeface="Aptos" pitchFamily="34" charset="-122"/>
                <a:cs typeface="Aptos" pitchFamily="34" charset="-120"/>
              </a:rPr>
              <a:t>00:00</a:t>
            </a:r>
            <a:endParaRPr lang="en-US" sz="900" dirty="0"/>
          </a:p>
        </p:txBody>
      </p:sp>
      <p:sp>
        <p:nvSpPr>
          <p:cNvPr id="12" name="Text 10"/>
          <p:cNvSpPr txBox="1"/>
          <p:nvPr/>
        </p:nvSpPr>
        <p:spPr>
          <a:xfrm>
            <a:off x="685800" y="3136392"/>
            <a:ext cx="1298448" cy="182880"/>
          </a:xfrm>
          <a:prstGeom prst="rect">
            <a:avLst/>
          </a:prstGeom>
          <a:noFill/>
          <a:ln/>
        </p:spPr>
        <p:txBody>
          <a:bodyPr wrap="square" lIns="0" tIns="0" rIns="0" bIns="0" rtlCol="0" anchor="ctr">
            <a:normAutofit/>
          </a:bodyPr>
          <a:lstStyle/>
          <a:p>
            <a:pPr algn="ctr" indent="0" marL="0">
              <a:buNone/>
            </a:pPr>
            <a:r>
              <a:rPr lang="en-US" sz="1000" b="1" dirty="0">
                <a:solidFill>
                  <a:srgbClr val="132033"/>
                </a:solidFill>
                <a:latin typeface="Aptos" pitchFamily="34" charset="0"/>
                <a:ea typeface="Aptos" pitchFamily="34" charset="-122"/>
                <a:cs typeface="Aptos" pitchFamily="34" charset="-120"/>
              </a:rPr>
              <a:t>SCAN</a:t>
            </a:r>
            <a:endParaRPr lang="en-US" sz="1000" dirty="0"/>
          </a:p>
        </p:txBody>
      </p:sp>
      <p:sp>
        <p:nvSpPr>
          <p:cNvPr id="13" name="Text 11"/>
          <p:cNvSpPr txBox="1"/>
          <p:nvPr/>
        </p:nvSpPr>
        <p:spPr>
          <a:xfrm>
            <a:off x="548640" y="3474720"/>
            <a:ext cx="1554480" cy="566928"/>
          </a:xfrm>
          <a:prstGeom prst="rect">
            <a:avLst/>
          </a:prstGeom>
          <a:noFill/>
          <a:ln/>
        </p:spPr>
        <p:txBody>
          <a:bodyPr wrap="square" lIns="0" tIns="0" rIns="0" bIns="0" rtlCol="0" anchor="ctr">
            <a:normAutofit/>
          </a:bodyPr>
          <a:lstStyle/>
          <a:p>
            <a:pPr algn="ctr" indent="0" marL="0">
              <a:buNone/>
            </a:pPr>
            <a:r>
              <a:rPr lang="en-US" sz="880" dirty="0">
                <a:solidFill>
                  <a:srgbClr val="526176"/>
                </a:solidFill>
                <a:latin typeface="Aptos" pitchFamily="34" charset="0"/>
                <a:ea typeface="Aptos" pitchFamily="34" charset="-122"/>
                <a:cs typeface="Aptos" pitchFamily="34" charset="-120"/>
              </a:rPr>
              <a:t>Upload the pothole photo</a:t>
            </a:r>
            <a:endParaRPr lang="en-US" sz="880" dirty="0"/>
          </a:p>
        </p:txBody>
      </p:sp>
      <p:sp>
        <p:nvSpPr>
          <p:cNvPr id="14" name="Shape 12"/>
          <p:cNvSpPr/>
          <p:nvPr/>
        </p:nvSpPr>
        <p:spPr>
          <a:xfrm>
            <a:off x="2926080" y="2139696"/>
            <a:ext cx="548640" cy="548640"/>
          </a:xfrm>
          <a:prstGeom prst="ellipse">
            <a:avLst/>
          </a:prstGeom>
          <a:solidFill>
            <a:srgbClr val="7DD3FC"/>
          </a:solidFill>
          <a:ln w="12700">
            <a:solidFill>
              <a:srgbClr val="FFFFFF"/>
            </a:solidFill>
            <a:prstDash val="solid"/>
          </a:ln>
        </p:spPr>
      </p:sp>
      <p:sp>
        <p:nvSpPr>
          <p:cNvPr id="15" name="Text 13"/>
          <p:cNvSpPr txBox="1"/>
          <p:nvPr/>
        </p:nvSpPr>
        <p:spPr>
          <a:xfrm>
            <a:off x="2926080" y="2313432"/>
            <a:ext cx="548640" cy="164592"/>
          </a:xfrm>
          <a:prstGeom prst="rect">
            <a:avLst/>
          </a:prstGeom>
          <a:noFill/>
          <a:ln/>
        </p:spPr>
        <p:txBody>
          <a:bodyPr wrap="square" lIns="0" tIns="0" rIns="0" bIns="0" rtlCol="0" anchor="ctr">
            <a:normAutofit/>
          </a:bodyPr>
          <a:lstStyle/>
          <a:p>
            <a:pPr algn="ctr" indent="0" marL="0">
              <a:buNone/>
            </a:pPr>
            <a:r>
              <a:rPr lang="en-US" sz="1000" b="1" dirty="0">
                <a:solidFill>
                  <a:srgbClr val="0B1220"/>
                </a:solidFill>
                <a:latin typeface="Aptos" pitchFamily="34" charset="0"/>
                <a:ea typeface="Aptos" pitchFamily="34" charset="-122"/>
                <a:cs typeface="Aptos" pitchFamily="34" charset="-120"/>
              </a:rPr>
              <a:t>02</a:t>
            </a:r>
            <a:endParaRPr lang="en-US" sz="1000" dirty="0"/>
          </a:p>
        </p:txBody>
      </p:sp>
      <p:sp>
        <p:nvSpPr>
          <p:cNvPr id="16" name="Text 14"/>
          <p:cNvSpPr txBox="1"/>
          <p:nvPr/>
        </p:nvSpPr>
        <p:spPr>
          <a:xfrm>
            <a:off x="2624328" y="2862072"/>
            <a:ext cx="1170432" cy="164592"/>
          </a:xfrm>
          <a:prstGeom prst="rect">
            <a:avLst/>
          </a:prstGeom>
          <a:noFill/>
          <a:ln/>
        </p:spPr>
        <p:txBody>
          <a:bodyPr wrap="square" lIns="0" tIns="0" rIns="0" bIns="0" rtlCol="0" anchor="ctr">
            <a:normAutofit/>
          </a:bodyPr>
          <a:lstStyle/>
          <a:p>
            <a:pPr algn="ctr" indent="0" marL="0">
              <a:buNone/>
            </a:pPr>
            <a:r>
              <a:rPr lang="en-US" sz="900" b="1" dirty="0">
                <a:solidFill>
                  <a:srgbClr val="0F766E"/>
                </a:solidFill>
                <a:latin typeface="Aptos" pitchFamily="34" charset="0"/>
                <a:ea typeface="Aptos" pitchFamily="34" charset="-122"/>
                <a:cs typeface="Aptos" pitchFamily="34" charset="-120"/>
              </a:rPr>
              <a:t>00:25</a:t>
            </a:r>
            <a:endParaRPr lang="en-US" sz="900" dirty="0"/>
          </a:p>
        </p:txBody>
      </p:sp>
      <p:sp>
        <p:nvSpPr>
          <p:cNvPr id="17" name="Text 15"/>
          <p:cNvSpPr txBox="1"/>
          <p:nvPr/>
        </p:nvSpPr>
        <p:spPr>
          <a:xfrm>
            <a:off x="2578608" y="3136392"/>
            <a:ext cx="1298448" cy="182880"/>
          </a:xfrm>
          <a:prstGeom prst="rect">
            <a:avLst/>
          </a:prstGeom>
          <a:noFill/>
          <a:ln/>
        </p:spPr>
        <p:txBody>
          <a:bodyPr wrap="square" lIns="0" tIns="0" rIns="0" bIns="0" rtlCol="0" anchor="ctr">
            <a:normAutofit/>
          </a:bodyPr>
          <a:lstStyle/>
          <a:p>
            <a:pPr algn="ctr" indent="0" marL="0">
              <a:buNone/>
            </a:pPr>
            <a:r>
              <a:rPr lang="en-US" sz="1000" b="1" dirty="0">
                <a:solidFill>
                  <a:srgbClr val="132033"/>
                </a:solidFill>
                <a:latin typeface="Aptos" pitchFamily="34" charset="0"/>
                <a:ea typeface="Aptos" pitchFamily="34" charset="-122"/>
                <a:cs typeface="Aptos" pitchFamily="34" charset="-120"/>
              </a:rPr>
              <a:t>ANALYZE</a:t>
            </a:r>
            <a:endParaRPr lang="en-US" sz="1000" dirty="0"/>
          </a:p>
        </p:txBody>
      </p:sp>
      <p:sp>
        <p:nvSpPr>
          <p:cNvPr id="18" name="Text 16"/>
          <p:cNvSpPr txBox="1"/>
          <p:nvPr/>
        </p:nvSpPr>
        <p:spPr>
          <a:xfrm>
            <a:off x="2441448" y="3474720"/>
            <a:ext cx="1554480" cy="566928"/>
          </a:xfrm>
          <a:prstGeom prst="rect">
            <a:avLst/>
          </a:prstGeom>
          <a:noFill/>
          <a:ln/>
        </p:spPr>
        <p:txBody>
          <a:bodyPr wrap="square" lIns="0" tIns="0" rIns="0" bIns="0" rtlCol="0" anchor="ctr">
            <a:normAutofit/>
          </a:bodyPr>
          <a:lstStyle/>
          <a:p>
            <a:pPr algn="ctr" indent="0" marL="0">
              <a:buNone/>
            </a:pPr>
            <a:r>
              <a:rPr lang="en-US" sz="880" dirty="0">
                <a:solidFill>
                  <a:srgbClr val="526176"/>
                </a:solidFill>
                <a:latin typeface="Aptos" pitchFamily="34" charset="0"/>
                <a:ea typeface="Aptos" pitchFamily="34" charset="-122"/>
                <a:cs typeface="Aptos" pitchFamily="34" charset="-120"/>
              </a:rPr>
              <a:t>Show category + scores</a:t>
            </a:r>
            <a:endParaRPr lang="en-US" sz="880" dirty="0"/>
          </a:p>
        </p:txBody>
      </p:sp>
      <p:sp>
        <p:nvSpPr>
          <p:cNvPr id="19" name="Shape 17"/>
          <p:cNvSpPr/>
          <p:nvPr/>
        </p:nvSpPr>
        <p:spPr>
          <a:xfrm>
            <a:off x="4818888" y="2139696"/>
            <a:ext cx="548640" cy="548640"/>
          </a:xfrm>
          <a:prstGeom prst="ellipse">
            <a:avLst/>
          </a:prstGeom>
          <a:solidFill>
            <a:srgbClr val="FFC66D"/>
          </a:solidFill>
          <a:ln w="12700">
            <a:solidFill>
              <a:srgbClr val="FFFFFF"/>
            </a:solidFill>
            <a:prstDash val="solid"/>
          </a:ln>
        </p:spPr>
      </p:sp>
      <p:sp>
        <p:nvSpPr>
          <p:cNvPr id="20" name="Text 18"/>
          <p:cNvSpPr txBox="1"/>
          <p:nvPr/>
        </p:nvSpPr>
        <p:spPr>
          <a:xfrm>
            <a:off x="4818888" y="2313432"/>
            <a:ext cx="548640" cy="164592"/>
          </a:xfrm>
          <a:prstGeom prst="rect">
            <a:avLst/>
          </a:prstGeom>
          <a:noFill/>
          <a:ln/>
        </p:spPr>
        <p:txBody>
          <a:bodyPr wrap="square" lIns="0" tIns="0" rIns="0" bIns="0" rtlCol="0" anchor="ctr">
            <a:normAutofit/>
          </a:bodyPr>
          <a:lstStyle/>
          <a:p>
            <a:pPr algn="ctr" indent="0" marL="0">
              <a:buNone/>
            </a:pPr>
            <a:r>
              <a:rPr lang="en-US" sz="1000" b="1" dirty="0">
                <a:solidFill>
                  <a:srgbClr val="0B1220"/>
                </a:solidFill>
                <a:latin typeface="Aptos" pitchFamily="34" charset="0"/>
                <a:ea typeface="Aptos" pitchFamily="34" charset="-122"/>
                <a:cs typeface="Aptos" pitchFamily="34" charset="-120"/>
              </a:rPr>
              <a:t>03</a:t>
            </a:r>
            <a:endParaRPr lang="en-US" sz="1000" dirty="0"/>
          </a:p>
        </p:txBody>
      </p:sp>
      <p:sp>
        <p:nvSpPr>
          <p:cNvPr id="21" name="Text 19"/>
          <p:cNvSpPr txBox="1"/>
          <p:nvPr/>
        </p:nvSpPr>
        <p:spPr>
          <a:xfrm>
            <a:off x="4517136" y="2862072"/>
            <a:ext cx="1170432" cy="164592"/>
          </a:xfrm>
          <a:prstGeom prst="rect">
            <a:avLst/>
          </a:prstGeom>
          <a:noFill/>
          <a:ln/>
        </p:spPr>
        <p:txBody>
          <a:bodyPr wrap="square" lIns="0" tIns="0" rIns="0" bIns="0" rtlCol="0" anchor="ctr">
            <a:normAutofit/>
          </a:bodyPr>
          <a:lstStyle/>
          <a:p>
            <a:pPr algn="ctr" indent="0" marL="0">
              <a:buNone/>
            </a:pPr>
            <a:r>
              <a:rPr lang="en-US" sz="900" b="1" dirty="0">
                <a:solidFill>
                  <a:srgbClr val="0F766E"/>
                </a:solidFill>
                <a:latin typeface="Aptos" pitchFamily="34" charset="0"/>
                <a:ea typeface="Aptos" pitchFamily="34" charset="-122"/>
                <a:cs typeface="Aptos" pitchFamily="34" charset="-120"/>
              </a:rPr>
              <a:t>00:55</a:t>
            </a:r>
            <a:endParaRPr lang="en-US" sz="900" dirty="0"/>
          </a:p>
        </p:txBody>
      </p:sp>
      <p:sp>
        <p:nvSpPr>
          <p:cNvPr id="22" name="Text 20"/>
          <p:cNvSpPr txBox="1"/>
          <p:nvPr/>
        </p:nvSpPr>
        <p:spPr>
          <a:xfrm>
            <a:off x="4471416" y="3136392"/>
            <a:ext cx="1298448" cy="182880"/>
          </a:xfrm>
          <a:prstGeom prst="rect">
            <a:avLst/>
          </a:prstGeom>
          <a:noFill/>
          <a:ln/>
        </p:spPr>
        <p:txBody>
          <a:bodyPr wrap="square" lIns="0" tIns="0" rIns="0" bIns="0" rtlCol="0" anchor="ctr">
            <a:normAutofit/>
          </a:bodyPr>
          <a:lstStyle/>
          <a:p>
            <a:pPr algn="ctr" indent="0" marL="0">
              <a:buNone/>
            </a:pPr>
            <a:r>
              <a:rPr lang="en-US" sz="1000" b="1" dirty="0">
                <a:solidFill>
                  <a:srgbClr val="132033"/>
                </a:solidFill>
                <a:latin typeface="Aptos" pitchFamily="34" charset="0"/>
                <a:ea typeface="Aptos" pitchFamily="34" charset="-122"/>
                <a:cs typeface="Aptos" pitchFamily="34" charset="-120"/>
              </a:rPr>
              <a:t>CLUSTER</a:t>
            </a:r>
            <a:endParaRPr lang="en-US" sz="1000" dirty="0"/>
          </a:p>
        </p:txBody>
      </p:sp>
      <p:sp>
        <p:nvSpPr>
          <p:cNvPr id="23" name="Text 21"/>
          <p:cNvSpPr txBox="1"/>
          <p:nvPr/>
        </p:nvSpPr>
        <p:spPr>
          <a:xfrm>
            <a:off x="4334256" y="3474720"/>
            <a:ext cx="1554480" cy="566928"/>
          </a:xfrm>
          <a:prstGeom prst="rect">
            <a:avLst/>
          </a:prstGeom>
          <a:noFill/>
          <a:ln/>
        </p:spPr>
        <p:txBody>
          <a:bodyPr wrap="square" lIns="0" tIns="0" rIns="0" bIns="0" rtlCol="0" anchor="ctr">
            <a:normAutofit/>
          </a:bodyPr>
          <a:lstStyle/>
          <a:p>
            <a:pPr algn="ctr" indent="0" marL="0">
              <a:buNone/>
            </a:pPr>
            <a:r>
              <a:rPr lang="en-US" sz="880" dirty="0">
                <a:solidFill>
                  <a:srgbClr val="526176"/>
                </a:solidFill>
                <a:latin typeface="Aptos" pitchFamily="34" charset="0"/>
                <a:ea typeface="Aptos" pitchFamily="34" charset="-122"/>
                <a:cs typeface="Aptos" pitchFamily="34" charset="-120"/>
              </a:rPr>
              <a:t>Find the existing CF-1024</a:t>
            </a:r>
            <a:endParaRPr lang="en-US" sz="880" dirty="0"/>
          </a:p>
        </p:txBody>
      </p:sp>
      <p:sp>
        <p:nvSpPr>
          <p:cNvPr id="24" name="Shape 22"/>
          <p:cNvSpPr/>
          <p:nvPr/>
        </p:nvSpPr>
        <p:spPr>
          <a:xfrm>
            <a:off x="6711696" y="2139696"/>
            <a:ext cx="548640" cy="548640"/>
          </a:xfrm>
          <a:prstGeom prst="ellipse">
            <a:avLst/>
          </a:prstGeom>
          <a:solidFill>
            <a:srgbClr val="D5FF74"/>
          </a:solidFill>
          <a:ln w="12700">
            <a:solidFill>
              <a:srgbClr val="FFFFFF"/>
            </a:solidFill>
            <a:prstDash val="solid"/>
          </a:ln>
        </p:spPr>
      </p:sp>
      <p:sp>
        <p:nvSpPr>
          <p:cNvPr id="25" name="Text 23"/>
          <p:cNvSpPr txBox="1"/>
          <p:nvPr/>
        </p:nvSpPr>
        <p:spPr>
          <a:xfrm>
            <a:off x="6711696" y="2313432"/>
            <a:ext cx="548640" cy="164592"/>
          </a:xfrm>
          <a:prstGeom prst="rect">
            <a:avLst/>
          </a:prstGeom>
          <a:noFill/>
          <a:ln/>
        </p:spPr>
        <p:txBody>
          <a:bodyPr wrap="square" lIns="0" tIns="0" rIns="0" bIns="0" rtlCol="0" anchor="ctr">
            <a:normAutofit/>
          </a:bodyPr>
          <a:lstStyle/>
          <a:p>
            <a:pPr algn="ctr" indent="0" marL="0">
              <a:buNone/>
            </a:pPr>
            <a:r>
              <a:rPr lang="en-US" sz="1000" b="1" dirty="0">
                <a:solidFill>
                  <a:srgbClr val="0B1220"/>
                </a:solidFill>
                <a:latin typeface="Aptos" pitchFamily="34" charset="0"/>
                <a:ea typeface="Aptos" pitchFamily="34" charset="-122"/>
                <a:cs typeface="Aptos" pitchFamily="34" charset="-120"/>
              </a:rPr>
              <a:t>04</a:t>
            </a:r>
            <a:endParaRPr lang="en-US" sz="1000" dirty="0"/>
          </a:p>
        </p:txBody>
      </p:sp>
      <p:sp>
        <p:nvSpPr>
          <p:cNvPr id="26" name="Text 24"/>
          <p:cNvSpPr txBox="1"/>
          <p:nvPr/>
        </p:nvSpPr>
        <p:spPr>
          <a:xfrm>
            <a:off x="6409944" y="2862072"/>
            <a:ext cx="1170432" cy="164592"/>
          </a:xfrm>
          <a:prstGeom prst="rect">
            <a:avLst/>
          </a:prstGeom>
          <a:noFill/>
          <a:ln/>
        </p:spPr>
        <p:txBody>
          <a:bodyPr wrap="square" lIns="0" tIns="0" rIns="0" bIns="0" rtlCol="0" anchor="ctr">
            <a:normAutofit/>
          </a:bodyPr>
          <a:lstStyle/>
          <a:p>
            <a:pPr algn="ctr" indent="0" marL="0">
              <a:buNone/>
            </a:pPr>
            <a:r>
              <a:rPr lang="en-US" sz="900" b="1" dirty="0">
                <a:solidFill>
                  <a:srgbClr val="0F766E"/>
                </a:solidFill>
                <a:latin typeface="Aptos" pitchFamily="34" charset="0"/>
                <a:ea typeface="Aptos" pitchFamily="34" charset="-122"/>
                <a:cs typeface="Aptos" pitchFamily="34" charset="-120"/>
              </a:rPr>
              <a:t>01:25</a:t>
            </a:r>
            <a:endParaRPr lang="en-US" sz="900" dirty="0"/>
          </a:p>
        </p:txBody>
      </p:sp>
      <p:sp>
        <p:nvSpPr>
          <p:cNvPr id="27" name="Text 25"/>
          <p:cNvSpPr txBox="1"/>
          <p:nvPr/>
        </p:nvSpPr>
        <p:spPr>
          <a:xfrm>
            <a:off x="6364224" y="3136392"/>
            <a:ext cx="1298448" cy="182880"/>
          </a:xfrm>
          <a:prstGeom prst="rect">
            <a:avLst/>
          </a:prstGeom>
          <a:noFill/>
          <a:ln/>
        </p:spPr>
        <p:txBody>
          <a:bodyPr wrap="square" lIns="0" tIns="0" rIns="0" bIns="0" rtlCol="0" anchor="ctr">
            <a:normAutofit/>
          </a:bodyPr>
          <a:lstStyle/>
          <a:p>
            <a:pPr algn="ctr" indent="0" marL="0">
              <a:buNone/>
            </a:pPr>
            <a:r>
              <a:rPr lang="en-US" sz="1000" b="1" dirty="0">
                <a:solidFill>
                  <a:srgbClr val="132033"/>
                </a:solidFill>
                <a:latin typeface="Aptos" pitchFamily="34" charset="0"/>
                <a:ea typeface="Aptos" pitchFamily="34" charset="-122"/>
                <a:cs typeface="Aptos" pitchFamily="34" charset="-120"/>
              </a:rPr>
              <a:t>MAP</a:t>
            </a:r>
            <a:endParaRPr lang="en-US" sz="1000" dirty="0"/>
          </a:p>
        </p:txBody>
      </p:sp>
      <p:sp>
        <p:nvSpPr>
          <p:cNvPr id="28" name="Text 26"/>
          <p:cNvSpPr txBox="1"/>
          <p:nvPr/>
        </p:nvSpPr>
        <p:spPr>
          <a:xfrm>
            <a:off x="6227064" y="3474720"/>
            <a:ext cx="1554480" cy="566928"/>
          </a:xfrm>
          <a:prstGeom prst="rect">
            <a:avLst/>
          </a:prstGeom>
          <a:noFill/>
          <a:ln/>
        </p:spPr>
        <p:txBody>
          <a:bodyPr wrap="square" lIns="0" tIns="0" rIns="0" bIns="0" rtlCol="0" anchor="ctr">
            <a:normAutofit/>
          </a:bodyPr>
          <a:lstStyle/>
          <a:p>
            <a:pPr algn="ctr" indent="0" marL="0">
              <a:buNone/>
            </a:pPr>
            <a:r>
              <a:rPr lang="en-US" sz="880" dirty="0">
                <a:solidFill>
                  <a:srgbClr val="526176"/>
                </a:solidFill>
                <a:latin typeface="Aptos" pitchFamily="34" charset="0"/>
                <a:ea typeface="Aptos" pitchFamily="34" charset="-122"/>
                <a:cs typeface="Aptos" pitchFamily="34" charset="-120"/>
              </a:rPr>
              <a:t>Open marker + Street View</a:t>
            </a:r>
            <a:endParaRPr lang="en-US" sz="880" dirty="0"/>
          </a:p>
        </p:txBody>
      </p:sp>
      <p:sp>
        <p:nvSpPr>
          <p:cNvPr id="29" name="Shape 27"/>
          <p:cNvSpPr/>
          <p:nvPr/>
        </p:nvSpPr>
        <p:spPr>
          <a:xfrm>
            <a:off x="8604504" y="2139696"/>
            <a:ext cx="548640" cy="548640"/>
          </a:xfrm>
          <a:prstGeom prst="ellipse">
            <a:avLst/>
          </a:prstGeom>
          <a:solidFill>
            <a:srgbClr val="7DD3FC"/>
          </a:solidFill>
          <a:ln w="12700">
            <a:solidFill>
              <a:srgbClr val="FFFFFF"/>
            </a:solidFill>
            <a:prstDash val="solid"/>
          </a:ln>
        </p:spPr>
      </p:sp>
      <p:sp>
        <p:nvSpPr>
          <p:cNvPr id="30" name="Text 28"/>
          <p:cNvSpPr txBox="1"/>
          <p:nvPr/>
        </p:nvSpPr>
        <p:spPr>
          <a:xfrm>
            <a:off x="8604504" y="2313432"/>
            <a:ext cx="548640" cy="164592"/>
          </a:xfrm>
          <a:prstGeom prst="rect">
            <a:avLst/>
          </a:prstGeom>
          <a:noFill/>
          <a:ln/>
        </p:spPr>
        <p:txBody>
          <a:bodyPr wrap="square" lIns="0" tIns="0" rIns="0" bIns="0" rtlCol="0" anchor="ctr">
            <a:normAutofit/>
          </a:bodyPr>
          <a:lstStyle/>
          <a:p>
            <a:pPr algn="ctr" indent="0" marL="0">
              <a:buNone/>
            </a:pPr>
            <a:r>
              <a:rPr lang="en-US" sz="1000" b="1" dirty="0">
                <a:solidFill>
                  <a:srgbClr val="0B1220"/>
                </a:solidFill>
                <a:latin typeface="Aptos" pitchFamily="34" charset="0"/>
                <a:ea typeface="Aptos" pitchFamily="34" charset="-122"/>
                <a:cs typeface="Aptos" pitchFamily="34" charset="-120"/>
              </a:rPr>
              <a:t>05</a:t>
            </a:r>
            <a:endParaRPr lang="en-US" sz="1000" dirty="0"/>
          </a:p>
        </p:txBody>
      </p:sp>
      <p:sp>
        <p:nvSpPr>
          <p:cNvPr id="31" name="Text 29"/>
          <p:cNvSpPr txBox="1"/>
          <p:nvPr/>
        </p:nvSpPr>
        <p:spPr>
          <a:xfrm>
            <a:off x="8302752" y="2862072"/>
            <a:ext cx="1170432" cy="164592"/>
          </a:xfrm>
          <a:prstGeom prst="rect">
            <a:avLst/>
          </a:prstGeom>
          <a:noFill/>
          <a:ln/>
        </p:spPr>
        <p:txBody>
          <a:bodyPr wrap="square" lIns="0" tIns="0" rIns="0" bIns="0" rtlCol="0" anchor="ctr">
            <a:normAutofit/>
          </a:bodyPr>
          <a:lstStyle/>
          <a:p>
            <a:pPr algn="ctr" indent="0" marL="0">
              <a:buNone/>
            </a:pPr>
            <a:r>
              <a:rPr lang="en-US" sz="900" b="1" dirty="0">
                <a:solidFill>
                  <a:srgbClr val="0F766E"/>
                </a:solidFill>
                <a:latin typeface="Aptos" pitchFamily="34" charset="0"/>
                <a:ea typeface="Aptos" pitchFamily="34" charset="-122"/>
                <a:cs typeface="Aptos" pitchFamily="34" charset="-120"/>
              </a:rPr>
              <a:t>02:00</a:t>
            </a:r>
            <a:endParaRPr lang="en-US" sz="900" dirty="0"/>
          </a:p>
        </p:txBody>
      </p:sp>
      <p:sp>
        <p:nvSpPr>
          <p:cNvPr id="32" name="Text 30"/>
          <p:cNvSpPr txBox="1"/>
          <p:nvPr/>
        </p:nvSpPr>
        <p:spPr>
          <a:xfrm>
            <a:off x="8257032" y="3136392"/>
            <a:ext cx="1298448" cy="182880"/>
          </a:xfrm>
          <a:prstGeom prst="rect">
            <a:avLst/>
          </a:prstGeom>
          <a:noFill/>
          <a:ln/>
        </p:spPr>
        <p:txBody>
          <a:bodyPr wrap="square" lIns="0" tIns="0" rIns="0" bIns="0" rtlCol="0" anchor="ctr">
            <a:normAutofit/>
          </a:bodyPr>
          <a:lstStyle/>
          <a:p>
            <a:pPr algn="ctr" indent="0" marL="0">
              <a:buNone/>
            </a:pPr>
            <a:r>
              <a:rPr lang="en-US" sz="1000" b="1" dirty="0">
                <a:solidFill>
                  <a:srgbClr val="132033"/>
                </a:solidFill>
                <a:latin typeface="Aptos" pitchFamily="34" charset="0"/>
                <a:ea typeface="Aptos" pitchFamily="34" charset="-122"/>
                <a:cs typeface="Aptos" pitchFamily="34" charset="-120"/>
              </a:rPr>
              <a:t>AUTHORITY</a:t>
            </a:r>
            <a:endParaRPr lang="en-US" sz="1000" dirty="0"/>
          </a:p>
        </p:txBody>
      </p:sp>
      <p:sp>
        <p:nvSpPr>
          <p:cNvPr id="33" name="Text 31"/>
          <p:cNvSpPr txBox="1"/>
          <p:nvPr/>
        </p:nvSpPr>
        <p:spPr>
          <a:xfrm>
            <a:off x="8119872" y="3474720"/>
            <a:ext cx="1554480" cy="566928"/>
          </a:xfrm>
          <a:prstGeom prst="rect">
            <a:avLst/>
          </a:prstGeom>
          <a:noFill/>
          <a:ln/>
        </p:spPr>
        <p:txBody>
          <a:bodyPr wrap="square" lIns="0" tIns="0" rIns="0" bIns="0" rtlCol="0" anchor="ctr">
            <a:normAutofit/>
          </a:bodyPr>
          <a:lstStyle/>
          <a:p>
            <a:pPr algn="ctr" indent="0" marL="0">
              <a:buNone/>
            </a:pPr>
            <a:r>
              <a:rPr lang="en-US" sz="880" dirty="0">
                <a:solidFill>
                  <a:srgbClr val="526176"/>
                </a:solidFill>
                <a:latin typeface="Aptos" pitchFamily="34" charset="0"/>
                <a:ea typeface="Aptos" pitchFamily="34" charset="-122"/>
                <a:cs typeface="Aptos" pitchFamily="34" charset="-120"/>
              </a:rPr>
              <a:t>Search ID, add resolution evidence</a:t>
            </a:r>
            <a:endParaRPr lang="en-US" sz="880" dirty="0"/>
          </a:p>
        </p:txBody>
      </p:sp>
      <p:sp>
        <p:nvSpPr>
          <p:cNvPr id="34" name="Shape 32"/>
          <p:cNvSpPr/>
          <p:nvPr/>
        </p:nvSpPr>
        <p:spPr>
          <a:xfrm>
            <a:off x="10497312" y="2139696"/>
            <a:ext cx="548640" cy="548640"/>
          </a:xfrm>
          <a:prstGeom prst="ellipse">
            <a:avLst/>
          </a:prstGeom>
          <a:solidFill>
            <a:srgbClr val="2DD4BF"/>
          </a:solidFill>
          <a:ln w="12700">
            <a:solidFill>
              <a:srgbClr val="FFFFFF"/>
            </a:solidFill>
            <a:prstDash val="solid"/>
          </a:ln>
        </p:spPr>
      </p:sp>
      <p:sp>
        <p:nvSpPr>
          <p:cNvPr id="35" name="Text 33"/>
          <p:cNvSpPr txBox="1"/>
          <p:nvPr/>
        </p:nvSpPr>
        <p:spPr>
          <a:xfrm>
            <a:off x="10497312" y="2313432"/>
            <a:ext cx="548640" cy="164592"/>
          </a:xfrm>
          <a:prstGeom prst="rect">
            <a:avLst/>
          </a:prstGeom>
          <a:noFill/>
          <a:ln/>
        </p:spPr>
        <p:txBody>
          <a:bodyPr wrap="square" lIns="0" tIns="0" rIns="0" bIns="0" rtlCol="0" anchor="ctr">
            <a:normAutofit/>
          </a:bodyPr>
          <a:lstStyle/>
          <a:p>
            <a:pPr algn="ctr" indent="0" marL="0">
              <a:buNone/>
            </a:pPr>
            <a:r>
              <a:rPr lang="en-US" sz="1000" b="1" dirty="0">
                <a:solidFill>
                  <a:srgbClr val="0B1220"/>
                </a:solidFill>
                <a:latin typeface="Aptos" pitchFamily="34" charset="0"/>
                <a:ea typeface="Aptos" pitchFamily="34" charset="-122"/>
                <a:cs typeface="Aptos" pitchFamily="34" charset="-120"/>
              </a:rPr>
              <a:t>06</a:t>
            </a:r>
            <a:endParaRPr lang="en-US" sz="1000" dirty="0"/>
          </a:p>
        </p:txBody>
      </p:sp>
      <p:sp>
        <p:nvSpPr>
          <p:cNvPr id="36" name="Text 34"/>
          <p:cNvSpPr txBox="1"/>
          <p:nvPr/>
        </p:nvSpPr>
        <p:spPr>
          <a:xfrm>
            <a:off x="10195560" y="2862072"/>
            <a:ext cx="1170432" cy="164592"/>
          </a:xfrm>
          <a:prstGeom prst="rect">
            <a:avLst/>
          </a:prstGeom>
          <a:noFill/>
          <a:ln/>
        </p:spPr>
        <p:txBody>
          <a:bodyPr wrap="square" lIns="0" tIns="0" rIns="0" bIns="0" rtlCol="0" anchor="ctr">
            <a:normAutofit/>
          </a:bodyPr>
          <a:lstStyle/>
          <a:p>
            <a:pPr algn="ctr" indent="0" marL="0">
              <a:buNone/>
            </a:pPr>
            <a:r>
              <a:rPr lang="en-US" sz="900" b="1" dirty="0">
                <a:solidFill>
                  <a:srgbClr val="0F766E"/>
                </a:solidFill>
                <a:latin typeface="Aptos" pitchFamily="34" charset="0"/>
                <a:ea typeface="Aptos" pitchFamily="34" charset="-122"/>
                <a:cs typeface="Aptos" pitchFamily="34" charset="-120"/>
              </a:rPr>
              <a:t>02:35</a:t>
            </a:r>
            <a:endParaRPr lang="en-US" sz="900" dirty="0"/>
          </a:p>
        </p:txBody>
      </p:sp>
      <p:sp>
        <p:nvSpPr>
          <p:cNvPr id="37" name="Text 35"/>
          <p:cNvSpPr txBox="1"/>
          <p:nvPr/>
        </p:nvSpPr>
        <p:spPr>
          <a:xfrm>
            <a:off x="10149840" y="3136392"/>
            <a:ext cx="1298448" cy="182880"/>
          </a:xfrm>
          <a:prstGeom prst="rect">
            <a:avLst/>
          </a:prstGeom>
          <a:noFill/>
          <a:ln/>
        </p:spPr>
        <p:txBody>
          <a:bodyPr wrap="square" lIns="0" tIns="0" rIns="0" bIns="0" rtlCol="0" anchor="ctr">
            <a:normAutofit/>
          </a:bodyPr>
          <a:lstStyle/>
          <a:p>
            <a:pPr algn="ctr" indent="0" marL="0">
              <a:buNone/>
            </a:pPr>
            <a:r>
              <a:rPr lang="en-US" sz="1000" b="1" dirty="0">
                <a:solidFill>
                  <a:srgbClr val="132033"/>
                </a:solidFill>
                <a:latin typeface="Aptos" pitchFamily="34" charset="0"/>
                <a:ea typeface="Aptos" pitchFamily="34" charset="-122"/>
                <a:cs typeface="Aptos" pitchFamily="34" charset="-120"/>
              </a:rPr>
              <a:t>VERIFY</a:t>
            </a:r>
            <a:endParaRPr lang="en-US" sz="1000" dirty="0"/>
          </a:p>
        </p:txBody>
      </p:sp>
      <p:sp>
        <p:nvSpPr>
          <p:cNvPr id="38" name="Text 36"/>
          <p:cNvSpPr txBox="1"/>
          <p:nvPr/>
        </p:nvSpPr>
        <p:spPr>
          <a:xfrm>
            <a:off x="10012680" y="3474720"/>
            <a:ext cx="1554480" cy="566928"/>
          </a:xfrm>
          <a:prstGeom prst="rect">
            <a:avLst/>
          </a:prstGeom>
          <a:noFill/>
          <a:ln/>
        </p:spPr>
        <p:txBody>
          <a:bodyPr wrap="square" lIns="0" tIns="0" rIns="0" bIns="0" rtlCol="0" anchor="ctr">
            <a:normAutofit/>
          </a:bodyPr>
          <a:lstStyle/>
          <a:p>
            <a:pPr algn="ctr" indent="0" marL="0">
              <a:buNone/>
            </a:pPr>
            <a:r>
              <a:rPr lang="en-US" sz="880" dirty="0">
                <a:solidFill>
                  <a:srgbClr val="526176"/>
                </a:solidFill>
                <a:latin typeface="Aptos" pitchFamily="34" charset="0"/>
                <a:ea typeface="Aptos" pitchFamily="34" charset="-122"/>
                <a:cs typeface="Aptos" pitchFamily="34" charset="-120"/>
              </a:rPr>
              <a:t>Show AI assessment + timeline</a:t>
            </a:r>
            <a:endParaRPr lang="en-US" sz="880" dirty="0"/>
          </a:p>
        </p:txBody>
      </p:sp>
      <p:sp>
        <p:nvSpPr>
          <p:cNvPr id="39" name="Shape 37"/>
          <p:cNvSpPr/>
          <p:nvPr/>
        </p:nvSpPr>
        <p:spPr>
          <a:xfrm>
            <a:off x="713232" y="4480560"/>
            <a:ext cx="10771632" cy="1362456"/>
          </a:xfrm>
          <a:prstGeom prst="roundRect">
            <a:avLst>
              <a:gd name="adj" fmla="val 10067"/>
            </a:avLst>
          </a:prstGeom>
          <a:solidFill>
            <a:srgbClr val="0B1220"/>
          </a:solidFill>
          <a:ln w="12700">
            <a:solidFill>
              <a:srgbClr val="0B1220">
                <a:alpha val="0"/>
              </a:srgbClr>
            </a:solidFill>
            <a:prstDash val="solid"/>
          </a:ln>
        </p:spPr>
      </p:sp>
      <p:sp>
        <p:nvSpPr>
          <p:cNvPr id="40" name="Text 38"/>
          <p:cNvSpPr txBox="1"/>
          <p:nvPr/>
        </p:nvSpPr>
        <p:spPr>
          <a:xfrm>
            <a:off x="1024128" y="4736592"/>
            <a:ext cx="2788920" cy="411480"/>
          </a:xfrm>
          <a:prstGeom prst="rect">
            <a:avLst/>
          </a:prstGeom>
          <a:noFill/>
          <a:ln/>
        </p:spPr>
        <p:txBody>
          <a:bodyPr wrap="square" lIns="0" tIns="0" rIns="0" bIns="0" rtlCol="0" anchor="ctr">
            <a:normAutofit/>
          </a:bodyPr>
          <a:lstStyle/>
          <a:p>
            <a:pPr algn="l" indent="0" marL="0">
              <a:buNone/>
            </a:pPr>
            <a:r>
              <a:rPr lang="en-US" sz="2800" b="1" dirty="0">
                <a:solidFill>
                  <a:srgbClr val="FFFFFF"/>
                </a:solidFill>
                <a:latin typeface="Aptos Display" pitchFamily="34" charset="0"/>
                <a:ea typeface="Aptos Display" pitchFamily="34" charset="-122"/>
                <a:cs typeface="Aptos Display" pitchFamily="34" charset="-120"/>
              </a:rPr>
              <a:t>CivicFix AI</a:t>
            </a:r>
            <a:endParaRPr lang="en-US" sz="2800" dirty="0"/>
          </a:p>
        </p:txBody>
      </p:sp>
      <p:sp>
        <p:nvSpPr>
          <p:cNvPr id="41" name="Text 39"/>
          <p:cNvSpPr txBox="1"/>
          <p:nvPr/>
        </p:nvSpPr>
        <p:spPr>
          <a:xfrm>
            <a:off x="1042416" y="5221224"/>
            <a:ext cx="6309360" cy="219456"/>
          </a:xfrm>
          <a:prstGeom prst="rect">
            <a:avLst/>
          </a:prstGeom>
          <a:noFill/>
          <a:ln/>
        </p:spPr>
        <p:txBody>
          <a:bodyPr wrap="square" lIns="0" tIns="0" rIns="0" bIns="0" rtlCol="0" anchor="ctr">
            <a:normAutofit/>
          </a:bodyPr>
          <a:lstStyle/>
          <a:p>
            <a:pPr algn="l" indent="0" marL="0">
              <a:buNone/>
            </a:pPr>
            <a:r>
              <a:rPr lang="en-US" sz="1400" b="1" dirty="0">
                <a:solidFill>
                  <a:srgbClr val="2DD4BF"/>
                </a:solidFill>
                <a:latin typeface="Aptos" pitchFamily="34" charset="0"/>
                <a:ea typeface="Aptos" pitchFamily="34" charset="-122"/>
                <a:cs typeface="Aptos" pitchFamily="34" charset="-120"/>
              </a:rPr>
              <a:t>From citizen evidence to verified civic action.</a:t>
            </a:r>
            <a:endParaRPr lang="en-US" sz="1400" dirty="0"/>
          </a:p>
        </p:txBody>
      </p:sp>
      <p:sp>
        <p:nvSpPr>
          <p:cNvPr id="42" name="Shape 40"/>
          <p:cNvSpPr/>
          <p:nvPr/>
        </p:nvSpPr>
        <p:spPr>
          <a:xfrm>
            <a:off x="7342632" y="4974336"/>
            <a:ext cx="3685032" cy="274320"/>
          </a:xfrm>
          <a:prstGeom prst="roundRect">
            <a:avLst>
              <a:gd name="adj" fmla="val 40000"/>
            </a:avLst>
          </a:prstGeom>
          <a:solidFill>
            <a:srgbClr val="D5FF74"/>
          </a:solidFill>
          <a:ln w="12700">
            <a:solidFill>
              <a:srgbClr val="D5FF74">
                <a:alpha val="0"/>
              </a:srgbClr>
            </a:solidFill>
            <a:prstDash val="solid"/>
          </a:ln>
        </p:spPr>
      </p:sp>
      <p:sp>
        <p:nvSpPr>
          <p:cNvPr id="43" name="Text 41"/>
          <p:cNvSpPr txBox="1"/>
          <p:nvPr/>
        </p:nvSpPr>
        <p:spPr>
          <a:xfrm>
            <a:off x="7415784" y="4992624"/>
            <a:ext cx="3538728" cy="228600"/>
          </a:xfrm>
          <a:prstGeom prst="rect">
            <a:avLst/>
          </a:prstGeom>
          <a:noFill/>
          <a:ln/>
        </p:spPr>
        <p:txBody>
          <a:bodyPr wrap="square" lIns="0" tIns="0" rIns="0" bIns="0" rtlCol="0" anchor="ctr">
            <a:normAutofit/>
          </a:bodyPr>
          <a:lstStyle/>
          <a:p>
            <a:pPr algn="ctr" indent="0" marL="0">
              <a:buNone/>
            </a:pPr>
            <a:r>
              <a:rPr lang="en-US" sz="850" b="1" dirty="0">
                <a:solidFill>
                  <a:srgbClr val="0B1220"/>
                </a:solidFill>
                <a:latin typeface="Aptos" pitchFamily="34" charset="0"/>
                <a:ea typeface="Aptos" pitchFamily="34" charset="-122"/>
                <a:cs typeface="Aptos" pitchFamily="34" charset="-120"/>
              </a:rPr>
              <a:t>SCAN → UNDERSTAND → PRIORITIZE → TRACK → VERIFY</a:t>
            </a:r>
            <a:endParaRPr lang="en-US" sz="850" dirty="0"/>
          </a:p>
        </p:txBody>
      </p:sp>
      <p:sp>
        <p:nvSpPr>
          <p:cNvPr id="44" name="Text 42"/>
          <p:cNvSpPr txBox="1"/>
          <p:nvPr/>
        </p:nvSpPr>
        <p:spPr>
          <a:xfrm>
            <a:off x="868680" y="6080760"/>
            <a:ext cx="10515600" cy="219456"/>
          </a:xfrm>
          <a:prstGeom prst="rect">
            <a:avLst/>
          </a:prstGeom>
          <a:noFill/>
          <a:ln/>
        </p:spPr>
        <p:txBody>
          <a:bodyPr wrap="square" lIns="0" tIns="0" rIns="0" bIns="0" rtlCol="0" anchor="ctr">
            <a:normAutofit/>
          </a:bodyPr>
          <a:lstStyle/>
          <a:p>
            <a:pPr algn="ctr" indent="0" marL="0">
              <a:buNone/>
            </a:pPr>
            <a:r>
              <a:rPr lang="en-US" sz="1300" b="1" dirty="0">
                <a:solidFill>
                  <a:srgbClr val="132033"/>
                </a:solidFill>
                <a:latin typeface="Aptos" pitchFamily="34" charset="0"/>
                <a:ea typeface="Aptos" pitchFamily="34" charset="-122"/>
                <a:cs typeface="Aptos" pitchFamily="34" charset="-120"/>
              </a:rPr>
              <a:t>The complaint is the beginning of the evidence trail—not the end.</a:t>
            </a:r>
            <a:endParaRPr lang="en-US" sz="1300" dirty="0"/>
          </a:p>
        </p:txBody>
      </p:sp>
      <p:sp>
        <p:nvSpPr>
          <p:cNvPr id="45" name="Shape 43"/>
          <p:cNvSpPr/>
          <p:nvPr/>
        </p:nvSpPr>
        <p:spPr>
          <a:xfrm>
            <a:off x="566928" y="6510528"/>
            <a:ext cx="11064240" cy="0"/>
          </a:xfrm>
          <a:prstGeom prst="line">
            <a:avLst/>
          </a:prstGeom>
          <a:noFill/>
          <a:ln w="8890">
            <a:solidFill>
              <a:srgbClr val="DCE3EA"/>
            </a:solidFill>
            <a:prstDash val="solid"/>
            <a:headEnd type="none"/>
            <a:tailEnd type="none"/>
          </a:ln>
        </p:spPr>
      </p:sp>
      <p:sp>
        <p:nvSpPr>
          <p:cNvPr id="46" name="Text 44"/>
          <p:cNvSpPr txBox="1"/>
          <p:nvPr/>
        </p:nvSpPr>
        <p:spPr>
          <a:xfrm>
            <a:off x="585216" y="6556248"/>
            <a:ext cx="5120640" cy="137160"/>
          </a:xfrm>
          <a:prstGeom prst="rect">
            <a:avLst/>
          </a:prstGeom>
          <a:noFill/>
          <a:ln/>
        </p:spPr>
        <p:txBody>
          <a:bodyPr wrap="square" lIns="0" tIns="0" rIns="0" bIns="0" rtlCol="0" anchor="ctr">
            <a:normAutofit/>
          </a:bodyPr>
          <a:lstStyle/>
          <a:p>
            <a:pPr algn="l" indent="0" marL="0">
              <a:buNone/>
            </a:pPr>
            <a:r>
              <a:rPr lang="en-US" sz="700" b="1" spc="50" kern="0" dirty="0">
                <a:solidFill>
                  <a:srgbClr val="7C8A9A"/>
                </a:solidFill>
                <a:latin typeface="Aptos" pitchFamily="34" charset="0"/>
                <a:ea typeface="Aptos" pitchFamily="34" charset="-122"/>
                <a:cs typeface="Aptos" pitchFamily="34" charset="-120"/>
              </a:rPr>
              <a:t>CIVICFIX AI  •  CONCEPT / PROTOTYPE PITCH</a:t>
            </a:r>
            <a:endParaRPr lang="en-US" sz="700" dirty="0"/>
          </a:p>
        </p:txBody>
      </p:sp>
      <p:sp>
        <p:nvSpPr>
          <p:cNvPr id="47" name="Text 45"/>
          <p:cNvSpPr txBox="1"/>
          <p:nvPr/>
        </p:nvSpPr>
        <p:spPr>
          <a:xfrm>
            <a:off x="11064240" y="6547104"/>
            <a:ext cx="502920" cy="146304"/>
          </a:xfrm>
          <a:prstGeom prst="rect">
            <a:avLst/>
          </a:prstGeom>
          <a:noFill/>
          <a:ln/>
        </p:spPr>
        <p:txBody>
          <a:bodyPr wrap="square" lIns="0" tIns="0" rIns="0" bIns="0" rtlCol="0" anchor="ctr">
            <a:normAutofit/>
          </a:bodyPr>
          <a:lstStyle/>
          <a:p>
            <a:pPr algn="r" indent="0" marL="0">
              <a:buNone/>
            </a:pPr>
            <a:r>
              <a:rPr lang="en-US" sz="800" b="1" dirty="0">
                <a:solidFill>
                  <a:srgbClr val="7C8A9A"/>
                </a:solidFill>
                <a:latin typeface="Aptos" pitchFamily="34" charset="0"/>
                <a:ea typeface="Aptos" pitchFamily="34" charset="-122"/>
                <a:cs typeface="Aptos" pitchFamily="34" charset="-120"/>
              </a:rPr>
              <a:t>12</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CivicFix 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CivicFix AI — From Citizen Evidence to Verified Civic Action</dc:title>
  <dc:subject>CivicFix AI hackathon project pitch</dc:subject>
  <dc:creator>OpenAI</dc:creator>
  <cp:lastModifiedBy>OpenAI</cp:lastModifiedBy>
  <cp:revision>1</cp:revision>
  <dcterms:created xsi:type="dcterms:W3CDTF">2026-10-24T10:12:44Z</dcterms:created>
  <dcterms:modified xsi:type="dcterms:W3CDTF">2026-10-24T10:12:44Z</dcterms:modified>
</cp:coreProperties>
</file>